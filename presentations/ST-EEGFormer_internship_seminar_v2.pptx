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2081" autoAdjust="0"/>
  </p:normalViewPr>
  <p:slideViewPr>
    <p:cSldViewPr snapToGrid="0" snapToObjects="1">
      <p:cViewPr varScale="1">
        <p:scale>
          <a:sx n="50" d="100"/>
          <a:sy n="50" d="100"/>
        </p:scale>
        <p:origin x="2340"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xime Lacombe" userId="8ac2f16f4ca8bfbc" providerId="LiveId" clId="{C7131637-2EE4-4B03-97C5-A3AB2667F11B}"/>
    <pc:docChg chg="undo custSel modSld">
      <pc:chgData name="Maxime Lacombe" userId="8ac2f16f4ca8bfbc" providerId="LiveId" clId="{C7131637-2EE4-4B03-97C5-A3AB2667F11B}" dt="2026-07-23T05:15:09.428" v="338" actId="20577"/>
      <pc:docMkLst>
        <pc:docMk/>
      </pc:docMkLst>
      <pc:sldChg chg="delSp modSp mod modNotesTx">
        <pc:chgData name="Maxime Lacombe" userId="8ac2f16f4ca8bfbc" providerId="LiveId" clId="{C7131637-2EE4-4B03-97C5-A3AB2667F11B}" dt="2026-07-22T06:33:55.065" v="23" actId="20577"/>
        <pc:sldMkLst>
          <pc:docMk/>
          <pc:sldMk cId="0" sldId="256"/>
        </pc:sldMkLst>
        <pc:spChg chg="mod">
          <ac:chgData name="Maxime Lacombe" userId="8ac2f16f4ca8bfbc" providerId="LiveId" clId="{C7131637-2EE4-4B03-97C5-A3AB2667F11B}" dt="2026-07-22T06:33:14.653" v="18" actId="1076"/>
          <ac:spMkLst>
            <pc:docMk/>
            <pc:sldMk cId="0" sldId="256"/>
            <ac:spMk id="4" creationId="{00000000-0000-0000-0000-000000000000}"/>
          </ac:spMkLst>
        </pc:spChg>
        <pc:spChg chg="del">
          <ac:chgData name="Maxime Lacombe" userId="8ac2f16f4ca8bfbc" providerId="LiveId" clId="{C7131637-2EE4-4B03-97C5-A3AB2667F11B}" dt="2026-07-22T06:32:52.690" v="0" actId="478"/>
          <ac:spMkLst>
            <pc:docMk/>
            <pc:sldMk cId="0" sldId="256"/>
            <ac:spMk id="5" creationId="{00000000-0000-0000-0000-000000000000}"/>
          </ac:spMkLst>
        </pc:spChg>
        <pc:spChg chg="del">
          <ac:chgData name="Maxime Lacombe" userId="8ac2f16f4ca8bfbc" providerId="LiveId" clId="{C7131637-2EE4-4B03-97C5-A3AB2667F11B}" dt="2026-07-22T06:32:55.068" v="1" actId="478"/>
          <ac:spMkLst>
            <pc:docMk/>
            <pc:sldMk cId="0" sldId="256"/>
            <ac:spMk id="6" creationId="{00000000-0000-0000-0000-000000000000}"/>
          </ac:spMkLst>
        </pc:spChg>
        <pc:spChg chg="del">
          <ac:chgData name="Maxime Lacombe" userId="8ac2f16f4ca8bfbc" providerId="LiveId" clId="{C7131637-2EE4-4B03-97C5-A3AB2667F11B}" dt="2026-07-22T06:32:56.722" v="2" actId="478"/>
          <ac:spMkLst>
            <pc:docMk/>
            <pc:sldMk cId="0" sldId="256"/>
            <ac:spMk id="7" creationId="{00000000-0000-0000-0000-000000000000}"/>
          </ac:spMkLst>
        </pc:spChg>
        <pc:spChg chg="del">
          <ac:chgData name="Maxime Lacombe" userId="8ac2f16f4ca8bfbc" providerId="LiveId" clId="{C7131637-2EE4-4B03-97C5-A3AB2667F11B}" dt="2026-07-22T06:32:58.985" v="3" actId="478"/>
          <ac:spMkLst>
            <pc:docMk/>
            <pc:sldMk cId="0" sldId="256"/>
            <ac:spMk id="8" creationId="{00000000-0000-0000-0000-000000000000}"/>
          </ac:spMkLst>
        </pc:spChg>
      </pc:sldChg>
      <pc:sldChg chg="modSp mod modNotesTx">
        <pc:chgData name="Maxime Lacombe" userId="8ac2f16f4ca8bfbc" providerId="LiveId" clId="{C7131637-2EE4-4B03-97C5-A3AB2667F11B}" dt="2026-07-23T05:12:57.644" v="332" actId="20577"/>
        <pc:sldMkLst>
          <pc:docMk/>
          <pc:sldMk cId="0" sldId="257"/>
        </pc:sldMkLst>
        <pc:spChg chg="mod">
          <ac:chgData name="Maxime Lacombe" userId="8ac2f16f4ca8bfbc" providerId="LiveId" clId="{C7131637-2EE4-4B03-97C5-A3AB2667F11B}" dt="2026-07-23T05:12:57.644" v="332" actId="20577"/>
          <ac:spMkLst>
            <pc:docMk/>
            <pc:sldMk cId="0" sldId="257"/>
            <ac:spMk id="12" creationId="{00000000-0000-0000-0000-000000000000}"/>
          </ac:spMkLst>
        </pc:spChg>
      </pc:sldChg>
      <pc:sldChg chg="modNotesTx">
        <pc:chgData name="Maxime Lacombe" userId="8ac2f16f4ca8bfbc" providerId="LiveId" clId="{C7131637-2EE4-4B03-97C5-A3AB2667F11B}" dt="2026-07-23T04:22:14.863" v="289" actId="20577"/>
        <pc:sldMkLst>
          <pc:docMk/>
          <pc:sldMk cId="0" sldId="258"/>
        </pc:sldMkLst>
      </pc:sldChg>
      <pc:sldChg chg="modSp mod modNotesTx">
        <pc:chgData name="Maxime Lacombe" userId="8ac2f16f4ca8bfbc" providerId="LiveId" clId="{C7131637-2EE4-4B03-97C5-A3AB2667F11B}" dt="2026-07-23T05:15:09.428" v="338" actId="20577"/>
        <pc:sldMkLst>
          <pc:docMk/>
          <pc:sldMk cId="0" sldId="259"/>
        </pc:sldMkLst>
        <pc:spChg chg="mod">
          <ac:chgData name="Maxime Lacombe" userId="8ac2f16f4ca8bfbc" providerId="LiveId" clId="{C7131637-2EE4-4B03-97C5-A3AB2667F11B}" dt="2026-07-23T05:13:04.516" v="333" actId="20577"/>
          <ac:spMkLst>
            <pc:docMk/>
            <pc:sldMk cId="0" sldId="259"/>
            <ac:spMk id="3" creationId="{00000000-0000-0000-0000-000000000000}"/>
          </ac:spMkLst>
        </pc:spChg>
        <pc:spChg chg="mod">
          <ac:chgData name="Maxime Lacombe" userId="8ac2f16f4ca8bfbc" providerId="LiveId" clId="{C7131637-2EE4-4B03-97C5-A3AB2667F11B}" dt="2026-07-22T07:51:08.366" v="190" actId="20577"/>
          <ac:spMkLst>
            <pc:docMk/>
            <pc:sldMk cId="0" sldId="259"/>
            <ac:spMk id="19" creationId="{00000000-0000-0000-0000-000000000000}"/>
          </ac:spMkLst>
        </pc:spChg>
      </pc:sldChg>
      <pc:sldChg chg="modSp mod modNotesTx">
        <pc:chgData name="Maxime Lacombe" userId="8ac2f16f4ca8bfbc" providerId="LiveId" clId="{C7131637-2EE4-4B03-97C5-A3AB2667F11B}" dt="2026-07-22T07:52:56.790" v="216" actId="20577"/>
        <pc:sldMkLst>
          <pc:docMk/>
          <pc:sldMk cId="0" sldId="260"/>
        </pc:sldMkLst>
        <pc:spChg chg="mod">
          <ac:chgData name="Maxime Lacombe" userId="8ac2f16f4ca8bfbc" providerId="LiveId" clId="{C7131637-2EE4-4B03-97C5-A3AB2667F11B}" dt="2026-07-22T07:28:59.334" v="121" actId="20577"/>
          <ac:spMkLst>
            <pc:docMk/>
            <pc:sldMk cId="0" sldId="260"/>
            <ac:spMk id="8" creationId="{00000000-0000-0000-0000-000000000000}"/>
          </ac:spMkLst>
        </pc:spChg>
      </pc:sldChg>
      <pc:sldChg chg="modNotesTx">
        <pc:chgData name="Maxime Lacombe" userId="8ac2f16f4ca8bfbc" providerId="LiveId" clId="{C7131637-2EE4-4B03-97C5-A3AB2667F11B}" dt="2026-07-23T04:44:48.983" v="296" actId="20577"/>
        <pc:sldMkLst>
          <pc:docMk/>
          <pc:sldMk cId="0" sldId="262"/>
        </pc:sldMkLst>
      </pc:sldChg>
      <pc:sldChg chg="modSp mod modNotesTx">
        <pc:chgData name="Maxime Lacombe" userId="8ac2f16f4ca8bfbc" providerId="LiveId" clId="{C7131637-2EE4-4B03-97C5-A3AB2667F11B}" dt="2026-07-22T07:46:56.453" v="184" actId="20577"/>
        <pc:sldMkLst>
          <pc:docMk/>
          <pc:sldMk cId="0" sldId="263"/>
        </pc:sldMkLst>
        <pc:spChg chg="mod">
          <ac:chgData name="Maxime Lacombe" userId="8ac2f16f4ca8bfbc" providerId="LiveId" clId="{C7131637-2EE4-4B03-97C5-A3AB2667F11B}" dt="2026-07-22T07:13:25.969" v="63" actId="20577"/>
          <ac:spMkLst>
            <pc:docMk/>
            <pc:sldMk cId="0" sldId="263"/>
            <ac:spMk id="7" creationId="{00000000-0000-0000-0000-000000000000}"/>
          </ac:spMkLst>
        </pc:spChg>
      </pc:sldChg>
      <pc:sldChg chg="modSp mod modNotesTx">
        <pc:chgData name="Maxime Lacombe" userId="8ac2f16f4ca8bfbc" providerId="LiveId" clId="{C7131637-2EE4-4B03-97C5-A3AB2667F11B}" dt="2026-07-22T07:10:28.297" v="44" actId="20577"/>
        <pc:sldMkLst>
          <pc:docMk/>
          <pc:sldMk cId="0" sldId="265"/>
        </pc:sldMkLst>
        <pc:spChg chg="mod">
          <ac:chgData name="Maxime Lacombe" userId="8ac2f16f4ca8bfbc" providerId="LiveId" clId="{C7131637-2EE4-4B03-97C5-A3AB2667F11B}" dt="2026-07-22T07:09:50.007" v="41" actId="20577"/>
          <ac:spMkLst>
            <pc:docMk/>
            <pc:sldMk cId="0" sldId="265"/>
            <ac:spMk id="12" creationId="{00000000-0000-0000-0000-000000000000}"/>
          </ac:spMkLst>
        </pc:spChg>
      </pc:sldChg>
      <pc:sldChg chg="modSp mod modNotesTx">
        <pc:chgData name="Maxime Lacombe" userId="8ac2f16f4ca8bfbc" providerId="LiveId" clId="{C7131637-2EE4-4B03-97C5-A3AB2667F11B}" dt="2026-07-23T05:07:36.676" v="298" actId="20577"/>
        <pc:sldMkLst>
          <pc:docMk/>
          <pc:sldMk cId="0" sldId="267"/>
        </pc:sldMkLst>
        <pc:spChg chg="mod">
          <ac:chgData name="Maxime Lacombe" userId="8ac2f16f4ca8bfbc" providerId="LiveId" clId="{C7131637-2EE4-4B03-97C5-A3AB2667F11B}" dt="2026-07-22T08:00:43.066" v="278" actId="20577"/>
          <ac:spMkLst>
            <pc:docMk/>
            <pc:sldMk cId="0" sldId="267"/>
            <ac:spMk id="4" creationId="{00000000-0000-0000-0000-000000000000}"/>
          </ac:spMkLst>
        </pc:spChg>
        <pc:spChg chg="mod">
          <ac:chgData name="Maxime Lacombe" userId="8ac2f16f4ca8bfbc" providerId="LiveId" clId="{C7131637-2EE4-4B03-97C5-A3AB2667F11B}" dt="2026-07-22T08:00:48.479" v="279" actId="20577"/>
          <ac:spMkLst>
            <pc:docMk/>
            <pc:sldMk cId="0" sldId="267"/>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1402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and thank you all for coming.
My name is Maxime Lacombe. I am a research intern in the Ishii Laboratory since April 2026.
The title of this seminar is Evaluating ST-EEGFormer on the Lab Spatial-Attention Task. Today I will present my progress on this work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is how I will organize the talk — five short parts.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 will start with the motivation: why EEG-based BCI is hard, and why user-independent decoding matters in this lab.</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Then I will state the objective of my internship: evaluate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 on our lab spatial-attention data, and compare it with </a:t>
            </a:r>
            <a:r>
              <a:rPr lang="en-US" sz="1200" b="0" i="0" kern="1200" dirty="0" err="1">
                <a:solidFill>
                  <a:schemeClr val="tx1"/>
                </a:solidFill>
                <a:effectLst/>
                <a:latin typeface="+mn-lt"/>
                <a:ea typeface="+mn-ea"/>
                <a:cs typeface="+mn-cs"/>
              </a:rPr>
              <a:t>LaBraM</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After that, a brief related-work slide: only the key papers that guided this project — not a long literature review.</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Next comes the method: the dataset, the preprocessing aligned with Liz, and the training setup for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Finally, I will present the main result — the population comparison — then say where LOSO stands, and close with next steps and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 start with why this problem matters — three ideas.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EEG-based brain-computer interfaces. EEG is attractive because it is non-invasive and relatively cheap: you put electrodes on the scalp, no surgery. But the signal is difficult. The signal-to-noise ratio is low, and even worse, the patterns change a lot from one person to another, and from one day to another. So a decoder that works for me may fail for you.</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that leads to the user-independence problem. In classical BCI, each new user often needs a long calibration session before the system works. In this laboratory, the goal is to reduce that cost: build models that transfer across subjects, with little or no per-user calibration.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Third, EEG foundation models. Large pretrained models such as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 and </a:t>
            </a:r>
            <a:r>
              <a:rPr lang="en-US" sz="1200" b="0" i="0" kern="1200" dirty="0" err="1">
                <a:solidFill>
                  <a:schemeClr val="tx1"/>
                </a:solidFill>
                <a:effectLst/>
                <a:latin typeface="+mn-lt"/>
                <a:ea typeface="+mn-ea"/>
                <a:cs typeface="+mn-cs"/>
              </a:rPr>
              <a:t>LaBraM</a:t>
            </a:r>
            <a:r>
              <a:rPr lang="en-US" sz="1200" b="0" i="0" kern="1200" dirty="0">
                <a:solidFill>
                  <a:schemeClr val="tx1"/>
                </a:solidFill>
                <a:effectLst/>
                <a:latin typeface="+mn-lt"/>
                <a:ea typeface="+mn-ea"/>
                <a:cs typeface="+mn-cs"/>
              </a:rPr>
              <a:t> are proposed as a possible answer. But we should not assume they work. We need to evaluate them carefully on real laboratory data — and that is exactly what my internship focuses 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states the objective of the internship. Please look at the dark box first.
The main objective is to evaluate ST-</a:t>
            </a:r>
            <a:r>
              <a:rPr lang="en-US" dirty="0" err="1"/>
              <a:t>EEGFormer</a:t>
            </a:r>
            <a:r>
              <a:rPr lang="en-US" dirty="0"/>
              <a:t> on the ATR spatial-attention dataset, and to compare it fairly with </a:t>
            </a:r>
            <a:r>
              <a:rPr lang="en-US" dirty="0" err="1"/>
              <a:t>LaBraM</a:t>
            </a:r>
            <a:r>
              <a:rPr lang="en-US" dirty="0"/>
              <a:t> on the same task.
The four cards give the concrete setting.
The model is ST-</a:t>
            </a:r>
            <a:r>
              <a:rPr lang="en-US" dirty="0" err="1"/>
              <a:t>EEGFormer</a:t>
            </a:r>
            <a:r>
              <a:rPr lang="en-US" dirty="0"/>
              <a:t>-large: it use a Vision Transformer with about three hundred and three million parameters, pretrained. Vit </a:t>
            </a:r>
            <a:r>
              <a:rPr lang="en-US" dirty="0" err="1"/>
              <a:t>isthe</a:t>
            </a:r>
            <a:r>
              <a:rPr lang="en-US" dirty="0"/>
              <a:t> backbone inside ST-</a:t>
            </a:r>
            <a:r>
              <a:rPr lang="en-US" dirty="0" err="1"/>
              <a:t>EEGFormer</a:t>
            </a:r>
            <a:r>
              <a:rPr lang="en-US" dirty="0"/>
              <a:t>. 
The task is left versus right spatial attention. It is a two-class problem, so chance level is fifty percent.
The protocols are population, which is completed, and leave-one-subject-out, or LOSO(Leave-One-Subject-Out), which is in progress.</a:t>
            </a:r>
          </a:p>
          <a:p>
            <a:r>
              <a:rPr lang="en-US" dirty="0"/>
              <a:t>
And I compare against two references: Liz’s </a:t>
            </a:r>
            <a:r>
              <a:rPr lang="en-US" dirty="0" err="1"/>
              <a:t>LaBraM</a:t>
            </a:r>
            <a:r>
              <a:rPr lang="en-US" dirty="0"/>
              <a:t>, and a simple classical LDA baseline, to check that the data itself is decodable. (</a:t>
            </a:r>
            <a:r>
              <a:rPr lang="fr-FR" sz="1200" b="0" i="1" kern="1200" dirty="0" err="1">
                <a:solidFill>
                  <a:schemeClr val="tx1"/>
                </a:solidFill>
                <a:effectLst/>
                <a:latin typeface="+mn-lt"/>
                <a:ea typeface="+mn-ea"/>
                <a:cs typeface="+mn-cs"/>
              </a:rPr>
              <a:t>Linear</a:t>
            </a:r>
            <a:r>
              <a:rPr lang="fr-FR" sz="1200" b="0" i="1" kern="1200" dirty="0">
                <a:solidFill>
                  <a:schemeClr val="tx1"/>
                </a:solidFill>
                <a:effectLst/>
                <a:latin typeface="+mn-lt"/>
                <a:ea typeface="+mn-ea"/>
                <a:cs typeface="+mn-cs"/>
              </a:rPr>
              <a:t> Discriminant </a:t>
            </a:r>
            <a:r>
              <a:rPr lang="fr-FR" sz="1200" b="0" i="1" kern="1200" dirty="0" err="1">
                <a:solidFill>
                  <a:schemeClr val="tx1"/>
                </a:solidFill>
                <a:effectLst/>
                <a:latin typeface="+mn-lt"/>
                <a:ea typeface="+mn-ea"/>
                <a:cs typeface="+mn-cs"/>
              </a:rPr>
              <a:t>Analysis</a:t>
            </a:r>
            <a:r>
              <a:rPr lang="fr-FR" sz="1200" b="0" i="1"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LDA is a simple classical classifier used as a baseline to check that the data is decodable and to compare against the foundation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lists the key papers for this project to show what we build on. But I only keep four references.
</a:t>
            </a:r>
            <a:r>
              <a:rPr lang="en-US" sz="1200" b="0" i="0" kern="1200" dirty="0">
                <a:solidFill>
                  <a:schemeClr val="tx1"/>
                </a:solidFill>
                <a:effectLst/>
                <a:latin typeface="+mn-lt"/>
                <a:ea typeface="+mn-ea"/>
                <a:cs typeface="+mn-cs"/>
              </a:rPr>
              <a:t>First, Are EEG Foundation Models Worth It?</a:t>
            </a:r>
            <a:br>
              <a:rPr lang="en-US" dirty="0"/>
            </a:br>
            <a:r>
              <a:rPr lang="en-US" sz="1200" b="0" i="0" kern="1200" dirty="0">
                <a:solidFill>
                  <a:schemeClr val="tx1"/>
                </a:solidFill>
                <a:effectLst/>
                <a:latin typeface="+mn-lt"/>
                <a:ea typeface="+mn-ea"/>
                <a:cs typeface="+mn-cs"/>
              </a:rPr>
              <a:t>This paper asks whether large pretrained EEG models really help compared with classical methods.</a:t>
            </a:r>
            <a:br>
              <a:rPr lang="en-US" dirty="0"/>
            </a:br>
            <a:r>
              <a:rPr lang="en-US" sz="1200" b="0" i="0" kern="1200" dirty="0">
                <a:solidFill>
                  <a:schemeClr val="tx1"/>
                </a:solidFill>
                <a:effectLst/>
                <a:latin typeface="+mn-lt"/>
                <a:ea typeface="+mn-ea"/>
                <a:cs typeface="+mn-cs"/>
              </a:rPr>
              <a:t>This paper gave the scientific question of my internship — do foundation models like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 actually bring something on real data? — and it pushed me to evaluate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 carefully against a classical baseline and against </a:t>
            </a:r>
            <a:r>
              <a:rPr lang="en-US" sz="1200" b="0" i="0" kern="1200" dirty="0" err="1">
                <a:solidFill>
                  <a:schemeClr val="tx1"/>
                </a:solidFill>
                <a:effectLst/>
                <a:latin typeface="+mn-lt"/>
                <a:ea typeface="+mn-ea"/>
                <a:cs typeface="+mn-cs"/>
              </a:rPr>
              <a:t>LaBraM</a:t>
            </a:r>
            <a:r>
              <a:rPr lang="en-US" sz="1200" b="0" i="0" kern="1200" dirty="0">
                <a:solidFill>
                  <a:schemeClr val="tx1"/>
                </a:solidFill>
                <a:effectLst/>
                <a:latin typeface="+mn-lt"/>
                <a:ea typeface="+mn-ea"/>
                <a:cs typeface="+mn-cs"/>
              </a:rPr>
              <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Second, : </a:t>
            </a:r>
            <a:r>
              <a:rPr lang="en-US" sz="1200" b="0" i="0" kern="1200" dirty="0" err="1">
                <a:solidFill>
                  <a:schemeClr val="tx1"/>
                </a:solidFill>
                <a:effectLst/>
                <a:latin typeface="+mn-lt"/>
                <a:ea typeface="+mn-ea"/>
                <a:cs typeface="+mn-cs"/>
              </a:rPr>
              <a:t>LaBraM</a:t>
            </a:r>
            <a:r>
              <a:rPr lang="en-US" sz="1200" b="0" i="0" kern="1200" dirty="0">
                <a:solidFill>
                  <a:schemeClr val="tx1"/>
                </a:solidFill>
                <a:effectLst/>
                <a:latin typeface="+mn-lt"/>
                <a:ea typeface="+mn-ea"/>
                <a:cs typeface="+mn-cs"/>
              </a:rPr>
              <a:t>.</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LaBraM</a:t>
            </a:r>
            <a:r>
              <a:rPr lang="en-US" sz="1200" b="0" i="0" kern="1200" dirty="0">
                <a:solidFill>
                  <a:schemeClr val="tx1"/>
                </a:solidFill>
                <a:effectLst/>
                <a:latin typeface="+mn-lt"/>
                <a:ea typeface="+mn-ea"/>
                <a:cs typeface="+mn-cs"/>
              </a:rPr>
              <a:t> is another EEG foundation model. Liz evaluates it on the same lab data.</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Why it matters: it is my comparison target.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Third, Decoding spatial attention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defines the lab spatial-attention task: covert left versus right attention, with an eight-second attention epoch per trial.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So this paper is why we have this dataset and why the window is eight seconds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Fourth, the critical review I presented in April.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survey of EEG foundation models and their limits.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Why it matters: it was my starting point before focusing on ST-</a:t>
            </a:r>
            <a:r>
              <a:rPr lang="en-US" sz="1200" b="0" i="0" kern="1200" dirty="0" err="1">
                <a:solidFill>
                  <a:schemeClr val="tx1"/>
                </a:solidFill>
                <a:effectLst/>
                <a:latin typeface="+mn-lt"/>
                <a:ea typeface="+mn-ea"/>
                <a:cs typeface="+mn-cs"/>
              </a:rPr>
              <a:t>EEGFormer</a:t>
            </a:r>
            <a:r>
              <a:rPr lang="en-US" sz="1200" b="0" i="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the comparison setup in the laboratory.
On the left, Maxime: I evaluate ST-EEGFormer, an EEG foundation model. My contribution is the evaluation pipeline, and the population and LOSO protocols.
In the middle, Liz: she evaluates LaBraM, on the parallel foundation-model track. She provided the reference preprocessing. Her reported results are about sixty-two percent for a population-style evaluation, and about sixty-two percent for LOSO on all forty-three subjects.
On the right, the shared ground. We use the same ATR spatial-attention data, the same forty-three subjects, aligned preprocessing, and comparable protocols. Without this shared ground, a numerical comparison would not be meaningful.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describes the dataset and the task. I will go through the six cards.
The task is covert left versus right spatial attention: the subject keeps attention to the left or to the right without moving the eyes.
Chance level is fifty percent, because it is binary classification.
There are forty-three subjects.
The attention epoch lasts eight seconds, sampled at two hundred and fifty-six hertz. Important point: eight seconds is each trial has an attention period of eight seconds, and usually a control period of four seconds. A full session contains many such trials. So eight seconds is the analysis window per attention trial, defined by the lab task.
There are sixty-eight EEG channels; sixty-four are used for the Vision Transformer after excluding EOG. We remove those, and keep sixty-four EEG channels for the Vision Transformer, which expects that layout.
(</a:t>
            </a:r>
            <a:r>
              <a:rPr lang="fr-FR" sz="1200" b="0" i="0" kern="1200" dirty="0">
                <a:solidFill>
                  <a:schemeClr val="tx1"/>
                </a:solidFill>
                <a:effectLst/>
                <a:latin typeface="+mn-lt"/>
                <a:ea typeface="+mn-ea"/>
                <a:cs typeface="+mn-cs"/>
              </a:rPr>
              <a:t> </a:t>
            </a:r>
            <a:r>
              <a:rPr lang="fr-FR" sz="1200" b="1" i="0" kern="1200" dirty="0">
                <a:solidFill>
                  <a:schemeClr val="tx1"/>
                </a:solidFill>
                <a:effectLst/>
                <a:latin typeface="+mn-lt"/>
                <a:ea typeface="+mn-ea"/>
                <a:cs typeface="+mn-cs"/>
              </a:rPr>
              <a:t>EOG</a:t>
            </a:r>
            <a:r>
              <a:rPr lang="fr-FR" sz="1200" b="0" i="0" kern="1200" dirty="0">
                <a:solidFill>
                  <a:schemeClr val="tx1"/>
                </a:solidFill>
                <a:effectLst/>
                <a:latin typeface="+mn-lt"/>
                <a:ea typeface="+mn-ea"/>
                <a:cs typeface="+mn-cs"/>
              </a:rPr>
              <a:t> = électrodes près des </a:t>
            </a:r>
            <a:r>
              <a:rPr lang="fr-FR" sz="1200" b="1" i="0" kern="1200" dirty="0">
                <a:solidFill>
                  <a:schemeClr val="tx1"/>
                </a:solidFill>
                <a:effectLst/>
                <a:latin typeface="+mn-lt"/>
                <a:ea typeface="+mn-ea"/>
                <a:cs typeface="+mn-cs"/>
              </a:rPr>
              <a:t>yeux</a:t>
            </a:r>
            <a:r>
              <a:rPr lang="fr-FR" sz="1200" b="0" i="0" kern="1200" dirty="0">
                <a:solidFill>
                  <a:schemeClr val="tx1"/>
                </a:solidFill>
                <a:effectLst/>
                <a:latin typeface="+mn-lt"/>
                <a:ea typeface="+mn-ea"/>
                <a:cs typeface="+mn-cs"/>
              </a:rPr>
              <a:t> (mouvements des yeux, pas vraiment « cerveau »)</a:t>
            </a:r>
            <a:endParaRPr lang="en-US" dirty="0"/>
          </a:p>
          <a:p>
            <a:r>
              <a:rPr lang="en-US" dirty="0"/>
              <a:t>
The paradigm follows Morioka and colleagues, twenty fourteen.</a:t>
            </a:r>
          </a:p>
          <a:p>
            <a:endParaRPr lang="en-US" dirty="0"/>
          </a:p>
          <a:p>
            <a:r>
              <a:rPr lang="en-US" sz="1200" b="0" i="1" kern="1200" dirty="0">
                <a:solidFill>
                  <a:schemeClr val="tx1"/>
                </a:solidFill>
                <a:effectLst/>
                <a:latin typeface="+mn-lt"/>
                <a:ea typeface="+mn-ea"/>
                <a:cs typeface="+mn-cs"/>
              </a:rPr>
              <a:t> Defaults blocked learning on this dataset. </a:t>
            </a:r>
            <a:r>
              <a:rPr lang="en-US" sz="1200" b="0" i="1" kern="1200" dirty="0" err="1">
                <a:solidFill>
                  <a:schemeClr val="tx1"/>
                </a:solidFill>
                <a:effectLst/>
                <a:latin typeface="+mn-lt"/>
                <a:ea typeface="+mn-ea"/>
                <a:cs typeface="+mn-cs"/>
              </a:rPr>
              <a:t>layer_decay</a:t>
            </a:r>
            <a:r>
              <a:rPr lang="en-US" sz="1200" b="0" i="1" kern="1200" dirty="0">
                <a:solidFill>
                  <a:schemeClr val="tx1"/>
                </a:solidFill>
                <a:effectLst/>
                <a:latin typeface="+mn-lt"/>
                <a:ea typeface="+mn-ea"/>
                <a:cs typeface="+mn-cs"/>
              </a:rPr>
              <a:t> 1.0 and </a:t>
            </a:r>
            <a:r>
              <a:rPr lang="en-US" sz="1200" b="0" i="1" kern="1200" dirty="0" err="1">
                <a:solidFill>
                  <a:schemeClr val="tx1"/>
                </a:solidFill>
                <a:effectLst/>
                <a:latin typeface="+mn-lt"/>
                <a:ea typeface="+mn-ea"/>
                <a:cs typeface="+mn-cs"/>
              </a:rPr>
              <a:t>mix_up</a:t>
            </a:r>
            <a:r>
              <a:rPr lang="en-US" sz="1200" b="0" i="1" kern="1200" dirty="0">
                <a:solidFill>
                  <a:schemeClr val="tx1"/>
                </a:solidFill>
                <a:effectLst/>
                <a:latin typeface="+mn-lt"/>
                <a:ea typeface="+mn-ea"/>
                <a:cs typeface="+mn-cs"/>
              </a:rPr>
              <a:t> 0 unblocked training; the rest is the working recipe that gave 61.7%</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This config was chosen empirically. With the usual defaults — stronger layer-wise LR decay and heavy mix-up — training accuracy stayed near chance even after the preprocessing was fixed. Setting </a:t>
            </a:r>
            <a:r>
              <a:rPr lang="en-US" sz="1200" b="0" i="1" kern="1200" dirty="0" err="1">
                <a:solidFill>
                  <a:schemeClr val="tx1"/>
                </a:solidFill>
                <a:effectLst/>
                <a:latin typeface="+mn-lt"/>
                <a:ea typeface="+mn-ea"/>
                <a:cs typeface="+mn-cs"/>
              </a:rPr>
              <a:t>layer_decay</a:t>
            </a:r>
            <a:r>
              <a:rPr lang="en-US" sz="1200" b="0" i="1" kern="1200" dirty="0">
                <a:solidFill>
                  <a:schemeClr val="tx1"/>
                </a:solidFill>
                <a:effectLst/>
                <a:latin typeface="+mn-lt"/>
                <a:ea typeface="+mn-ea"/>
                <a:cs typeface="+mn-cs"/>
              </a:rPr>
              <a:t> to 1.0 and </a:t>
            </a:r>
            <a:r>
              <a:rPr lang="en-US" sz="1200" b="0" i="1" kern="1200" dirty="0" err="1">
                <a:solidFill>
                  <a:schemeClr val="tx1"/>
                </a:solidFill>
                <a:effectLst/>
                <a:latin typeface="+mn-lt"/>
                <a:ea typeface="+mn-ea"/>
                <a:cs typeface="+mn-cs"/>
              </a:rPr>
              <a:t>mix_up</a:t>
            </a:r>
            <a:r>
              <a:rPr lang="en-US" sz="1200" b="0" i="1" kern="1200" dirty="0">
                <a:solidFill>
                  <a:schemeClr val="tx1"/>
                </a:solidFill>
                <a:effectLst/>
                <a:latin typeface="+mn-lt"/>
                <a:ea typeface="+mn-ea"/>
                <a:cs typeface="+mn-cs"/>
              </a:rPr>
              <a:t> to 0 let the full backbone adapt on this small 2-class dataset. Learning rate 3e-4, short warmup, and 50 epochs are the settings that then reached 61.7% in population. Batch size 4 is for GPU memory with 8-second inputs. I did not run a full hyperparameter sweep; this is the working recipe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method: preprocessing and training protocol.
On the left, preprocessing, aligned with Liz. We use eight-second attention windows, resampled to two hundred and fifty-six hertz. We apply average reference, band-pass filtering, a sixty-hertz notch filter, and baseline correction, on all forty-three subjects. As a classical check, a simple LDA baseline reaches fifty-five point seven percent on this processed data. That tells us the signal is decodable before we look at the deep model.
On the right, fine-tuning for ST-EEGFormer. We start from the pretrained Vision Transformer backbone. Layer decay is set to one, so the full backbone can adapt. Mix-up is set to zero. The learning rate is three times ten to the minus four, with five warmup epochs, fifty training epochs, and batch size four. The same recipe is used for the population protocol and for LOSO.</a:t>
            </a:r>
          </a:p>
          <a:p>
            <a:endParaRPr lang="en-US" dirty="0"/>
          </a:p>
          <a:p>
            <a:r>
              <a:rPr lang="en-US" dirty="0"/>
              <a:t>On the left: my LDA baseline at 55.7% — a simple check that the data is decodable. On the right: the fine-tuning settings I used for ST-</a:t>
            </a:r>
            <a:r>
              <a:rPr lang="en-US" dirty="0" err="1"/>
              <a:t>EEGFormer</a:t>
            </a:r>
            <a:r>
              <a:rPr lang="en-US" dirty="0"/>
              <a:t>, which later reach 61.7% in population.</a:t>
            </a:r>
          </a:p>
          <a:p>
            <a:endParaRPr lang="en-US" dirty="0"/>
          </a:p>
          <a:p>
            <a:r>
              <a:rPr lang="fr-FR" sz="1200" b="1" i="0" kern="1200" dirty="0">
                <a:solidFill>
                  <a:schemeClr val="tx1"/>
                </a:solidFill>
                <a:effectLst/>
                <a:latin typeface="+mn-lt"/>
                <a:ea typeface="+mn-ea"/>
                <a:cs typeface="+mn-cs"/>
              </a:rPr>
              <a:t>Les chiffres de cette slide (ce que chacun veut dire)</a:t>
            </a:r>
          </a:p>
          <a:p>
            <a:endParaRPr lang="en-US" sz="1200" b="0" i="1" kern="1200" dirty="0">
              <a:solidFill>
                <a:schemeClr val="tx1"/>
              </a:solidFill>
              <a:effectLst/>
              <a:latin typeface="+mn-lt"/>
              <a:ea typeface="+mn-ea"/>
              <a:cs typeface="+mn-cs"/>
            </a:endParaRPr>
          </a:p>
          <a:p>
            <a:pPr fontAlgn="t" latinLnBrk="0"/>
            <a:r>
              <a:rPr lang="fr-FR" sz="1200" b="0" i="0" kern="1200" dirty="0">
                <a:solidFill>
                  <a:schemeClr val="tx1"/>
                </a:solidFill>
                <a:effectLst/>
                <a:latin typeface="+mn-lt"/>
                <a:ea typeface="+mn-ea"/>
                <a:cs typeface="+mn-cs"/>
              </a:rPr>
              <a:t>8 s @ 256 Hz -&gt; On découpe chaque essai d’attention en 8 s, 256 </a:t>
            </a:r>
            <a:r>
              <a:rPr lang="fr-FR" sz="1200" b="0" i="0" kern="1200" dirty="0" err="1">
                <a:solidFill>
                  <a:schemeClr val="tx1"/>
                </a:solidFill>
                <a:effectLst/>
                <a:latin typeface="+mn-lt"/>
                <a:ea typeface="+mn-ea"/>
                <a:cs typeface="+mn-cs"/>
              </a:rPr>
              <a:t>samples</a:t>
            </a:r>
            <a:r>
              <a:rPr lang="fr-FR" sz="1200" b="0" i="0" kern="1200" dirty="0">
                <a:solidFill>
                  <a:schemeClr val="tx1"/>
                </a:solidFill>
                <a:effectLst/>
                <a:latin typeface="+mn-lt"/>
                <a:ea typeface="+mn-ea"/>
                <a:cs typeface="+mn-cs"/>
              </a:rPr>
              <a:t>/seconde</a:t>
            </a:r>
          </a:p>
          <a:p>
            <a:pPr fontAlgn="t" latinLnBrk="0"/>
            <a:r>
              <a:rPr lang="fr-FR" sz="1200" b="0" i="0" kern="1200" dirty="0" err="1">
                <a:solidFill>
                  <a:schemeClr val="tx1"/>
                </a:solidFill>
                <a:effectLst/>
                <a:latin typeface="+mn-lt"/>
                <a:ea typeface="+mn-ea"/>
                <a:cs typeface="+mn-cs"/>
              </a:rPr>
              <a:t>Average</a:t>
            </a:r>
            <a:r>
              <a:rPr lang="fr-FR" sz="1200" b="0" i="0" kern="1200" dirty="0">
                <a:solidFill>
                  <a:schemeClr val="tx1"/>
                </a:solidFill>
                <a:effectLst/>
                <a:latin typeface="+mn-lt"/>
                <a:ea typeface="+mn-ea"/>
                <a:cs typeface="+mn-cs"/>
              </a:rPr>
              <a:t> </a:t>
            </a:r>
            <a:r>
              <a:rPr lang="fr-FR" sz="1200" b="0" i="0" kern="1200" dirty="0" err="1">
                <a:solidFill>
                  <a:schemeClr val="tx1"/>
                </a:solidFill>
                <a:effectLst/>
                <a:latin typeface="+mn-lt"/>
                <a:ea typeface="+mn-ea"/>
                <a:cs typeface="+mn-cs"/>
              </a:rPr>
              <a:t>reference</a:t>
            </a:r>
            <a:r>
              <a:rPr lang="fr-FR" sz="1200" b="0" i="0" kern="1200" dirty="0">
                <a:solidFill>
                  <a:schemeClr val="tx1"/>
                </a:solidFill>
                <a:effectLst/>
                <a:latin typeface="+mn-lt"/>
                <a:ea typeface="+mn-ea"/>
                <a:cs typeface="+mn-cs"/>
              </a:rPr>
              <a:t> / band-</a:t>
            </a:r>
            <a:r>
              <a:rPr lang="fr-FR" sz="1200" b="0" i="0" kern="1200" dirty="0" err="1">
                <a:solidFill>
                  <a:schemeClr val="tx1"/>
                </a:solidFill>
                <a:effectLst/>
                <a:latin typeface="+mn-lt"/>
                <a:ea typeface="+mn-ea"/>
                <a:cs typeface="+mn-cs"/>
              </a:rPr>
              <a:t>pass</a:t>
            </a:r>
            <a:r>
              <a:rPr lang="fr-FR" sz="1200" b="0" i="0" kern="1200" dirty="0">
                <a:solidFill>
                  <a:schemeClr val="tx1"/>
                </a:solidFill>
                <a:effectLst/>
                <a:latin typeface="+mn-lt"/>
                <a:ea typeface="+mn-ea"/>
                <a:cs typeface="+mn-cs"/>
              </a:rPr>
              <a:t> / </a:t>
            </a:r>
            <a:r>
              <a:rPr lang="fr-FR" sz="1200" b="0" i="0" kern="1200" dirty="0" err="1">
                <a:solidFill>
                  <a:schemeClr val="tx1"/>
                </a:solidFill>
                <a:effectLst/>
                <a:latin typeface="+mn-lt"/>
                <a:ea typeface="+mn-ea"/>
                <a:cs typeface="+mn-cs"/>
              </a:rPr>
              <a:t>notch</a:t>
            </a:r>
            <a:r>
              <a:rPr lang="fr-FR" sz="1200" b="0" i="0" kern="1200" dirty="0">
                <a:solidFill>
                  <a:schemeClr val="tx1"/>
                </a:solidFill>
                <a:effectLst/>
                <a:latin typeface="+mn-lt"/>
                <a:ea typeface="+mn-ea"/>
                <a:cs typeface="+mn-cs"/>
              </a:rPr>
              <a:t> / </a:t>
            </a:r>
            <a:r>
              <a:rPr lang="fr-FR" sz="1200" b="0" i="0" kern="1200" dirty="0" err="1">
                <a:solidFill>
                  <a:schemeClr val="tx1"/>
                </a:solidFill>
                <a:effectLst/>
                <a:latin typeface="+mn-lt"/>
                <a:ea typeface="+mn-ea"/>
                <a:cs typeface="+mn-cs"/>
              </a:rPr>
              <a:t>baseline</a:t>
            </a:r>
            <a:r>
              <a:rPr lang="fr-FR" sz="1200" b="0" i="0" kern="1200" dirty="0">
                <a:solidFill>
                  <a:schemeClr val="tx1"/>
                </a:solidFill>
                <a:effectLst/>
                <a:latin typeface="+mn-lt"/>
                <a:ea typeface="+mn-ea"/>
                <a:cs typeface="+mn-cs"/>
              </a:rPr>
              <a:t> -&gt; Nettoyage standard du signal EEG</a:t>
            </a:r>
          </a:p>
          <a:p>
            <a:pPr fontAlgn="t" latinLnBrk="0"/>
            <a:r>
              <a:rPr lang="fr-FR" sz="1200" b="1" i="0" kern="1200" dirty="0">
                <a:solidFill>
                  <a:schemeClr val="tx1"/>
                </a:solidFill>
                <a:effectLst/>
                <a:latin typeface="+mn-lt"/>
                <a:ea typeface="+mn-ea"/>
                <a:cs typeface="+mn-cs"/>
              </a:rPr>
              <a:t>LDA 55.7%</a:t>
            </a:r>
            <a:r>
              <a:rPr lang="fr-FR" sz="1200" b="0" i="0" kern="1200" dirty="0">
                <a:solidFill>
                  <a:schemeClr val="tx1"/>
                </a:solidFill>
                <a:effectLst/>
                <a:latin typeface="+mn-lt"/>
                <a:ea typeface="+mn-ea"/>
                <a:cs typeface="+mn-cs"/>
              </a:rPr>
              <a:t> -&gt; </a:t>
            </a:r>
            <a:r>
              <a:rPr lang="fr-FR" sz="1200" b="1" i="0" kern="1200" dirty="0">
                <a:solidFill>
                  <a:schemeClr val="tx1"/>
                </a:solidFill>
                <a:effectLst/>
                <a:latin typeface="+mn-lt"/>
                <a:ea typeface="+mn-ea"/>
                <a:cs typeface="+mn-cs"/>
              </a:rPr>
              <a:t>Ton</a:t>
            </a:r>
            <a:r>
              <a:rPr lang="fr-FR" sz="1200" b="0" i="0" kern="1200" dirty="0">
                <a:solidFill>
                  <a:schemeClr val="tx1"/>
                </a:solidFill>
                <a:effectLst/>
                <a:latin typeface="+mn-lt"/>
                <a:ea typeface="+mn-ea"/>
                <a:cs typeface="+mn-cs"/>
              </a:rPr>
              <a:t> score avec un classifieur simple sur ces données nettoyées</a:t>
            </a:r>
          </a:p>
          <a:p>
            <a:endParaRPr lang="en-US" dirty="0"/>
          </a:p>
          <a:p>
            <a:pPr fontAlgn="t" latinLnBrk="0"/>
            <a:r>
              <a:rPr lang="fr-FR" sz="1200" b="0" i="0" kern="1200" dirty="0" err="1">
                <a:solidFill>
                  <a:schemeClr val="tx1"/>
                </a:solidFill>
                <a:effectLst/>
                <a:latin typeface="+mn-lt"/>
                <a:ea typeface="+mn-ea"/>
                <a:cs typeface="+mn-cs"/>
              </a:rPr>
              <a:t>ViT</a:t>
            </a:r>
            <a:r>
              <a:rPr lang="fr-FR" sz="1200" b="0" i="0" kern="1200" dirty="0">
                <a:solidFill>
                  <a:schemeClr val="tx1"/>
                </a:solidFill>
                <a:effectLst/>
                <a:latin typeface="+mn-lt"/>
                <a:ea typeface="+mn-ea"/>
                <a:cs typeface="+mn-cs"/>
              </a:rPr>
              <a:t> -&gt; large </a:t>
            </a:r>
            <a:r>
              <a:rPr lang="fr-FR" sz="1200" b="0" i="0" kern="1200" dirty="0" err="1">
                <a:solidFill>
                  <a:schemeClr val="tx1"/>
                </a:solidFill>
                <a:effectLst/>
                <a:latin typeface="+mn-lt"/>
                <a:ea typeface="+mn-ea"/>
                <a:cs typeface="+mn-cs"/>
              </a:rPr>
              <a:t>pretrained</a:t>
            </a:r>
            <a:endParaRPr lang="fr-FR" sz="1200" b="0" i="0" kern="1200" dirty="0">
              <a:solidFill>
                <a:schemeClr val="tx1"/>
              </a:solidFill>
              <a:effectLst/>
              <a:latin typeface="+mn-lt"/>
              <a:ea typeface="+mn-ea"/>
              <a:cs typeface="+mn-cs"/>
            </a:endParaRPr>
          </a:p>
          <a:p>
            <a:pPr fontAlgn="t" latinLnBrk="0"/>
            <a:r>
              <a:rPr lang="fr-FR" sz="1200" b="0" i="0" kern="1200" dirty="0" err="1">
                <a:solidFill>
                  <a:schemeClr val="tx1"/>
                </a:solidFill>
                <a:effectLst/>
                <a:latin typeface="+mn-lt"/>
                <a:ea typeface="+mn-ea"/>
                <a:cs typeface="+mn-cs"/>
              </a:rPr>
              <a:t>layer_decay</a:t>
            </a:r>
            <a:r>
              <a:rPr lang="fr-FR" sz="1200" b="0" i="0" kern="1200" dirty="0">
                <a:solidFill>
                  <a:schemeClr val="tx1"/>
                </a:solidFill>
                <a:effectLst/>
                <a:latin typeface="+mn-lt"/>
                <a:ea typeface="+mn-ea"/>
                <a:cs typeface="+mn-cs"/>
              </a:rPr>
              <a:t> = 1.0 -&gt; Tout le réseau peut s’adapter</a:t>
            </a:r>
          </a:p>
          <a:p>
            <a:pPr fontAlgn="t" latinLnBrk="0"/>
            <a:r>
              <a:rPr lang="fr-FR" sz="1200" b="0" i="0" kern="1200" dirty="0" err="1">
                <a:solidFill>
                  <a:schemeClr val="tx1"/>
                </a:solidFill>
                <a:effectLst/>
                <a:latin typeface="+mn-lt"/>
                <a:ea typeface="+mn-ea"/>
                <a:cs typeface="+mn-cs"/>
              </a:rPr>
              <a:t>mix_up</a:t>
            </a:r>
            <a:r>
              <a:rPr lang="fr-FR" sz="1200" b="0" i="0" kern="1200" dirty="0">
                <a:solidFill>
                  <a:schemeClr val="tx1"/>
                </a:solidFill>
                <a:effectLst/>
                <a:latin typeface="+mn-lt"/>
                <a:ea typeface="+mn-ea"/>
                <a:cs typeface="+mn-cs"/>
              </a:rPr>
              <a:t> = 0.0 -&gt; Pas de mix d’exemples</a:t>
            </a:r>
          </a:p>
          <a:p>
            <a:pPr fontAlgn="t" latinLnBrk="0"/>
            <a:r>
              <a:rPr lang="fr-FR" sz="1200" b="0" i="0" kern="1200" dirty="0" err="1">
                <a:solidFill>
                  <a:schemeClr val="tx1"/>
                </a:solidFill>
                <a:effectLst/>
                <a:latin typeface="+mn-lt"/>
                <a:ea typeface="+mn-ea"/>
                <a:cs typeface="+mn-cs"/>
              </a:rPr>
              <a:t>lr</a:t>
            </a:r>
            <a:r>
              <a:rPr lang="fr-FR" sz="1200" b="0" i="0" kern="1200" dirty="0">
                <a:solidFill>
                  <a:schemeClr val="tx1"/>
                </a:solidFill>
                <a:effectLst/>
                <a:latin typeface="+mn-lt"/>
                <a:ea typeface="+mn-ea"/>
                <a:cs typeface="+mn-cs"/>
              </a:rPr>
              <a:t> 3×10⁻⁴, </a:t>
            </a:r>
            <a:r>
              <a:rPr lang="fr-FR" sz="1200" b="0" i="0" kern="1200" dirty="0" err="1">
                <a:solidFill>
                  <a:schemeClr val="tx1"/>
                </a:solidFill>
                <a:effectLst/>
                <a:latin typeface="+mn-lt"/>
                <a:ea typeface="+mn-ea"/>
                <a:cs typeface="+mn-cs"/>
              </a:rPr>
              <a:t>warmup</a:t>
            </a:r>
            <a:r>
              <a:rPr lang="fr-FR" sz="1200" b="0" i="0" kern="1200" dirty="0">
                <a:solidFill>
                  <a:schemeClr val="tx1"/>
                </a:solidFill>
                <a:effectLst/>
                <a:latin typeface="+mn-lt"/>
                <a:ea typeface="+mn-ea"/>
                <a:cs typeface="+mn-cs"/>
              </a:rPr>
              <a:t> 5 -&gt; Vitesse d’apprentissage + démarrage doux</a:t>
            </a:r>
          </a:p>
          <a:p>
            <a:pPr fontAlgn="t" latinLnBrk="0"/>
            <a:r>
              <a:rPr lang="fr-FR" sz="1200" b="0" i="0" kern="1200" dirty="0">
                <a:solidFill>
                  <a:schemeClr val="tx1"/>
                </a:solidFill>
                <a:effectLst/>
                <a:latin typeface="+mn-lt"/>
                <a:ea typeface="+mn-ea"/>
                <a:cs typeface="+mn-cs"/>
              </a:rPr>
              <a:t>50 </a:t>
            </a:r>
            <a:r>
              <a:rPr lang="fr-FR" sz="1200" b="0" i="0" kern="1200" dirty="0" err="1">
                <a:solidFill>
                  <a:schemeClr val="tx1"/>
                </a:solidFill>
                <a:effectLst/>
                <a:latin typeface="+mn-lt"/>
                <a:ea typeface="+mn-ea"/>
                <a:cs typeface="+mn-cs"/>
              </a:rPr>
              <a:t>epochs</a:t>
            </a:r>
            <a:r>
              <a:rPr lang="fr-FR" sz="1200" b="0" i="0" kern="1200" dirty="0">
                <a:solidFill>
                  <a:schemeClr val="tx1"/>
                </a:solidFill>
                <a:effectLst/>
                <a:latin typeface="+mn-lt"/>
                <a:ea typeface="+mn-ea"/>
                <a:cs typeface="+mn-cs"/>
              </a:rPr>
              <a:t>, batch 4 -&gt; 50 passages sur les données, 4 exemples à la fois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result slide: the population protocol on forty-three subjects. I will walk through the bars from left to right.
Chance is fifty percent.
LDA reaches fifty-five point seven percent. That is the classical baseline after correct preprocessing.
ST-EEGFormer reaches sixty-one point seven percent. In the logs, the exact value is sixty-one point six six percent.
LaBraM, from Liz, is about sixty-two percent.
So the message is simple: on this lab task, with aligned data and preprocessing, ST-EEGFormer is essentially on par with LaBraM, above LDA, and clearly above chance. This is the completed head-to-head result I present today.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leave-one-subject-out, or LOSO — the next protocol after population.
What does LOSO evaluate? For each of the forty-three subjects, I train on the other forty-two for fifty epochs, then I finetune on the held-out subject for thirty epochs, and then I evaluate. This is a stricter test of subject transfer than population.
Liz already reported LaBraM LOSO on all forty-three subjects: sixty-one point eight plus or minus twelve point four percent.
LOSO is running. I do not show a final mean because it needs all 43 folds. Each fold retrains a ~300M-parameter model (full backbone) — much heavier than Liz’s lighter </a:t>
            </a:r>
            <a:r>
              <a:rPr lang="en-US" dirty="0" err="1"/>
              <a:t>LaBraM</a:t>
            </a:r>
            <a:r>
              <a:rPr lang="en-US" dirty="0"/>
              <a:t> LOSO+FT. Today’s completed claim is population 61.7%.
So the status is: running, no final mean yet. The solid claim for this seminar remains the population comparison at sixty-one point seven percent.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next steps. There are three items on the slide.
First, finish LOSO: complete all forty-three folds, and report the mean and standard deviation versus LaBraM.
Second, optionally run a lighter Liz-style LOSO, for example with a frozen backbone and fewer epochs, so the compute cost is more comparable.
Third, commit the reproducible pipeline: the preprocessing script, the dataset YAML, and the fine-tuning configuration.
That closes the scientific part of the talk.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À LIRE À VOIX HAUTE (anglais) ===
Thank you. Questions are welcome. We have five minutes.
Summary: on the population protocol, ST-EEGFormer reaches sixty-one point seven percent, comparable to LaBraM at about sixty-two percent, and above LDA at fifty-five point seven percent. Leave-one-subject-out is the next step; I will report the full mean when all forty-three folds are complete. I am happy to take questions.
=== AIDE Q&amp;A (français — pour toi) ===
DÉFINITIONS COURTES
• Population 61.7% ≈ LaBraM ~62% ← résultat principal du talk.
• LOSO : en cours, pas de mean affiché (évite un N partiel trompeur).
• Liz LOSO full 43 : 61.8 ± 12.4%.
• LDA 55.7% · chance 50% · 43 sujets.
★★ POURQUOI 8 SECONDES ? ★★
Q: Why 8 seconds?
A: Eight seconds is the attention epoch in each trial of the Morioka lab paradigm — not the total recording length. Each block has Attention ~8 s and Control ~4 s; a session has many trials. We decode that attention window. This is offline evaluation of the lab task, not a low-latency real-time BCI.
★★ POURQUOI PAS DE LOSO FINAL ? ★★
Q: Why no full LOSO?
A: LOSO is running. I do not show a final mean because it needs all 43 folds. Each fold retrains a ~300M-parameter model (full backbone) — much heavier than Liz’s lighter LaBraM LOSO+FT. Today’s completed claim is population 61.7%.
★★ AUTRES ★★
Q: Is population easier? → Different question; completed fair comparison today. LOSO = stricter next step.
Config: layer_decay 1.0, mix_up 0, lr 3e-4, 50 ep.
Si tu bloques → « Good question — that is on the next-step list. »</a:t>
            </a:r>
          </a:p>
          <a:p>
            <a:endParaRPr lang="en-US" dirty="0"/>
          </a:p>
          <a:p>
            <a:r>
              <a:rPr lang="en-US" sz="1200" b="1" i="0" kern="1200" dirty="0">
                <a:solidFill>
                  <a:schemeClr val="tx1"/>
                </a:solidFill>
                <a:effectLst/>
                <a:latin typeface="+mn-lt"/>
                <a:ea typeface="+mn-ea"/>
                <a:cs typeface="+mn-cs"/>
              </a:rPr>
              <a:t>Q: How do you fine-tune?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 I start from the pretrained ST-</a:t>
            </a:r>
            <a:r>
              <a:rPr lang="en-US" sz="1200" b="0" i="1" kern="1200" dirty="0" err="1">
                <a:solidFill>
                  <a:schemeClr val="tx1"/>
                </a:solidFill>
                <a:effectLst/>
                <a:latin typeface="+mn-lt"/>
                <a:ea typeface="+mn-ea"/>
                <a:cs typeface="+mn-cs"/>
              </a:rPr>
              <a:t>EEGFormer</a:t>
            </a:r>
            <a:r>
              <a:rPr lang="en-US" sz="1200" b="0" i="1" kern="1200" dirty="0">
                <a:solidFill>
                  <a:schemeClr val="tx1"/>
                </a:solidFill>
                <a:effectLst/>
                <a:latin typeface="+mn-lt"/>
                <a:ea typeface="+mn-ea"/>
                <a:cs typeface="+mn-cs"/>
              </a:rPr>
              <a:t>-large checkpoint, then fine-tune on the lab data with </a:t>
            </a:r>
            <a:r>
              <a:rPr lang="en-US" sz="1200" b="0" i="1" kern="1200" dirty="0" err="1">
                <a:solidFill>
                  <a:schemeClr val="tx1"/>
                </a:solidFill>
                <a:effectLst/>
                <a:latin typeface="+mn-lt"/>
                <a:ea typeface="+mn-ea"/>
                <a:cs typeface="+mn-cs"/>
              </a:rPr>
              <a:t>layer_decay</a:t>
            </a:r>
            <a:r>
              <a:rPr lang="en-US" sz="1200" b="0" i="1" kern="1200" dirty="0">
                <a:solidFill>
                  <a:schemeClr val="tx1"/>
                </a:solidFill>
                <a:effectLst/>
                <a:latin typeface="+mn-lt"/>
                <a:ea typeface="+mn-ea"/>
                <a:cs typeface="+mn-cs"/>
              </a:rPr>
              <a:t> 1.0, </a:t>
            </a:r>
            <a:r>
              <a:rPr lang="en-US" sz="1200" b="0" i="1" kern="1200" dirty="0" err="1">
                <a:solidFill>
                  <a:schemeClr val="tx1"/>
                </a:solidFill>
                <a:effectLst/>
                <a:latin typeface="+mn-lt"/>
                <a:ea typeface="+mn-ea"/>
                <a:cs typeface="+mn-cs"/>
              </a:rPr>
              <a:t>mix_up</a:t>
            </a:r>
            <a:r>
              <a:rPr lang="en-US" sz="1200" b="0" i="1" kern="1200" dirty="0">
                <a:solidFill>
                  <a:schemeClr val="tx1"/>
                </a:solidFill>
                <a:effectLst/>
                <a:latin typeface="+mn-lt"/>
                <a:ea typeface="+mn-ea"/>
                <a:cs typeface="+mn-cs"/>
              </a:rPr>
              <a:t> 0, learning rate 3e-4, 5 warmup epochs, 50 epochs, batch size 4. Same recipe for population and for LOSO. »</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Q: What will you do next for LOSO?</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 Finish all 43 folds with the same config, then report mean ± std versus Liz’s </a:t>
            </a:r>
            <a:r>
              <a:rPr lang="en-US" sz="1200" b="0" i="1" kern="1200" dirty="0" err="1">
                <a:solidFill>
                  <a:schemeClr val="tx1"/>
                </a:solidFill>
                <a:effectLst/>
                <a:latin typeface="+mn-lt"/>
                <a:ea typeface="+mn-ea"/>
                <a:cs typeface="+mn-cs"/>
              </a:rPr>
              <a:t>LaBraM</a:t>
            </a:r>
            <a:r>
              <a:rPr lang="en-US" sz="1200" b="0" i="1" kern="1200" dirty="0">
                <a:solidFill>
                  <a:schemeClr val="tx1"/>
                </a:solidFill>
                <a:effectLst/>
                <a:latin typeface="+mn-lt"/>
                <a:ea typeface="+mn-ea"/>
                <a:cs typeface="+mn-cs"/>
              </a:rPr>
              <a:t> LOSO. Optionally also try a lighter setup, closer to Liz — freeze more of the backbone / fewer epochs. »</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Q: Why </a:t>
            </a:r>
            <a:r>
              <a:rPr lang="en-US" sz="1200" b="1" i="0" kern="1200" dirty="0" err="1">
                <a:solidFill>
                  <a:schemeClr val="tx1"/>
                </a:solidFill>
                <a:effectLst/>
                <a:latin typeface="+mn-lt"/>
                <a:ea typeface="+mn-ea"/>
                <a:cs typeface="+mn-cs"/>
              </a:rPr>
              <a:t>layer_decay</a:t>
            </a:r>
            <a:r>
              <a:rPr lang="en-US" sz="1200" b="1" i="0" kern="1200" dirty="0">
                <a:solidFill>
                  <a:schemeClr val="tx1"/>
                </a:solidFill>
                <a:effectLst/>
                <a:latin typeface="+mn-lt"/>
                <a:ea typeface="+mn-ea"/>
                <a:cs typeface="+mn-cs"/>
              </a:rPr>
              <a:t> 1.0 / </a:t>
            </a:r>
            <a:r>
              <a:rPr lang="en-US" sz="1200" b="1" i="0" kern="1200" dirty="0" err="1">
                <a:solidFill>
                  <a:schemeClr val="tx1"/>
                </a:solidFill>
                <a:effectLst/>
                <a:latin typeface="+mn-lt"/>
                <a:ea typeface="+mn-ea"/>
                <a:cs typeface="+mn-cs"/>
              </a:rPr>
              <a:t>mix_up</a:t>
            </a:r>
            <a:r>
              <a:rPr lang="en-US" sz="1200" b="1" i="0" kern="1200" dirty="0">
                <a:solidFill>
                  <a:schemeClr val="tx1"/>
                </a:solidFill>
                <a:effectLst/>
                <a:latin typeface="+mn-lt"/>
                <a:ea typeface="+mn-ea"/>
                <a:cs typeface="+mn-cs"/>
              </a:rPr>
              <a:t> 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 With the default stronger layer decay and heavy mix-up, training stayed near chance on this small 2-class set. Letting the full backbone adapt and turning mix-up off worked for the population run. »</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(Si on </a:t>
            </a:r>
            <a:r>
              <a:rPr lang="en-US" sz="1200" b="0" i="0" kern="1200" dirty="0" err="1">
                <a:solidFill>
                  <a:schemeClr val="tx1"/>
                </a:solidFill>
                <a:effectLst/>
                <a:latin typeface="+mn-lt"/>
                <a:ea typeface="+mn-ea"/>
                <a:cs typeface="+mn-cs"/>
              </a:rPr>
              <a:t>demande</a:t>
            </a:r>
            <a:r>
              <a:rPr lang="en-US" sz="1200" b="0" i="0" kern="1200" dirty="0">
                <a:solidFill>
                  <a:schemeClr val="tx1"/>
                </a:solidFill>
                <a:effectLst/>
                <a:latin typeface="+mn-lt"/>
                <a:ea typeface="+mn-ea"/>
                <a:cs typeface="+mn-cs"/>
              </a:rPr>
              <a:t> la </a:t>
            </a:r>
            <a:r>
              <a:rPr lang="en-US" sz="1200" b="0" i="0" kern="1200" dirty="0" err="1">
                <a:solidFill>
                  <a:schemeClr val="tx1"/>
                </a:solidFill>
                <a:effectLst/>
                <a:latin typeface="+mn-lt"/>
                <a:ea typeface="+mn-ea"/>
                <a:cs typeface="+mn-cs"/>
              </a:rPr>
              <a:t>théorie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exacte</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 I chose it empirically from training behavior, not from a full ablation study. »</a:t>
            </a:r>
            <a:r>
              <a:rPr lang="en-US" sz="1200" b="0" i="0" kern="1200" dirty="0">
                <a:solidFill>
                  <a:schemeClr val="tx1"/>
                </a:solidFill>
                <a:effectLst/>
                <a:latin typeface="+mn-lt"/>
                <a:ea typeface="+mn-ea"/>
                <a:cs typeface="+mn-cs"/>
              </a:rPr>
              <a:t>)</a:t>
            </a:r>
          </a:p>
          <a:p>
            <a:r>
              <a:rPr lang="en-US" sz="1200" b="1" i="0" kern="1200" dirty="0">
                <a:solidFill>
                  <a:schemeClr val="tx1"/>
                </a:solidFill>
                <a:effectLst/>
                <a:latin typeface="+mn-lt"/>
                <a:ea typeface="+mn-ea"/>
                <a:cs typeface="+mn-cs"/>
              </a:rPr>
              <a:t>Q: Difference population vs LOSO fine-tuning?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 Same hyperparameters. Different data split: population uses all subjects in the training pool; LOSO holds one subject out each time, with a short finetune on that subject. »</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Q: How does the </a:t>
            </a:r>
            <a:r>
              <a:rPr lang="en-US" sz="1200" b="1" i="0" kern="1200" dirty="0" err="1">
                <a:solidFill>
                  <a:schemeClr val="tx1"/>
                </a:solidFill>
                <a:effectLst/>
                <a:latin typeface="+mn-lt"/>
                <a:ea typeface="+mn-ea"/>
                <a:cs typeface="+mn-cs"/>
              </a:rPr>
              <a:t>ViT</a:t>
            </a:r>
            <a:r>
              <a:rPr lang="en-US" sz="1200" b="1" i="0" kern="1200" dirty="0">
                <a:solidFill>
                  <a:schemeClr val="tx1"/>
                </a:solidFill>
                <a:effectLst/>
                <a:latin typeface="+mn-lt"/>
                <a:ea typeface="+mn-ea"/>
                <a:cs typeface="+mn-cs"/>
              </a:rPr>
              <a:t> / attention work inside?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 ST-</a:t>
            </a:r>
            <a:r>
              <a:rPr lang="en-US" sz="1200" b="0" i="1" kern="1200" dirty="0" err="1">
                <a:solidFill>
                  <a:schemeClr val="tx1"/>
                </a:solidFill>
                <a:effectLst/>
                <a:latin typeface="+mn-lt"/>
                <a:ea typeface="+mn-ea"/>
                <a:cs typeface="+mn-cs"/>
              </a:rPr>
              <a:t>EEGFormer</a:t>
            </a:r>
            <a:r>
              <a:rPr lang="en-US" sz="1200" b="0" i="1" kern="1200" dirty="0">
                <a:solidFill>
                  <a:schemeClr val="tx1"/>
                </a:solidFill>
                <a:effectLst/>
                <a:latin typeface="+mn-lt"/>
                <a:ea typeface="+mn-ea"/>
                <a:cs typeface="+mn-cs"/>
              </a:rPr>
              <a:t> uses a Vision Transformer backbone adapted to EEG. My work is evaluation and fine-tuning on the lab task, not redesigning the architecture. For internal layer details I would refer to the model paper. »</a:t>
            </a:r>
            <a:endParaRPr lang="en-US" sz="1200" b="0" i="0" kern="1200" dirty="0">
              <a:solidFill>
                <a:schemeClr val="tx1"/>
              </a:solidFill>
              <a:effectLst/>
              <a:latin typeface="+mn-lt"/>
              <a:ea typeface="+mn-ea"/>
              <a:cs typeface="+mn-cs"/>
            </a:endParaRPr>
          </a:p>
          <a:p>
            <a:r>
              <a:rPr lang="en-US" sz="1200" b="1" i="0" kern="1200" dirty="0">
                <a:solidFill>
                  <a:schemeClr val="tx1"/>
                </a:solidFill>
                <a:effectLst/>
                <a:latin typeface="+mn-lt"/>
                <a:ea typeface="+mn-ea"/>
                <a:cs typeface="+mn-cs"/>
              </a:rPr>
              <a:t>Q: Why not a smaller model / different optimizer / more epochs?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1" kern="1200" dirty="0">
                <a:solidFill>
                  <a:schemeClr val="tx1"/>
                </a:solidFill>
                <a:effectLst/>
                <a:latin typeface="+mn-lt"/>
                <a:ea typeface="+mn-ea"/>
                <a:cs typeface="+mn-cs"/>
              </a:rPr>
              <a:t>« Good suggestion — that would be an ablation. Priority was the main large-model comparison with </a:t>
            </a:r>
            <a:r>
              <a:rPr lang="en-US" sz="1200" b="0" i="1" kern="1200" dirty="0" err="1">
                <a:solidFill>
                  <a:schemeClr val="tx1"/>
                </a:solidFill>
                <a:effectLst/>
                <a:latin typeface="+mn-lt"/>
                <a:ea typeface="+mn-ea"/>
                <a:cs typeface="+mn-cs"/>
              </a:rPr>
              <a:t>LaBraM</a:t>
            </a:r>
            <a:r>
              <a:rPr lang="en-US" sz="1200" b="0" i="1" kern="1200" dirty="0">
                <a:solidFill>
                  <a:schemeClr val="tx1"/>
                </a:solidFill>
                <a:effectLst/>
                <a:latin typeface="+mn-lt"/>
                <a:ea typeface="+mn-ea"/>
                <a:cs typeface="+mn-cs"/>
              </a:rPr>
              <a:t>; those variants are natural next experiments. »</a:t>
            </a:r>
            <a:endParaRPr lang="en-US" sz="1200" b="0" i="0" kern="1200" dirty="0">
              <a:solidFill>
                <a:schemeClr val="tx1"/>
              </a:solidFill>
              <a:effectLst/>
              <a:latin typeface="+mn-lt"/>
              <a:ea typeface="+mn-ea"/>
              <a:cs typeface="+mn-cs"/>
            </a:endParaRPr>
          </a:p>
          <a:p>
            <a:endParaRPr lang="en-US" dirty="0"/>
          </a:p>
          <a:p>
            <a:endParaRPr lang="en-US" dirty="0"/>
          </a:p>
          <a:p>
            <a:r>
              <a:rPr lang="en-US" sz="1200" b="1" i="0" kern="1200" dirty="0">
                <a:solidFill>
                  <a:schemeClr val="tx1"/>
                </a:solidFill>
                <a:effectLst/>
                <a:latin typeface="+mn-lt"/>
                <a:ea typeface="+mn-ea"/>
                <a:cs typeface="+mn-cs"/>
              </a:rPr>
              <a:t>: Winning config?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a:t>
            </a:r>
            <a:r>
              <a:rPr lang="en-US" sz="1200" b="0" i="0" kern="1200" dirty="0" err="1">
                <a:solidFill>
                  <a:schemeClr val="tx1"/>
                </a:solidFill>
                <a:effectLst/>
                <a:latin typeface="+mn-lt"/>
                <a:ea typeface="+mn-ea"/>
                <a:cs typeface="+mn-cs"/>
              </a:rPr>
              <a:t>layer_decay</a:t>
            </a:r>
            <a:r>
              <a:rPr lang="en-US" sz="1200" b="0" i="0" kern="1200" dirty="0">
                <a:solidFill>
                  <a:schemeClr val="tx1"/>
                </a:solidFill>
                <a:effectLst/>
                <a:latin typeface="+mn-lt"/>
                <a:ea typeface="+mn-ea"/>
                <a:cs typeface="+mn-cs"/>
              </a:rPr>
              <a:t> 1.0, </a:t>
            </a:r>
            <a:r>
              <a:rPr lang="en-US" sz="1200" b="0" i="0" kern="1200" dirty="0" err="1">
                <a:solidFill>
                  <a:schemeClr val="tx1"/>
                </a:solidFill>
                <a:effectLst/>
                <a:latin typeface="+mn-lt"/>
                <a:ea typeface="+mn-ea"/>
                <a:cs typeface="+mn-cs"/>
              </a:rPr>
              <a:t>mix_up</a:t>
            </a:r>
            <a:r>
              <a:rPr lang="en-US" sz="1200" b="0" i="0" kern="1200" dirty="0">
                <a:solidFill>
                  <a:schemeClr val="tx1"/>
                </a:solidFill>
                <a:effectLst/>
                <a:latin typeface="+mn-lt"/>
                <a:ea typeface="+mn-ea"/>
                <a:cs typeface="+mn-cs"/>
              </a:rPr>
              <a:t> 0, </a:t>
            </a:r>
            <a:r>
              <a:rPr lang="en-US" sz="1200" b="0" i="0" kern="1200" dirty="0" err="1">
                <a:solidFill>
                  <a:schemeClr val="tx1"/>
                </a:solidFill>
                <a:effectLst/>
                <a:latin typeface="+mn-lt"/>
                <a:ea typeface="+mn-ea"/>
                <a:cs typeface="+mn-cs"/>
              </a:rPr>
              <a:t>lr</a:t>
            </a:r>
            <a:r>
              <a:rPr lang="en-US" sz="1200" b="0" i="0" kern="1200" dirty="0">
                <a:solidFill>
                  <a:schemeClr val="tx1"/>
                </a:solidFill>
                <a:effectLst/>
                <a:latin typeface="+mn-lt"/>
                <a:ea typeface="+mn-ea"/>
                <a:cs typeface="+mn-cs"/>
              </a:rPr>
              <a:t> 3e-4, warmup 5, 50 epochs, batch 4.</a:t>
            </a:r>
          </a:p>
          <a:p>
            <a:r>
              <a:rPr lang="en-US" sz="1200" b="1" i="0" kern="1200" dirty="0">
                <a:solidFill>
                  <a:schemeClr val="tx1"/>
                </a:solidFill>
                <a:effectLst/>
                <a:latin typeface="+mn-lt"/>
                <a:ea typeface="+mn-ea"/>
                <a:cs typeface="+mn-cs"/>
              </a:rPr>
              <a:t>Q: Channels?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68 EEG; 64 used for the </a:t>
            </a:r>
            <a:r>
              <a:rPr lang="en-US" sz="1200" b="0" i="0" kern="1200" dirty="0" err="1">
                <a:solidFill>
                  <a:schemeClr val="tx1"/>
                </a:solidFill>
                <a:effectLst/>
                <a:latin typeface="+mn-lt"/>
                <a:ea typeface="+mn-ea"/>
                <a:cs typeface="+mn-cs"/>
              </a:rPr>
              <a:t>ViT</a:t>
            </a:r>
            <a:r>
              <a:rPr lang="en-US" sz="1200" b="0" i="0" kern="1200" dirty="0">
                <a:solidFill>
                  <a:schemeClr val="tx1"/>
                </a:solidFill>
                <a:effectLst/>
                <a:latin typeface="+mn-lt"/>
                <a:ea typeface="+mn-ea"/>
                <a:cs typeface="+mn-cs"/>
              </a:rPr>
              <a:t> after excluding EOG.</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Possibly for wall-clock, yes. But then the comparison would not be against the same large-model setting we aimed for. After this seminar I can report both: full LOSO on large, and/or a lighter/small setup. </a:t>
            </a:r>
          </a:p>
          <a:p>
            <a:endParaRPr lang="en-US" sz="1200" b="0" i="1"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LDA is a simple classical classifier. I did not download it like ST-</a:t>
            </a:r>
            <a:r>
              <a:rPr lang="en-US" sz="1200" b="0" i="1" kern="1200" dirty="0" err="1">
                <a:solidFill>
                  <a:schemeClr val="tx1"/>
                </a:solidFill>
                <a:effectLst/>
                <a:latin typeface="+mn-lt"/>
                <a:ea typeface="+mn-ea"/>
                <a:cs typeface="+mn-cs"/>
              </a:rPr>
              <a:t>EEGFormer</a:t>
            </a:r>
            <a:r>
              <a:rPr lang="en-US" sz="1200" b="0" i="1" kern="1200" dirty="0">
                <a:solidFill>
                  <a:schemeClr val="tx1"/>
                </a:solidFill>
                <a:effectLst/>
                <a:latin typeface="+mn-lt"/>
                <a:ea typeface="+mn-ea"/>
                <a:cs typeface="+mn-cs"/>
              </a:rPr>
              <a:t> — it is a standard baseline method. I ran it myself on the same preprocessed lab data to check that the signal is decodable. It reached 55.7%, above chance. That validated the preprocessing before evaluating the foundation model, which then reached 61.7%. </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3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554480"/>
            <a:ext cx="10515600" cy="320040"/>
          </a:xfrm>
          <a:prstGeom prst="rect">
            <a:avLst/>
          </a:prstGeom>
          <a:noFill/>
          <a:ln/>
        </p:spPr>
        <p:txBody>
          <a:bodyPr wrap="square" lIns="0" tIns="0" rIns="0" bIns="0" rtlCol="0" anchor="ctr"/>
          <a:lstStyle/>
          <a:p>
            <a:pPr marL="0" indent="0">
              <a:buNone/>
            </a:pPr>
            <a:r>
              <a:rPr lang="en-US" sz="1300" b="1" kern="0" spc="150" dirty="0">
                <a:solidFill>
                  <a:srgbClr val="B0B8C1"/>
                </a:solidFill>
                <a:latin typeface="Calibri" pitchFamily="34" charset="0"/>
                <a:ea typeface="Calibri" pitchFamily="34" charset="-122"/>
                <a:cs typeface="Calibri" pitchFamily="34" charset="-120"/>
              </a:rPr>
              <a:t>ISHII LABORATORY  ·  KYOTO UNIVERSITY / ATR</a:t>
            </a:r>
            <a:endParaRPr lang="en-US" sz="1300" dirty="0"/>
          </a:p>
        </p:txBody>
      </p:sp>
      <p:sp>
        <p:nvSpPr>
          <p:cNvPr id="4" name="Text 2"/>
          <p:cNvSpPr/>
          <p:nvPr/>
        </p:nvSpPr>
        <p:spPr>
          <a:xfrm>
            <a:off x="777240" y="2697480"/>
            <a:ext cx="10515600" cy="1280160"/>
          </a:xfrm>
          <a:prstGeom prst="rect">
            <a:avLst/>
          </a:prstGeom>
          <a:noFill/>
          <a:ln/>
        </p:spPr>
        <p:txBody>
          <a:bodyPr wrap="square" lIns="0" tIns="0" rIns="0" bIns="0" rtlCol="0" anchor="ctr"/>
          <a:lstStyle/>
          <a:p>
            <a:pPr marL="0" indent="0">
              <a:buNone/>
            </a:pPr>
            <a:r>
              <a:rPr lang="en-US" sz="6000" b="1" dirty="0">
                <a:solidFill>
                  <a:srgbClr val="FFFFFF"/>
                </a:solidFill>
                <a:latin typeface="Georgia" pitchFamily="34" charset="0"/>
                <a:ea typeface="Georgia" pitchFamily="34" charset="-122"/>
                <a:cs typeface="Georgia" pitchFamily="34" charset="-120"/>
              </a:rPr>
              <a:t>Evaluating ST-EEGFormer on the</a:t>
            </a:r>
            <a:r>
              <a:rPr lang="en-US" sz="6000" dirty="0"/>
              <a:t> </a:t>
            </a:r>
            <a:r>
              <a:rPr lang="en-US" sz="6000" b="1" dirty="0">
                <a:solidFill>
                  <a:srgbClr val="FFFFFF"/>
                </a:solidFill>
                <a:latin typeface="Georgia" pitchFamily="34" charset="0"/>
                <a:ea typeface="Georgia" pitchFamily="34" charset="-122"/>
                <a:cs typeface="Georgia" pitchFamily="34" charset="-120"/>
              </a:rPr>
              <a:t>Lab Spatial-Attention Task</a:t>
            </a:r>
            <a:endParaRPr lang="en-US" sz="6000" dirty="0"/>
          </a:p>
        </p:txBody>
      </p:sp>
      <p:sp>
        <p:nvSpPr>
          <p:cNvPr id="10" name="Shape 7"/>
          <p:cNvSpPr/>
          <p:nvPr/>
        </p:nvSpPr>
        <p:spPr>
          <a:xfrm>
            <a:off x="640080" y="6400800"/>
            <a:ext cx="10881360" cy="0"/>
          </a:xfrm>
          <a:prstGeom prst="line">
            <a:avLst/>
          </a:prstGeom>
          <a:noFill/>
          <a:ln w="9525">
            <a:solidFill>
              <a:srgbClr val="4B5563"/>
            </a:solidFill>
            <a:prstDash val="solid"/>
          </a:ln>
        </p:spPr>
      </p:sp>
      <p:sp>
        <p:nvSpPr>
          <p:cNvPr id="11" name="Text 8"/>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Maxime Lacombe  ·  Ishii Lab  ·  23 July 2026</a:t>
            </a:r>
            <a:endParaRPr lang="en-US" sz="1100" dirty="0"/>
          </a:p>
        </p:txBody>
      </p:sp>
      <p:sp>
        <p:nvSpPr>
          <p:cNvPr id="12" name="Text 9"/>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9CA3A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OUTLINE</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Organization of the presentation</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10881360" cy="777240"/>
          </a:xfrm>
          <a:prstGeom prst="rect">
            <a:avLst/>
          </a:prstGeom>
          <a:solidFill>
            <a:srgbClr val="FFFFFF"/>
          </a:solidFill>
          <a:ln w="12700">
            <a:solidFill>
              <a:srgbClr val="D0D5DB"/>
            </a:solidFill>
            <a:prstDash val="solid"/>
          </a:ln>
        </p:spPr>
      </p:sp>
      <p:sp>
        <p:nvSpPr>
          <p:cNvPr id="6" name="Text 4"/>
          <p:cNvSpPr/>
          <p:nvPr/>
        </p:nvSpPr>
        <p:spPr>
          <a:xfrm>
            <a:off x="914400" y="160020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1</a:t>
            </a:r>
            <a:endParaRPr lang="en-US" sz="2000" dirty="0"/>
          </a:p>
        </p:txBody>
      </p:sp>
      <p:sp>
        <p:nvSpPr>
          <p:cNvPr id="7" name="Text 5"/>
          <p:cNvSpPr/>
          <p:nvPr/>
        </p:nvSpPr>
        <p:spPr>
          <a:xfrm>
            <a:off x="1645920" y="160020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Motivation</a:t>
            </a:r>
            <a:endParaRPr lang="en-US" sz="1800" dirty="0"/>
          </a:p>
        </p:txBody>
      </p:sp>
      <p:sp>
        <p:nvSpPr>
          <p:cNvPr id="8" name="Text 6"/>
          <p:cNvSpPr/>
          <p:nvPr/>
        </p:nvSpPr>
        <p:spPr>
          <a:xfrm>
            <a:off x="5943600" y="160020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Why EEG foundation models and this task</a:t>
            </a:r>
            <a:endParaRPr lang="en-US" sz="1500" dirty="0"/>
          </a:p>
        </p:txBody>
      </p:sp>
      <p:sp>
        <p:nvSpPr>
          <p:cNvPr id="9" name="Shape 7"/>
          <p:cNvSpPr/>
          <p:nvPr/>
        </p:nvSpPr>
        <p:spPr>
          <a:xfrm>
            <a:off x="640080" y="2286000"/>
            <a:ext cx="10881360" cy="777240"/>
          </a:xfrm>
          <a:prstGeom prst="rect">
            <a:avLst/>
          </a:prstGeom>
          <a:solidFill>
            <a:srgbClr val="FFFFFF"/>
          </a:solidFill>
          <a:ln w="12700">
            <a:solidFill>
              <a:srgbClr val="D0D5DB"/>
            </a:solidFill>
            <a:prstDash val="solid"/>
          </a:ln>
        </p:spPr>
      </p:sp>
      <p:sp>
        <p:nvSpPr>
          <p:cNvPr id="10" name="Text 8"/>
          <p:cNvSpPr/>
          <p:nvPr/>
        </p:nvSpPr>
        <p:spPr>
          <a:xfrm>
            <a:off x="914400" y="246888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2</a:t>
            </a:r>
            <a:endParaRPr lang="en-US" sz="2000" dirty="0"/>
          </a:p>
        </p:txBody>
      </p:sp>
      <p:sp>
        <p:nvSpPr>
          <p:cNvPr id="11" name="Text 9"/>
          <p:cNvSpPr/>
          <p:nvPr/>
        </p:nvSpPr>
        <p:spPr>
          <a:xfrm>
            <a:off x="1645920" y="246888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Objective</a:t>
            </a:r>
            <a:endParaRPr lang="en-US" sz="1800" dirty="0"/>
          </a:p>
        </p:txBody>
      </p:sp>
      <p:sp>
        <p:nvSpPr>
          <p:cNvPr id="12" name="Text 10"/>
          <p:cNvSpPr/>
          <p:nvPr/>
        </p:nvSpPr>
        <p:spPr>
          <a:xfrm>
            <a:off x="5943600" y="246888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What this work evaluates</a:t>
            </a:r>
            <a:endParaRPr lang="en-US" sz="1500" dirty="0"/>
          </a:p>
        </p:txBody>
      </p:sp>
      <p:sp>
        <p:nvSpPr>
          <p:cNvPr id="13" name="Shape 11"/>
          <p:cNvSpPr/>
          <p:nvPr/>
        </p:nvSpPr>
        <p:spPr>
          <a:xfrm>
            <a:off x="640080" y="3154680"/>
            <a:ext cx="10881360" cy="777240"/>
          </a:xfrm>
          <a:prstGeom prst="rect">
            <a:avLst/>
          </a:prstGeom>
          <a:solidFill>
            <a:srgbClr val="FFFFFF"/>
          </a:solidFill>
          <a:ln w="12700">
            <a:solidFill>
              <a:srgbClr val="D0D5DB"/>
            </a:solidFill>
            <a:prstDash val="solid"/>
          </a:ln>
        </p:spPr>
      </p:sp>
      <p:sp>
        <p:nvSpPr>
          <p:cNvPr id="14" name="Text 12"/>
          <p:cNvSpPr/>
          <p:nvPr/>
        </p:nvSpPr>
        <p:spPr>
          <a:xfrm>
            <a:off x="914400" y="333756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3</a:t>
            </a:r>
            <a:endParaRPr lang="en-US" sz="2000" dirty="0"/>
          </a:p>
        </p:txBody>
      </p:sp>
      <p:sp>
        <p:nvSpPr>
          <p:cNvPr id="15" name="Text 13"/>
          <p:cNvSpPr/>
          <p:nvPr/>
        </p:nvSpPr>
        <p:spPr>
          <a:xfrm>
            <a:off x="1645920" y="333756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Related work</a:t>
            </a:r>
            <a:endParaRPr lang="en-US" sz="1800" dirty="0"/>
          </a:p>
        </p:txBody>
      </p:sp>
      <p:sp>
        <p:nvSpPr>
          <p:cNvPr id="16" name="Text 14"/>
          <p:cNvSpPr/>
          <p:nvPr/>
        </p:nvSpPr>
        <p:spPr>
          <a:xfrm>
            <a:off x="5943600" y="333756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Key papers that guide this project</a:t>
            </a:r>
            <a:endParaRPr lang="en-US" sz="1500" dirty="0"/>
          </a:p>
        </p:txBody>
      </p:sp>
      <p:sp>
        <p:nvSpPr>
          <p:cNvPr id="17" name="Shape 15"/>
          <p:cNvSpPr/>
          <p:nvPr/>
        </p:nvSpPr>
        <p:spPr>
          <a:xfrm>
            <a:off x="640080" y="4023360"/>
            <a:ext cx="10881360" cy="777240"/>
          </a:xfrm>
          <a:prstGeom prst="rect">
            <a:avLst/>
          </a:prstGeom>
          <a:solidFill>
            <a:srgbClr val="FFFFFF"/>
          </a:solidFill>
          <a:ln w="12700">
            <a:solidFill>
              <a:srgbClr val="D0D5DB"/>
            </a:solidFill>
            <a:prstDash val="solid"/>
          </a:ln>
        </p:spPr>
      </p:sp>
      <p:sp>
        <p:nvSpPr>
          <p:cNvPr id="18" name="Text 16"/>
          <p:cNvSpPr/>
          <p:nvPr/>
        </p:nvSpPr>
        <p:spPr>
          <a:xfrm>
            <a:off x="914400" y="420624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4</a:t>
            </a:r>
            <a:endParaRPr lang="en-US" sz="2000" dirty="0"/>
          </a:p>
        </p:txBody>
      </p:sp>
      <p:sp>
        <p:nvSpPr>
          <p:cNvPr id="19" name="Text 17"/>
          <p:cNvSpPr/>
          <p:nvPr/>
        </p:nvSpPr>
        <p:spPr>
          <a:xfrm>
            <a:off x="1645920" y="420624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Method</a:t>
            </a:r>
            <a:endParaRPr lang="en-US" sz="1800" dirty="0"/>
          </a:p>
        </p:txBody>
      </p:sp>
      <p:sp>
        <p:nvSpPr>
          <p:cNvPr id="20" name="Text 18"/>
          <p:cNvSpPr/>
          <p:nvPr/>
        </p:nvSpPr>
        <p:spPr>
          <a:xfrm>
            <a:off x="5943600" y="420624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Dataset, preprocessing, model, training</a:t>
            </a:r>
            <a:endParaRPr lang="en-US" sz="1500" dirty="0"/>
          </a:p>
        </p:txBody>
      </p:sp>
      <p:sp>
        <p:nvSpPr>
          <p:cNvPr id="21" name="Shape 19"/>
          <p:cNvSpPr/>
          <p:nvPr/>
        </p:nvSpPr>
        <p:spPr>
          <a:xfrm>
            <a:off x="640080" y="4892040"/>
            <a:ext cx="10881360" cy="777240"/>
          </a:xfrm>
          <a:prstGeom prst="rect">
            <a:avLst/>
          </a:prstGeom>
          <a:solidFill>
            <a:srgbClr val="FFFFFF"/>
          </a:solidFill>
          <a:ln w="12700">
            <a:solidFill>
              <a:srgbClr val="D0D5DB"/>
            </a:solidFill>
            <a:prstDash val="solid"/>
          </a:ln>
        </p:spPr>
      </p:sp>
      <p:sp>
        <p:nvSpPr>
          <p:cNvPr id="22" name="Text 20"/>
          <p:cNvSpPr/>
          <p:nvPr/>
        </p:nvSpPr>
        <p:spPr>
          <a:xfrm>
            <a:off x="914400" y="5074920"/>
            <a:ext cx="548640" cy="411480"/>
          </a:xfrm>
          <a:prstGeom prst="rect">
            <a:avLst/>
          </a:prstGeom>
          <a:noFill/>
          <a:ln/>
        </p:spPr>
        <p:txBody>
          <a:bodyPr wrap="square" lIns="0" tIns="0" rIns="0" bIns="0" rtlCol="0" anchor="ctr"/>
          <a:lstStyle/>
          <a:p>
            <a:pPr marL="0" indent="0">
              <a:buNone/>
            </a:pPr>
            <a:r>
              <a:rPr lang="en-US" sz="2000" b="1" dirty="0">
                <a:solidFill>
                  <a:srgbClr val="1F3A5F"/>
                </a:solidFill>
                <a:latin typeface="Georgia" pitchFamily="34" charset="0"/>
                <a:ea typeface="Georgia" pitchFamily="34" charset="-122"/>
                <a:cs typeface="Georgia" pitchFamily="34" charset="-120"/>
              </a:rPr>
              <a:t>5</a:t>
            </a:r>
            <a:endParaRPr lang="en-US" sz="2000" dirty="0"/>
          </a:p>
        </p:txBody>
      </p:sp>
      <p:sp>
        <p:nvSpPr>
          <p:cNvPr id="23" name="Text 21"/>
          <p:cNvSpPr/>
          <p:nvPr/>
        </p:nvSpPr>
        <p:spPr>
          <a:xfrm>
            <a:off x="1645920" y="5074920"/>
            <a:ext cx="4114800" cy="41148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Results &amp; next steps</a:t>
            </a:r>
            <a:endParaRPr lang="en-US" sz="1800" dirty="0"/>
          </a:p>
        </p:txBody>
      </p:sp>
      <p:sp>
        <p:nvSpPr>
          <p:cNvPr id="24" name="Text 22"/>
          <p:cNvSpPr/>
          <p:nvPr/>
        </p:nvSpPr>
        <p:spPr>
          <a:xfrm>
            <a:off x="5943600" y="5074920"/>
            <a:ext cx="53035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Population 61.7% · LOSO next · questions</a:t>
            </a:r>
            <a:endParaRPr lang="en-US" sz="1500" dirty="0"/>
          </a:p>
        </p:txBody>
      </p:sp>
      <p:sp>
        <p:nvSpPr>
          <p:cNvPr id="26" name="Shape 23"/>
          <p:cNvSpPr/>
          <p:nvPr/>
        </p:nvSpPr>
        <p:spPr>
          <a:xfrm>
            <a:off x="640080" y="6400800"/>
            <a:ext cx="10881360" cy="0"/>
          </a:xfrm>
          <a:prstGeom prst="line">
            <a:avLst/>
          </a:prstGeom>
          <a:noFill/>
          <a:ln w="9525">
            <a:solidFill>
              <a:srgbClr val="D0D5DB"/>
            </a:solidFill>
            <a:prstDash val="solid"/>
          </a:ln>
        </p:spPr>
      </p:sp>
      <p:sp>
        <p:nvSpPr>
          <p:cNvPr id="27" name="Text 24"/>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8" name="Text 25"/>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MOTIVATION</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Why this problem matters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10881360" cy="1280160"/>
          </a:xfrm>
          <a:prstGeom prst="rect">
            <a:avLst/>
          </a:prstGeom>
          <a:solidFill>
            <a:srgbClr val="FFFFFF"/>
          </a:solidFill>
          <a:ln w="12700">
            <a:solidFill>
              <a:srgbClr val="D0D5DB"/>
            </a:solidFill>
            <a:prstDash val="solid"/>
          </a:ln>
        </p:spPr>
      </p:sp>
      <p:sp>
        <p:nvSpPr>
          <p:cNvPr id="6" name="Shape 4"/>
          <p:cNvSpPr/>
          <p:nvPr/>
        </p:nvSpPr>
        <p:spPr>
          <a:xfrm>
            <a:off x="640080" y="1417320"/>
            <a:ext cx="109728" cy="1280160"/>
          </a:xfrm>
          <a:prstGeom prst="rect">
            <a:avLst/>
          </a:prstGeom>
          <a:solidFill>
            <a:srgbClr val="1F3A5F"/>
          </a:solidFill>
          <a:ln/>
        </p:spPr>
      </p:sp>
      <p:sp>
        <p:nvSpPr>
          <p:cNvPr id="7" name="Text 5"/>
          <p:cNvSpPr/>
          <p:nvPr/>
        </p:nvSpPr>
        <p:spPr>
          <a:xfrm>
            <a:off x="1051560" y="1691640"/>
            <a:ext cx="640080" cy="365760"/>
          </a:xfrm>
          <a:prstGeom prst="rect">
            <a:avLst/>
          </a:prstGeom>
          <a:noFill/>
          <a:ln/>
        </p:spPr>
        <p:txBody>
          <a:bodyPr wrap="square" lIns="0" tIns="0" rIns="0" bIns="0"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828800" y="1645920"/>
            <a:ext cx="914400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EEG-based BCI</a:t>
            </a:r>
            <a:endParaRPr lang="en-US" sz="1800" dirty="0"/>
          </a:p>
        </p:txBody>
      </p:sp>
      <p:sp>
        <p:nvSpPr>
          <p:cNvPr id="9" name="Text 7"/>
          <p:cNvSpPr/>
          <p:nvPr/>
        </p:nvSpPr>
        <p:spPr>
          <a:xfrm>
            <a:off x="1828800" y="2103120"/>
            <a:ext cx="932688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Non-invasive and affordable, but low signal-to-noise ratio and strong variability across subjects and sessions.</a:t>
            </a:r>
            <a:endParaRPr lang="en-US" sz="1500" dirty="0"/>
          </a:p>
        </p:txBody>
      </p:sp>
      <p:sp>
        <p:nvSpPr>
          <p:cNvPr id="10" name="Shape 8"/>
          <p:cNvSpPr/>
          <p:nvPr/>
        </p:nvSpPr>
        <p:spPr>
          <a:xfrm>
            <a:off x="640080" y="2834640"/>
            <a:ext cx="10881360" cy="1280160"/>
          </a:xfrm>
          <a:prstGeom prst="rect">
            <a:avLst/>
          </a:prstGeom>
          <a:solidFill>
            <a:srgbClr val="FFFFFF"/>
          </a:solidFill>
          <a:ln w="12700">
            <a:solidFill>
              <a:srgbClr val="D0D5DB"/>
            </a:solidFill>
            <a:prstDash val="solid"/>
          </a:ln>
        </p:spPr>
      </p:sp>
      <p:sp>
        <p:nvSpPr>
          <p:cNvPr id="11" name="Shape 9"/>
          <p:cNvSpPr/>
          <p:nvPr/>
        </p:nvSpPr>
        <p:spPr>
          <a:xfrm>
            <a:off x="640080" y="2834640"/>
            <a:ext cx="109728" cy="1280160"/>
          </a:xfrm>
          <a:prstGeom prst="rect">
            <a:avLst/>
          </a:prstGeom>
          <a:solidFill>
            <a:srgbClr val="1F3A5F"/>
          </a:solidFill>
          <a:ln/>
        </p:spPr>
      </p:sp>
      <p:sp>
        <p:nvSpPr>
          <p:cNvPr id="12" name="Text 10"/>
          <p:cNvSpPr/>
          <p:nvPr/>
        </p:nvSpPr>
        <p:spPr>
          <a:xfrm>
            <a:off x="1051560" y="3108960"/>
            <a:ext cx="640080" cy="365760"/>
          </a:xfrm>
          <a:prstGeom prst="rect">
            <a:avLst/>
          </a:prstGeom>
          <a:noFill/>
          <a:ln/>
        </p:spPr>
        <p:txBody>
          <a:bodyPr wrap="square" lIns="0" tIns="0" rIns="0" bIns="0"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02</a:t>
            </a:r>
            <a:endParaRPr lang="en-US" sz="1800" dirty="0"/>
          </a:p>
        </p:txBody>
      </p:sp>
      <p:sp>
        <p:nvSpPr>
          <p:cNvPr id="13" name="Text 11"/>
          <p:cNvSpPr/>
          <p:nvPr/>
        </p:nvSpPr>
        <p:spPr>
          <a:xfrm>
            <a:off x="1828800" y="3063240"/>
            <a:ext cx="914400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User-independent decoding</a:t>
            </a:r>
            <a:endParaRPr lang="en-US" sz="1800" dirty="0"/>
          </a:p>
        </p:txBody>
      </p:sp>
      <p:sp>
        <p:nvSpPr>
          <p:cNvPr id="14" name="Text 12"/>
          <p:cNvSpPr/>
          <p:nvPr/>
        </p:nvSpPr>
        <p:spPr>
          <a:xfrm>
            <a:off x="1828800" y="3520440"/>
            <a:ext cx="932688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Classical BCI often needs long per-user calibration. The laboratory aims at models that transfer across subjects.</a:t>
            </a:r>
            <a:endParaRPr lang="en-US" sz="1500" dirty="0"/>
          </a:p>
        </p:txBody>
      </p:sp>
      <p:sp>
        <p:nvSpPr>
          <p:cNvPr id="15" name="Shape 13"/>
          <p:cNvSpPr/>
          <p:nvPr/>
        </p:nvSpPr>
        <p:spPr>
          <a:xfrm>
            <a:off x="640080" y="4251960"/>
            <a:ext cx="10881360" cy="1280160"/>
          </a:xfrm>
          <a:prstGeom prst="rect">
            <a:avLst/>
          </a:prstGeom>
          <a:solidFill>
            <a:srgbClr val="FFFFFF"/>
          </a:solidFill>
          <a:ln w="12700">
            <a:solidFill>
              <a:srgbClr val="D0D5DB"/>
            </a:solidFill>
            <a:prstDash val="solid"/>
          </a:ln>
        </p:spPr>
      </p:sp>
      <p:sp>
        <p:nvSpPr>
          <p:cNvPr id="16" name="Shape 14"/>
          <p:cNvSpPr/>
          <p:nvPr/>
        </p:nvSpPr>
        <p:spPr>
          <a:xfrm>
            <a:off x="640080" y="4251960"/>
            <a:ext cx="109728" cy="1280160"/>
          </a:xfrm>
          <a:prstGeom prst="rect">
            <a:avLst/>
          </a:prstGeom>
          <a:solidFill>
            <a:srgbClr val="1F3A5F"/>
          </a:solidFill>
          <a:ln/>
        </p:spPr>
      </p:sp>
      <p:sp>
        <p:nvSpPr>
          <p:cNvPr id="17" name="Text 15"/>
          <p:cNvSpPr/>
          <p:nvPr/>
        </p:nvSpPr>
        <p:spPr>
          <a:xfrm>
            <a:off x="1051560" y="4526280"/>
            <a:ext cx="640080" cy="365760"/>
          </a:xfrm>
          <a:prstGeom prst="rect">
            <a:avLst/>
          </a:prstGeom>
          <a:noFill/>
          <a:ln/>
        </p:spPr>
        <p:txBody>
          <a:bodyPr wrap="square" lIns="0" tIns="0" rIns="0" bIns="0" rtlCol="0" anchor="ctr"/>
          <a:lstStyle/>
          <a:p>
            <a:pPr marL="0" indent="0">
              <a:buNone/>
            </a:pPr>
            <a:r>
              <a:rPr lang="en-US" sz="1800" b="1" dirty="0">
                <a:solidFill>
                  <a:srgbClr val="1F3A5F"/>
                </a:solidFill>
                <a:latin typeface="Georgia" pitchFamily="34" charset="0"/>
                <a:ea typeface="Georgia" pitchFamily="34" charset="-122"/>
                <a:cs typeface="Georgia" pitchFamily="34" charset="-120"/>
              </a:rPr>
              <a:t>03</a:t>
            </a:r>
            <a:endParaRPr lang="en-US" sz="1800" dirty="0"/>
          </a:p>
        </p:txBody>
      </p:sp>
      <p:sp>
        <p:nvSpPr>
          <p:cNvPr id="18" name="Text 16"/>
          <p:cNvSpPr/>
          <p:nvPr/>
        </p:nvSpPr>
        <p:spPr>
          <a:xfrm>
            <a:off x="1828800" y="4480560"/>
            <a:ext cx="914400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EEG foundation models</a:t>
            </a:r>
            <a:endParaRPr lang="en-US" sz="1800" dirty="0"/>
          </a:p>
        </p:txBody>
      </p:sp>
      <p:sp>
        <p:nvSpPr>
          <p:cNvPr id="19" name="Text 17"/>
          <p:cNvSpPr/>
          <p:nvPr/>
        </p:nvSpPr>
        <p:spPr>
          <a:xfrm>
            <a:off x="1828800" y="4937760"/>
            <a:ext cx="932688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Pretrained models such as ST-EEGFormer and LaBraM may help — they must be evaluated on real laboratory data.</a:t>
            </a:r>
            <a:endParaRPr lang="en-US" sz="1500" dirty="0"/>
          </a:p>
        </p:txBody>
      </p:sp>
      <p:sp>
        <p:nvSpPr>
          <p:cNvPr id="21" name="Shape 18"/>
          <p:cNvSpPr/>
          <p:nvPr/>
        </p:nvSpPr>
        <p:spPr>
          <a:xfrm>
            <a:off x="640080" y="6400800"/>
            <a:ext cx="10881360" cy="0"/>
          </a:xfrm>
          <a:prstGeom prst="line">
            <a:avLst/>
          </a:prstGeom>
          <a:noFill/>
          <a:ln w="9525">
            <a:solidFill>
              <a:srgbClr val="D0D5DB"/>
            </a:solidFill>
            <a:prstDash val="solid"/>
          </a:ln>
        </p:spPr>
      </p:sp>
      <p:sp>
        <p:nvSpPr>
          <p:cNvPr id="22" name="Text 19"/>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3" name="Text 20"/>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OBJECTIVE</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rPr>
              <a:t>What this work evaluates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71600"/>
            <a:ext cx="10881360" cy="1554480"/>
          </a:xfrm>
          <a:prstGeom prst="rect">
            <a:avLst/>
          </a:prstGeom>
          <a:solidFill>
            <a:srgbClr val="2C3338"/>
          </a:solidFill>
          <a:ln w="12700">
            <a:solidFill>
              <a:srgbClr val="D0D5DB"/>
            </a:solidFill>
            <a:prstDash val="solid"/>
          </a:ln>
        </p:spPr>
      </p:sp>
      <p:sp>
        <p:nvSpPr>
          <p:cNvPr id="6" name="Text 4"/>
          <p:cNvSpPr/>
          <p:nvPr/>
        </p:nvSpPr>
        <p:spPr>
          <a:xfrm>
            <a:off x="914400" y="1554480"/>
            <a:ext cx="10332720" cy="274320"/>
          </a:xfrm>
          <a:prstGeom prst="rect">
            <a:avLst/>
          </a:prstGeom>
          <a:noFill/>
          <a:ln/>
        </p:spPr>
        <p:txBody>
          <a:bodyPr wrap="square" lIns="0" tIns="0" rIns="0" bIns="0" rtlCol="0" anchor="ctr"/>
          <a:lstStyle/>
          <a:p>
            <a:pPr marL="0" indent="0">
              <a:buNone/>
            </a:pPr>
            <a:r>
              <a:rPr lang="en-US" sz="1200" b="1" dirty="0">
                <a:solidFill>
                  <a:srgbClr val="A8B0B8"/>
                </a:solidFill>
                <a:latin typeface="Calibri" pitchFamily="34" charset="0"/>
                <a:ea typeface="Calibri" pitchFamily="34" charset="-122"/>
                <a:cs typeface="Calibri" pitchFamily="34" charset="-120"/>
              </a:rPr>
              <a:t>Main objective</a:t>
            </a:r>
            <a:endParaRPr lang="en-US" sz="1200" dirty="0"/>
          </a:p>
        </p:txBody>
      </p:sp>
      <p:sp>
        <p:nvSpPr>
          <p:cNvPr id="7" name="Text 5"/>
          <p:cNvSpPr/>
          <p:nvPr/>
        </p:nvSpPr>
        <p:spPr>
          <a:xfrm>
            <a:off x="914400" y="1965960"/>
            <a:ext cx="10332720" cy="685800"/>
          </a:xfrm>
          <a:prstGeom prst="rect">
            <a:avLst/>
          </a:prstGeom>
          <a:noFill/>
          <a:ln/>
        </p:spPr>
        <p:txBody>
          <a:bodyPr wrap="square" lIns="0" tIns="0" rIns="0" bIns="0" rtlCol="0" anchor="ctr"/>
          <a:lstStyle/>
          <a:p>
            <a:pPr marL="0" indent="0">
              <a:buNone/>
            </a:pPr>
            <a:r>
              <a:rPr lang="en-US" sz="2000" dirty="0">
                <a:solidFill>
                  <a:srgbClr val="FFFFFF"/>
                </a:solidFill>
                <a:latin typeface="Georgia" pitchFamily="34" charset="0"/>
                <a:ea typeface="Georgia" pitchFamily="34" charset="-122"/>
                <a:cs typeface="Georgia" pitchFamily="34" charset="-120"/>
              </a:rPr>
              <a:t>Evaluate ST-EEGFormer on the ATR spatial-attention dataset and compare it with LaBraM on the same task.</a:t>
            </a:r>
            <a:endParaRPr lang="en-US" sz="2000" dirty="0"/>
          </a:p>
        </p:txBody>
      </p:sp>
      <p:sp>
        <p:nvSpPr>
          <p:cNvPr id="8" name="Shape 6"/>
          <p:cNvSpPr/>
          <p:nvPr/>
        </p:nvSpPr>
        <p:spPr>
          <a:xfrm>
            <a:off x="640080" y="3200400"/>
            <a:ext cx="5394960" cy="1234440"/>
          </a:xfrm>
          <a:prstGeom prst="rect">
            <a:avLst/>
          </a:prstGeom>
          <a:solidFill>
            <a:srgbClr val="FFFFFF"/>
          </a:solidFill>
          <a:ln w="12700">
            <a:solidFill>
              <a:srgbClr val="D0D5DB"/>
            </a:solidFill>
            <a:prstDash val="solid"/>
          </a:ln>
        </p:spPr>
      </p:sp>
      <p:sp>
        <p:nvSpPr>
          <p:cNvPr id="9" name="Text 7"/>
          <p:cNvSpPr/>
          <p:nvPr/>
        </p:nvSpPr>
        <p:spPr>
          <a:xfrm>
            <a:off x="914400" y="34290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MODEL</a:t>
            </a:r>
            <a:endParaRPr lang="en-US" sz="1100" dirty="0"/>
          </a:p>
        </p:txBody>
      </p:sp>
      <p:sp>
        <p:nvSpPr>
          <p:cNvPr id="10" name="Text 8"/>
          <p:cNvSpPr/>
          <p:nvPr/>
        </p:nvSpPr>
        <p:spPr>
          <a:xfrm>
            <a:off x="914400" y="37947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ST-EEGFormer-large (ViT, ~303M parameters, pretrained)</a:t>
            </a:r>
            <a:endParaRPr lang="en-US" sz="1500" dirty="0"/>
          </a:p>
        </p:txBody>
      </p:sp>
      <p:sp>
        <p:nvSpPr>
          <p:cNvPr id="11" name="Shape 9"/>
          <p:cNvSpPr/>
          <p:nvPr/>
        </p:nvSpPr>
        <p:spPr>
          <a:xfrm>
            <a:off x="6217920" y="3200400"/>
            <a:ext cx="5394960" cy="1234440"/>
          </a:xfrm>
          <a:prstGeom prst="rect">
            <a:avLst/>
          </a:prstGeom>
          <a:solidFill>
            <a:srgbClr val="FFFFFF"/>
          </a:solidFill>
          <a:ln w="12700">
            <a:solidFill>
              <a:srgbClr val="D0D5DB"/>
            </a:solidFill>
            <a:prstDash val="solid"/>
          </a:ln>
        </p:spPr>
      </p:sp>
      <p:sp>
        <p:nvSpPr>
          <p:cNvPr id="12" name="Text 10"/>
          <p:cNvSpPr/>
          <p:nvPr/>
        </p:nvSpPr>
        <p:spPr>
          <a:xfrm>
            <a:off x="6492240" y="34290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TASK</a:t>
            </a:r>
            <a:endParaRPr lang="en-US" sz="1100" dirty="0"/>
          </a:p>
        </p:txBody>
      </p:sp>
      <p:sp>
        <p:nvSpPr>
          <p:cNvPr id="13" name="Text 11"/>
          <p:cNvSpPr/>
          <p:nvPr/>
        </p:nvSpPr>
        <p:spPr>
          <a:xfrm>
            <a:off x="6492240" y="37947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Left vs right spatial attention (2 classes, chance = 50%)</a:t>
            </a:r>
            <a:endParaRPr lang="en-US" sz="1500" dirty="0"/>
          </a:p>
        </p:txBody>
      </p:sp>
      <p:sp>
        <p:nvSpPr>
          <p:cNvPr id="14" name="Shape 12"/>
          <p:cNvSpPr/>
          <p:nvPr/>
        </p:nvSpPr>
        <p:spPr>
          <a:xfrm>
            <a:off x="640080" y="4572000"/>
            <a:ext cx="5394960" cy="1234440"/>
          </a:xfrm>
          <a:prstGeom prst="rect">
            <a:avLst/>
          </a:prstGeom>
          <a:solidFill>
            <a:srgbClr val="FFFFFF"/>
          </a:solidFill>
          <a:ln w="12700">
            <a:solidFill>
              <a:srgbClr val="D0D5DB"/>
            </a:solidFill>
            <a:prstDash val="solid"/>
          </a:ln>
        </p:spPr>
      </p:sp>
      <p:sp>
        <p:nvSpPr>
          <p:cNvPr id="15" name="Text 13"/>
          <p:cNvSpPr/>
          <p:nvPr/>
        </p:nvSpPr>
        <p:spPr>
          <a:xfrm>
            <a:off x="914400" y="48006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PROTOCOLS</a:t>
            </a:r>
            <a:endParaRPr lang="en-US" sz="1100" dirty="0"/>
          </a:p>
        </p:txBody>
      </p:sp>
      <p:sp>
        <p:nvSpPr>
          <p:cNvPr id="16" name="Text 14"/>
          <p:cNvSpPr/>
          <p:nvPr/>
        </p:nvSpPr>
        <p:spPr>
          <a:xfrm>
            <a:off x="914400" y="5166360"/>
            <a:ext cx="4846320" cy="457200"/>
          </a:xfrm>
          <a:prstGeom prst="rect">
            <a:avLst/>
          </a:prstGeom>
          <a:noFill/>
          <a:ln/>
        </p:spPr>
        <p:txBody>
          <a:bodyPr wrap="square" lIns="0" tIns="0" rIns="0" bIns="0" rtlCol="0" anchor="ctr"/>
          <a:lstStyle/>
          <a:p>
            <a:pPr marL="0" indent="0">
              <a:buNone/>
            </a:pPr>
            <a:r>
              <a:rPr lang="en-US" sz="1500" dirty="0">
                <a:solidFill>
                  <a:srgbClr val="1A1A1A"/>
                </a:solidFill>
                <a:latin typeface="Calibri" pitchFamily="34" charset="0"/>
                <a:ea typeface="Calibri" pitchFamily="34" charset="-122"/>
                <a:cs typeface="Calibri" pitchFamily="34" charset="-120"/>
              </a:rPr>
              <a:t>Population (completed) · LOSO (in progress)</a:t>
            </a:r>
            <a:endParaRPr lang="en-US" sz="1500" dirty="0"/>
          </a:p>
        </p:txBody>
      </p:sp>
      <p:sp>
        <p:nvSpPr>
          <p:cNvPr id="17" name="Shape 15"/>
          <p:cNvSpPr/>
          <p:nvPr/>
        </p:nvSpPr>
        <p:spPr>
          <a:xfrm>
            <a:off x="6217920" y="4572000"/>
            <a:ext cx="5394960" cy="1234440"/>
          </a:xfrm>
          <a:prstGeom prst="rect">
            <a:avLst/>
          </a:prstGeom>
          <a:solidFill>
            <a:srgbClr val="FFFFFF"/>
          </a:solidFill>
          <a:ln w="12700">
            <a:solidFill>
              <a:srgbClr val="D0D5DB"/>
            </a:solidFill>
            <a:prstDash val="solid"/>
          </a:ln>
        </p:spPr>
      </p:sp>
      <p:sp>
        <p:nvSpPr>
          <p:cNvPr id="18" name="Text 16"/>
          <p:cNvSpPr/>
          <p:nvPr/>
        </p:nvSpPr>
        <p:spPr>
          <a:xfrm>
            <a:off x="6492240" y="4800600"/>
            <a:ext cx="4846320" cy="274320"/>
          </a:xfrm>
          <a:prstGeom prst="rect">
            <a:avLst/>
          </a:prstGeom>
          <a:noFill/>
          <a:ln/>
        </p:spPr>
        <p:txBody>
          <a:bodyPr wrap="square" lIns="0" tIns="0" rIns="0" bIns="0" rtlCol="0" anchor="ctr"/>
          <a:lstStyle/>
          <a:p>
            <a:pPr marL="0" indent="0">
              <a:buNone/>
            </a:pPr>
            <a:r>
              <a:rPr lang="en-US" sz="1100" b="1" dirty="0">
                <a:solidFill>
                  <a:srgbClr val="1F3A5F"/>
                </a:solidFill>
                <a:latin typeface="Calibri" pitchFamily="34" charset="0"/>
                <a:ea typeface="Calibri" pitchFamily="34" charset="-122"/>
                <a:cs typeface="Calibri" pitchFamily="34" charset="-120"/>
              </a:rPr>
              <a:t>REFERENCES</a:t>
            </a:r>
            <a:endParaRPr lang="en-US" sz="1100" dirty="0"/>
          </a:p>
        </p:txBody>
      </p:sp>
      <p:sp>
        <p:nvSpPr>
          <p:cNvPr id="19" name="Text 17"/>
          <p:cNvSpPr/>
          <p:nvPr/>
        </p:nvSpPr>
        <p:spPr>
          <a:xfrm>
            <a:off x="6492240" y="5166360"/>
            <a:ext cx="4846320" cy="457200"/>
          </a:xfrm>
          <a:prstGeom prst="rect">
            <a:avLst/>
          </a:prstGeom>
          <a:noFill/>
          <a:ln/>
        </p:spPr>
        <p:txBody>
          <a:bodyPr wrap="square" lIns="0" tIns="0" rIns="0" bIns="0" rtlCol="0" anchor="ctr"/>
          <a:lstStyle/>
          <a:p>
            <a:pPr marL="0" indent="0">
              <a:buNone/>
            </a:pPr>
            <a:r>
              <a:rPr lang="en-US" sz="1500" dirty="0" err="1">
                <a:solidFill>
                  <a:srgbClr val="1A1A1A"/>
                </a:solidFill>
                <a:latin typeface="Calibri" pitchFamily="34" charset="0"/>
                <a:ea typeface="Calibri" pitchFamily="34" charset="-122"/>
                <a:cs typeface="Calibri" pitchFamily="34" charset="-120"/>
              </a:rPr>
              <a:t>LaBraM</a:t>
            </a:r>
            <a:r>
              <a:rPr lang="en-US" sz="1500" dirty="0">
                <a:solidFill>
                  <a:srgbClr val="1A1A1A"/>
                </a:solidFill>
                <a:latin typeface="Calibri" pitchFamily="34" charset="0"/>
                <a:ea typeface="Calibri" pitchFamily="34" charset="-122"/>
                <a:cs typeface="Calibri" pitchFamily="34" charset="-120"/>
              </a:rPr>
              <a:t> · LDA classical baseline</a:t>
            </a:r>
            <a:endParaRPr lang="en-US" sz="1500" dirty="0"/>
          </a:p>
        </p:txBody>
      </p:sp>
      <p:sp>
        <p:nvSpPr>
          <p:cNvPr id="21" name="Shape 18"/>
          <p:cNvSpPr/>
          <p:nvPr/>
        </p:nvSpPr>
        <p:spPr>
          <a:xfrm>
            <a:off x="640080" y="6400800"/>
            <a:ext cx="10881360" cy="0"/>
          </a:xfrm>
          <a:prstGeom prst="line">
            <a:avLst/>
          </a:prstGeom>
          <a:noFill/>
          <a:ln w="9525">
            <a:solidFill>
              <a:srgbClr val="D0D5DB"/>
            </a:solidFill>
            <a:prstDash val="solid"/>
          </a:ln>
        </p:spPr>
      </p:sp>
      <p:sp>
        <p:nvSpPr>
          <p:cNvPr id="22" name="Text 19"/>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3" name="Text 20"/>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RELATED WORK</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Key papers for this project</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25880"/>
            <a:ext cx="10881360" cy="1051560"/>
          </a:xfrm>
          <a:prstGeom prst="rect">
            <a:avLst/>
          </a:prstGeom>
          <a:solidFill>
            <a:srgbClr val="FFFFFF"/>
          </a:solidFill>
          <a:ln w="12700">
            <a:solidFill>
              <a:srgbClr val="D0D5DB"/>
            </a:solidFill>
            <a:prstDash val="solid"/>
          </a:ln>
        </p:spPr>
      </p:sp>
      <p:sp>
        <p:nvSpPr>
          <p:cNvPr id="6" name="Text 4"/>
          <p:cNvSpPr/>
          <p:nvPr/>
        </p:nvSpPr>
        <p:spPr>
          <a:xfrm>
            <a:off x="868680" y="1463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Yang et al., 2026</a:t>
            </a:r>
            <a:endParaRPr lang="en-US" sz="1200" dirty="0"/>
          </a:p>
        </p:txBody>
      </p:sp>
      <p:sp>
        <p:nvSpPr>
          <p:cNvPr id="7" name="Text 5"/>
          <p:cNvSpPr/>
          <p:nvPr/>
        </p:nvSpPr>
        <p:spPr>
          <a:xfrm>
            <a:off x="868680" y="1709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Are EEG Foundation Models Worth It?</a:t>
            </a:r>
            <a:endParaRPr lang="en-US" sz="1500" dirty="0"/>
          </a:p>
        </p:txBody>
      </p:sp>
      <p:sp>
        <p:nvSpPr>
          <p:cNvPr id="8" name="Text 6"/>
          <p:cNvSpPr/>
          <p:nvPr/>
        </p:nvSpPr>
        <p:spPr>
          <a:xfrm>
            <a:off x="868680" y="2011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Benchmark · why we evaluate ST-EEGFormer with fine-tuning protocols</a:t>
            </a:r>
            <a:endParaRPr lang="en-US" sz="1300" dirty="0"/>
          </a:p>
        </p:txBody>
      </p:sp>
      <p:sp>
        <p:nvSpPr>
          <p:cNvPr id="9" name="Shape 7"/>
          <p:cNvSpPr/>
          <p:nvPr/>
        </p:nvSpPr>
        <p:spPr>
          <a:xfrm>
            <a:off x="640080" y="2468880"/>
            <a:ext cx="10881360" cy="1051560"/>
          </a:xfrm>
          <a:prstGeom prst="rect">
            <a:avLst/>
          </a:prstGeom>
          <a:solidFill>
            <a:srgbClr val="FFFFFF"/>
          </a:solidFill>
          <a:ln w="12700">
            <a:solidFill>
              <a:srgbClr val="D0D5DB"/>
            </a:solidFill>
            <a:prstDash val="solid"/>
          </a:ln>
        </p:spPr>
      </p:sp>
      <p:sp>
        <p:nvSpPr>
          <p:cNvPr id="10" name="Text 8"/>
          <p:cNvSpPr/>
          <p:nvPr/>
        </p:nvSpPr>
        <p:spPr>
          <a:xfrm>
            <a:off x="868680" y="2606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Jiang et al., 2024</a:t>
            </a:r>
            <a:endParaRPr lang="en-US" sz="1200" dirty="0"/>
          </a:p>
        </p:txBody>
      </p:sp>
      <p:sp>
        <p:nvSpPr>
          <p:cNvPr id="11" name="Text 9"/>
          <p:cNvSpPr/>
          <p:nvPr/>
        </p:nvSpPr>
        <p:spPr>
          <a:xfrm>
            <a:off x="868680" y="2852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LaBraM — Large Brain Model</a:t>
            </a:r>
            <a:endParaRPr lang="en-US" sz="1500" dirty="0"/>
          </a:p>
        </p:txBody>
      </p:sp>
      <p:sp>
        <p:nvSpPr>
          <p:cNvPr id="12" name="Text 10"/>
          <p:cNvSpPr/>
          <p:nvPr/>
        </p:nvSpPr>
        <p:spPr>
          <a:xfrm>
            <a:off x="868680" y="3154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Liz's model · the comparison target on the same lab data</a:t>
            </a:r>
            <a:endParaRPr lang="en-US" sz="1300" dirty="0"/>
          </a:p>
        </p:txBody>
      </p:sp>
      <p:sp>
        <p:nvSpPr>
          <p:cNvPr id="13" name="Shape 11"/>
          <p:cNvSpPr/>
          <p:nvPr/>
        </p:nvSpPr>
        <p:spPr>
          <a:xfrm>
            <a:off x="640080" y="3611880"/>
            <a:ext cx="10881360" cy="1051560"/>
          </a:xfrm>
          <a:prstGeom prst="rect">
            <a:avLst/>
          </a:prstGeom>
          <a:solidFill>
            <a:srgbClr val="FFFFFF"/>
          </a:solidFill>
          <a:ln w="12700">
            <a:solidFill>
              <a:srgbClr val="D0D5DB"/>
            </a:solidFill>
            <a:prstDash val="solid"/>
          </a:ln>
        </p:spPr>
      </p:sp>
      <p:sp>
        <p:nvSpPr>
          <p:cNvPr id="14" name="Text 12"/>
          <p:cNvSpPr/>
          <p:nvPr/>
        </p:nvSpPr>
        <p:spPr>
          <a:xfrm>
            <a:off x="868680" y="3749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Morioka et al., 2014</a:t>
            </a:r>
            <a:endParaRPr lang="en-US" sz="1200" dirty="0"/>
          </a:p>
        </p:txBody>
      </p:sp>
      <p:sp>
        <p:nvSpPr>
          <p:cNvPr id="15" name="Text 13"/>
          <p:cNvSpPr/>
          <p:nvPr/>
        </p:nvSpPr>
        <p:spPr>
          <a:xfrm>
            <a:off x="868680" y="3995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Decoding spatial attention (EEG + NIRS prior)</a:t>
            </a:r>
            <a:endParaRPr lang="en-US" sz="1500" dirty="0"/>
          </a:p>
        </p:txBody>
      </p:sp>
      <p:sp>
        <p:nvSpPr>
          <p:cNvPr id="16" name="Text 14"/>
          <p:cNvSpPr/>
          <p:nvPr/>
        </p:nvSpPr>
        <p:spPr>
          <a:xfrm>
            <a:off x="868680" y="4297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Lab task paradigm · 8 s attention · left vs right</a:t>
            </a:r>
            <a:endParaRPr lang="en-US" sz="1300" dirty="0"/>
          </a:p>
        </p:txBody>
      </p:sp>
      <p:sp>
        <p:nvSpPr>
          <p:cNvPr id="17" name="Shape 15"/>
          <p:cNvSpPr/>
          <p:nvPr/>
        </p:nvSpPr>
        <p:spPr>
          <a:xfrm>
            <a:off x="640080" y="4754880"/>
            <a:ext cx="10881360" cy="1051560"/>
          </a:xfrm>
          <a:prstGeom prst="rect">
            <a:avLst/>
          </a:prstGeom>
          <a:solidFill>
            <a:srgbClr val="FFFFFF"/>
          </a:solidFill>
          <a:ln w="12700">
            <a:solidFill>
              <a:srgbClr val="D0D5DB"/>
            </a:solidFill>
            <a:prstDash val="solid"/>
          </a:ln>
        </p:spPr>
      </p:sp>
      <p:sp>
        <p:nvSpPr>
          <p:cNvPr id="18" name="Text 16"/>
          <p:cNvSpPr/>
          <p:nvPr/>
        </p:nvSpPr>
        <p:spPr>
          <a:xfrm>
            <a:off x="868680" y="4892040"/>
            <a:ext cx="10424160" cy="256032"/>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Critical review (Apr. 2026)</a:t>
            </a:r>
            <a:endParaRPr lang="en-US" sz="1200" dirty="0"/>
          </a:p>
        </p:txBody>
      </p:sp>
      <p:sp>
        <p:nvSpPr>
          <p:cNvPr id="19" name="Text 17"/>
          <p:cNvSpPr/>
          <p:nvPr/>
        </p:nvSpPr>
        <p:spPr>
          <a:xfrm>
            <a:off x="868680" y="5138928"/>
            <a:ext cx="10424160" cy="274320"/>
          </a:xfrm>
          <a:prstGeom prst="rect">
            <a:avLst/>
          </a:prstGeom>
          <a:noFill/>
          <a:ln/>
        </p:spPr>
        <p:txBody>
          <a:bodyPr wrap="square" lIns="0" tIns="0" rIns="0" bIns="0" rtlCol="0" anchor="ctr"/>
          <a:lstStyle/>
          <a:p>
            <a:pPr marL="0" indent="0">
              <a:buNone/>
            </a:pPr>
            <a:r>
              <a:rPr lang="en-US" sz="1500" b="1" dirty="0">
                <a:solidFill>
                  <a:srgbClr val="1A1A1A"/>
                </a:solidFill>
                <a:latin typeface="Georgia" pitchFamily="34" charset="0"/>
                <a:ea typeface="Georgia" pitchFamily="34" charset="-122"/>
                <a:cs typeface="Georgia" pitchFamily="34" charset="-120"/>
              </a:rPr>
              <a:t>EEG Foundation Models: progress &amp; directions</a:t>
            </a:r>
            <a:endParaRPr lang="en-US" sz="1500" dirty="0"/>
          </a:p>
        </p:txBody>
      </p:sp>
      <p:sp>
        <p:nvSpPr>
          <p:cNvPr id="20" name="Text 18"/>
          <p:cNvSpPr/>
          <p:nvPr/>
        </p:nvSpPr>
        <p:spPr>
          <a:xfrm>
            <a:off x="868680" y="5440680"/>
            <a:ext cx="10424160" cy="256032"/>
          </a:xfrm>
          <a:prstGeom prst="rect">
            <a:avLst/>
          </a:prstGeom>
          <a:noFill/>
          <a:ln/>
        </p:spPr>
        <p:txBody>
          <a:bodyPr wrap="square" lIns="0" tIns="0" rIns="0" bIns="0" rtlCol="0" anchor="ctr"/>
          <a:lstStyle/>
          <a:p>
            <a:pPr marL="0" indent="0">
              <a:buNone/>
            </a:pPr>
            <a:r>
              <a:rPr lang="en-US" sz="1300" dirty="0">
                <a:solidFill>
                  <a:srgbClr val="5C6570"/>
                </a:solidFill>
                <a:latin typeface="Calibri" pitchFamily="34" charset="0"/>
                <a:ea typeface="Calibri" pitchFamily="34" charset="-122"/>
                <a:cs typeface="Calibri" pitchFamily="34" charset="-120"/>
              </a:rPr>
              <a:t>Survey I presented to the lab in April · context for choosing ST-EEGFormer</a:t>
            </a:r>
            <a:endParaRPr lang="en-US" sz="1300" dirty="0"/>
          </a:p>
        </p:txBody>
      </p:sp>
      <p:sp>
        <p:nvSpPr>
          <p:cNvPr id="22" name="Shape 19"/>
          <p:cNvSpPr/>
          <p:nvPr/>
        </p:nvSpPr>
        <p:spPr>
          <a:xfrm>
            <a:off x="640080" y="6400800"/>
            <a:ext cx="10881360" cy="0"/>
          </a:xfrm>
          <a:prstGeom prst="line">
            <a:avLst/>
          </a:prstGeom>
          <a:noFill/>
          <a:ln w="9525">
            <a:solidFill>
              <a:srgbClr val="D0D5DB"/>
            </a:solidFill>
            <a:prstDash val="solid"/>
          </a:ln>
        </p:spPr>
      </p:sp>
      <p:sp>
        <p:nvSpPr>
          <p:cNvPr id="23" name="Text 20"/>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4" name="Text 21"/>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Comparison setup in the laboratory</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3520440" cy="4434840"/>
          </a:xfrm>
          <a:prstGeom prst="rect">
            <a:avLst/>
          </a:prstGeom>
          <a:solidFill>
            <a:srgbClr val="FFFFFF"/>
          </a:solidFill>
          <a:ln w="12700">
            <a:solidFill>
              <a:srgbClr val="D0D5DB"/>
            </a:solidFill>
            <a:prstDash val="solid"/>
          </a:ln>
        </p:spPr>
      </p:sp>
      <p:sp>
        <p:nvSpPr>
          <p:cNvPr id="6" name="Shape 4"/>
          <p:cNvSpPr/>
          <p:nvPr/>
        </p:nvSpPr>
        <p:spPr>
          <a:xfrm>
            <a:off x="640080" y="1417320"/>
            <a:ext cx="3520440" cy="594360"/>
          </a:xfrm>
          <a:prstGeom prst="rect">
            <a:avLst/>
          </a:prstGeom>
          <a:solidFill>
            <a:srgbClr val="2C3338"/>
          </a:solidFill>
          <a:ln/>
        </p:spPr>
      </p:sp>
      <p:sp>
        <p:nvSpPr>
          <p:cNvPr id="7" name="Text 5"/>
          <p:cNvSpPr/>
          <p:nvPr/>
        </p:nvSpPr>
        <p:spPr>
          <a:xfrm>
            <a:off x="868680" y="1536192"/>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Maxime</a:t>
            </a:r>
            <a:endParaRPr lang="en-US" sz="1800" dirty="0"/>
          </a:p>
        </p:txBody>
      </p:sp>
      <p:sp>
        <p:nvSpPr>
          <p:cNvPr id="8" name="Text 6"/>
          <p:cNvSpPr/>
          <p:nvPr/>
        </p:nvSpPr>
        <p:spPr>
          <a:xfrm>
            <a:off x="868680" y="2286000"/>
            <a:ext cx="3108960" cy="3200400"/>
          </a:xfrm>
          <a:prstGeom prst="rect">
            <a:avLst/>
          </a:prstGeom>
          <a:noFill/>
          <a:ln/>
        </p:spPr>
        <p:txBody>
          <a:bodyPr wrap="square" lIns="0" tIns="0" rIns="0" bIns="0" rtlCol="0" anchor="ctr"/>
          <a:lstStyle/>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ST-EEGFormer</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EEG foundation model</a:t>
            </a:r>
            <a:endParaRPr lang="en-US" sz="1500" dirty="0"/>
          </a:p>
          <a:p>
            <a:pPr marL="0" indent="0">
              <a:spcAft>
                <a:spcPts val="800"/>
              </a:spcAft>
              <a:buNone/>
            </a:pP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Evaluation pipeline</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Population + LOSO</a:t>
            </a:r>
            <a:endParaRPr lang="en-US" sz="1500" dirty="0"/>
          </a:p>
        </p:txBody>
      </p:sp>
      <p:sp>
        <p:nvSpPr>
          <p:cNvPr id="9" name="Shape 7"/>
          <p:cNvSpPr/>
          <p:nvPr/>
        </p:nvSpPr>
        <p:spPr>
          <a:xfrm>
            <a:off x="4343400" y="1417320"/>
            <a:ext cx="3520440" cy="4434840"/>
          </a:xfrm>
          <a:prstGeom prst="rect">
            <a:avLst/>
          </a:prstGeom>
          <a:solidFill>
            <a:srgbClr val="FFFFFF"/>
          </a:solidFill>
          <a:ln w="12700">
            <a:solidFill>
              <a:srgbClr val="D0D5DB"/>
            </a:solidFill>
            <a:prstDash val="solid"/>
          </a:ln>
        </p:spPr>
      </p:sp>
      <p:sp>
        <p:nvSpPr>
          <p:cNvPr id="10" name="Shape 8"/>
          <p:cNvSpPr/>
          <p:nvPr/>
        </p:nvSpPr>
        <p:spPr>
          <a:xfrm>
            <a:off x="4343400" y="1417320"/>
            <a:ext cx="3520440" cy="594360"/>
          </a:xfrm>
          <a:prstGeom prst="rect">
            <a:avLst/>
          </a:prstGeom>
          <a:solidFill>
            <a:srgbClr val="3D454C"/>
          </a:solidFill>
          <a:ln/>
        </p:spPr>
      </p:sp>
      <p:sp>
        <p:nvSpPr>
          <p:cNvPr id="11" name="Text 9"/>
          <p:cNvSpPr/>
          <p:nvPr/>
        </p:nvSpPr>
        <p:spPr>
          <a:xfrm>
            <a:off x="4572000" y="1536192"/>
            <a:ext cx="3108960" cy="36576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Liz</a:t>
            </a:r>
            <a:endParaRPr lang="en-US" sz="1800" dirty="0"/>
          </a:p>
        </p:txBody>
      </p:sp>
      <p:sp>
        <p:nvSpPr>
          <p:cNvPr id="12" name="Text 10"/>
          <p:cNvSpPr/>
          <p:nvPr/>
        </p:nvSpPr>
        <p:spPr>
          <a:xfrm>
            <a:off x="4572000" y="2286000"/>
            <a:ext cx="3108960" cy="3200400"/>
          </a:xfrm>
          <a:prstGeom prst="rect">
            <a:avLst/>
          </a:prstGeom>
          <a:noFill/>
          <a:ln/>
        </p:spPr>
        <p:txBody>
          <a:bodyPr wrap="square" lIns="0" tIns="0" rIns="0" bIns="0" rtlCol="0" anchor="ctr"/>
          <a:lstStyle/>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LaBraM</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Parallel FM evaluation</a:t>
            </a:r>
            <a:endParaRPr lang="en-US" sz="1500" dirty="0"/>
          </a:p>
          <a:p>
            <a:pPr marL="0" indent="0">
              <a:spcAft>
                <a:spcPts val="800"/>
              </a:spcAft>
              <a:buNone/>
            </a:pP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Reference preprocessing</a:t>
            </a:r>
            <a:endParaRPr lang="en-US" sz="1500" dirty="0"/>
          </a:p>
          <a:p>
            <a:pPr marL="0" indent="0">
              <a:spcAft>
                <a:spcPts val="800"/>
              </a:spcAft>
              <a:buNone/>
            </a:pPr>
            <a:r>
              <a:rPr lang="en-US" sz="1500" dirty="0">
                <a:solidFill>
                  <a:srgbClr val="1A1A1A"/>
                </a:solidFill>
                <a:latin typeface="Calibri" pitchFamily="34" charset="0"/>
                <a:ea typeface="Calibri" pitchFamily="34" charset="-122"/>
                <a:cs typeface="Calibri" pitchFamily="34" charset="-120"/>
              </a:rPr>
              <a:t>Population ~62% · LOSO ~62%</a:t>
            </a:r>
            <a:endParaRPr lang="en-US" sz="1500" dirty="0"/>
          </a:p>
        </p:txBody>
      </p:sp>
      <p:sp>
        <p:nvSpPr>
          <p:cNvPr id="13" name="Shape 11"/>
          <p:cNvSpPr/>
          <p:nvPr/>
        </p:nvSpPr>
        <p:spPr>
          <a:xfrm>
            <a:off x="8046720" y="1417320"/>
            <a:ext cx="3474720" cy="4434840"/>
          </a:xfrm>
          <a:prstGeom prst="rect">
            <a:avLst/>
          </a:prstGeom>
          <a:solidFill>
            <a:srgbClr val="2C3338"/>
          </a:solidFill>
          <a:ln w="12700">
            <a:solidFill>
              <a:srgbClr val="D0D5DB"/>
            </a:solidFill>
            <a:prstDash val="solid"/>
          </a:ln>
        </p:spPr>
      </p:sp>
      <p:sp>
        <p:nvSpPr>
          <p:cNvPr id="14" name="Text 12"/>
          <p:cNvSpPr/>
          <p:nvPr/>
        </p:nvSpPr>
        <p:spPr>
          <a:xfrm>
            <a:off x="8321040" y="1737360"/>
            <a:ext cx="3017520" cy="41148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Shared ground</a:t>
            </a:r>
            <a:endParaRPr lang="en-US" sz="1700" dirty="0"/>
          </a:p>
        </p:txBody>
      </p:sp>
      <p:sp>
        <p:nvSpPr>
          <p:cNvPr id="15" name="Text 13"/>
          <p:cNvSpPr/>
          <p:nvPr/>
        </p:nvSpPr>
        <p:spPr>
          <a:xfrm>
            <a:off x="8321040" y="2377440"/>
            <a:ext cx="3017520" cy="2926080"/>
          </a:xfrm>
          <a:prstGeom prst="rect">
            <a:avLst/>
          </a:prstGeom>
          <a:noFill/>
          <a:ln/>
        </p:spPr>
        <p:txBody>
          <a:bodyPr wrap="square" lIns="0" tIns="0" rIns="0" bIns="0" rtlCol="0" anchor="ctr"/>
          <a:lstStyle/>
          <a:p>
            <a:pPr marL="0" indent="0">
              <a:buNone/>
            </a:pPr>
            <a:r>
              <a:rPr lang="en-US" sz="1500" dirty="0">
                <a:solidFill>
                  <a:srgbClr val="C5CCD3"/>
                </a:solidFill>
                <a:latin typeface="Calibri" pitchFamily="34" charset="0"/>
                <a:ea typeface="Calibri" pitchFamily="34" charset="-122"/>
                <a:cs typeface="Calibri" pitchFamily="34" charset="-120"/>
              </a:rPr>
              <a:t>Same ATR spatial-attention data</a:t>
            </a:r>
            <a:endParaRPr lang="en-US" sz="1500" dirty="0"/>
          </a:p>
          <a:p>
            <a:pPr marL="0" indent="0">
              <a:buNone/>
            </a:pPr>
            <a:endParaRPr lang="en-US" sz="1500" dirty="0"/>
          </a:p>
          <a:p>
            <a:pPr marL="0" indent="0">
              <a:buNone/>
            </a:pPr>
            <a:r>
              <a:rPr lang="en-US" sz="1500" dirty="0">
                <a:solidFill>
                  <a:srgbClr val="C5CCD3"/>
                </a:solidFill>
                <a:latin typeface="Calibri" pitchFamily="34" charset="0"/>
                <a:ea typeface="Calibri" pitchFamily="34" charset="-122"/>
                <a:cs typeface="Calibri" pitchFamily="34" charset="-120"/>
              </a:rPr>
              <a:t>Same 43 subjects</a:t>
            </a:r>
            <a:endParaRPr lang="en-US" sz="1500" dirty="0"/>
          </a:p>
          <a:p>
            <a:pPr marL="0" indent="0">
              <a:buNone/>
            </a:pPr>
            <a:endParaRPr lang="en-US" sz="1500" dirty="0"/>
          </a:p>
          <a:p>
            <a:pPr marL="0" indent="0">
              <a:buNone/>
            </a:pPr>
            <a:r>
              <a:rPr lang="en-US" sz="1500" dirty="0">
                <a:solidFill>
                  <a:srgbClr val="C5CCD3"/>
                </a:solidFill>
                <a:latin typeface="Calibri" pitchFamily="34" charset="0"/>
                <a:ea typeface="Calibri" pitchFamily="34" charset="-122"/>
                <a:cs typeface="Calibri" pitchFamily="34" charset="-120"/>
              </a:rPr>
              <a:t>Aligned preprocessing</a:t>
            </a:r>
            <a:endParaRPr lang="en-US" sz="1500" dirty="0"/>
          </a:p>
          <a:p>
            <a:pPr marL="0" indent="0">
              <a:buNone/>
            </a:pPr>
            <a:endParaRPr lang="en-US" sz="1500" dirty="0"/>
          </a:p>
          <a:p>
            <a:pPr marL="0" indent="0">
              <a:buNone/>
            </a:pPr>
            <a:r>
              <a:rPr lang="en-US" sz="1500" dirty="0">
                <a:solidFill>
                  <a:srgbClr val="C5CCD3"/>
                </a:solidFill>
                <a:latin typeface="Calibri" pitchFamily="34" charset="0"/>
                <a:ea typeface="Calibri" pitchFamily="34" charset="-122"/>
                <a:cs typeface="Calibri" pitchFamily="34" charset="-120"/>
              </a:rPr>
              <a:t>Comparable protocols</a:t>
            </a:r>
            <a:endParaRPr lang="en-US" sz="1500" dirty="0"/>
          </a:p>
        </p:txBody>
      </p:sp>
      <p:sp>
        <p:nvSpPr>
          <p:cNvPr id="17" name="Shape 14"/>
          <p:cNvSpPr/>
          <p:nvPr/>
        </p:nvSpPr>
        <p:spPr>
          <a:xfrm>
            <a:off x="640080" y="6400800"/>
            <a:ext cx="10881360" cy="0"/>
          </a:xfrm>
          <a:prstGeom prst="line">
            <a:avLst/>
          </a:prstGeom>
          <a:noFill/>
          <a:ln w="9525">
            <a:solidFill>
              <a:srgbClr val="D0D5DB"/>
            </a:solidFill>
            <a:prstDash val="solid"/>
          </a:ln>
        </p:spPr>
      </p:sp>
      <p:sp>
        <p:nvSpPr>
          <p:cNvPr id="18" name="Text 15"/>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19" name="Text 16"/>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Dataset and task</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3611880" cy="2011680"/>
          </a:xfrm>
          <a:prstGeom prst="rect">
            <a:avLst/>
          </a:prstGeom>
          <a:solidFill>
            <a:srgbClr val="FFFFFF"/>
          </a:solidFill>
          <a:ln w="12700">
            <a:solidFill>
              <a:srgbClr val="D0D5DB"/>
            </a:solidFill>
            <a:prstDash val="solid"/>
          </a:ln>
        </p:spPr>
      </p:sp>
      <p:sp>
        <p:nvSpPr>
          <p:cNvPr id="6" name="Text 4"/>
          <p:cNvSpPr/>
          <p:nvPr/>
        </p:nvSpPr>
        <p:spPr>
          <a:xfrm>
            <a:off x="914400" y="182880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TASK</a:t>
            </a:r>
            <a:endParaRPr lang="en-US" sz="1200" dirty="0"/>
          </a:p>
        </p:txBody>
      </p:sp>
      <p:sp>
        <p:nvSpPr>
          <p:cNvPr id="7" name="Text 5"/>
          <p:cNvSpPr/>
          <p:nvPr/>
        </p:nvSpPr>
        <p:spPr>
          <a:xfrm>
            <a:off x="914400" y="233172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Covert left vs right spatial attention</a:t>
            </a:r>
            <a:endParaRPr lang="en-US" sz="1700" dirty="0"/>
          </a:p>
        </p:txBody>
      </p:sp>
      <p:sp>
        <p:nvSpPr>
          <p:cNvPr id="8" name="Shape 6"/>
          <p:cNvSpPr/>
          <p:nvPr/>
        </p:nvSpPr>
        <p:spPr>
          <a:xfrm>
            <a:off x="4434840" y="1417320"/>
            <a:ext cx="3611880" cy="2011680"/>
          </a:xfrm>
          <a:prstGeom prst="rect">
            <a:avLst/>
          </a:prstGeom>
          <a:solidFill>
            <a:srgbClr val="FFFFFF"/>
          </a:solidFill>
          <a:ln w="12700">
            <a:solidFill>
              <a:srgbClr val="D0D5DB"/>
            </a:solidFill>
            <a:prstDash val="solid"/>
          </a:ln>
        </p:spPr>
      </p:sp>
      <p:sp>
        <p:nvSpPr>
          <p:cNvPr id="9" name="Text 7"/>
          <p:cNvSpPr/>
          <p:nvPr/>
        </p:nvSpPr>
        <p:spPr>
          <a:xfrm>
            <a:off x="4709160" y="182880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CHANCE LEVEL</a:t>
            </a:r>
            <a:endParaRPr lang="en-US" sz="1200" dirty="0"/>
          </a:p>
        </p:txBody>
      </p:sp>
      <p:sp>
        <p:nvSpPr>
          <p:cNvPr id="10" name="Text 8"/>
          <p:cNvSpPr/>
          <p:nvPr/>
        </p:nvSpPr>
        <p:spPr>
          <a:xfrm>
            <a:off x="4709160" y="233172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50% (binary classification)</a:t>
            </a:r>
            <a:endParaRPr lang="en-US" sz="1700" dirty="0"/>
          </a:p>
        </p:txBody>
      </p:sp>
      <p:sp>
        <p:nvSpPr>
          <p:cNvPr id="11" name="Shape 9"/>
          <p:cNvSpPr/>
          <p:nvPr/>
        </p:nvSpPr>
        <p:spPr>
          <a:xfrm>
            <a:off x="8229600" y="1417320"/>
            <a:ext cx="3611880" cy="2011680"/>
          </a:xfrm>
          <a:prstGeom prst="rect">
            <a:avLst/>
          </a:prstGeom>
          <a:solidFill>
            <a:srgbClr val="FFFFFF"/>
          </a:solidFill>
          <a:ln w="12700">
            <a:solidFill>
              <a:srgbClr val="D0D5DB"/>
            </a:solidFill>
            <a:prstDash val="solid"/>
          </a:ln>
        </p:spPr>
      </p:sp>
      <p:sp>
        <p:nvSpPr>
          <p:cNvPr id="12" name="Text 10"/>
          <p:cNvSpPr/>
          <p:nvPr/>
        </p:nvSpPr>
        <p:spPr>
          <a:xfrm>
            <a:off x="8503920" y="182880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SUBJECTS</a:t>
            </a:r>
            <a:endParaRPr lang="en-US" sz="1200" dirty="0"/>
          </a:p>
        </p:txBody>
      </p:sp>
      <p:sp>
        <p:nvSpPr>
          <p:cNvPr id="13" name="Text 11"/>
          <p:cNvSpPr/>
          <p:nvPr/>
        </p:nvSpPr>
        <p:spPr>
          <a:xfrm>
            <a:off x="8503920" y="233172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43</a:t>
            </a:r>
            <a:endParaRPr lang="en-US" sz="1700" dirty="0"/>
          </a:p>
        </p:txBody>
      </p:sp>
      <p:sp>
        <p:nvSpPr>
          <p:cNvPr id="14" name="Shape 12"/>
          <p:cNvSpPr/>
          <p:nvPr/>
        </p:nvSpPr>
        <p:spPr>
          <a:xfrm>
            <a:off x="640080" y="3611880"/>
            <a:ext cx="3611880" cy="2011680"/>
          </a:xfrm>
          <a:prstGeom prst="rect">
            <a:avLst/>
          </a:prstGeom>
          <a:solidFill>
            <a:srgbClr val="FFFFFF"/>
          </a:solidFill>
          <a:ln w="12700">
            <a:solidFill>
              <a:srgbClr val="D0D5DB"/>
            </a:solidFill>
            <a:prstDash val="solid"/>
          </a:ln>
        </p:spPr>
      </p:sp>
      <p:sp>
        <p:nvSpPr>
          <p:cNvPr id="15" name="Text 13"/>
          <p:cNvSpPr/>
          <p:nvPr/>
        </p:nvSpPr>
        <p:spPr>
          <a:xfrm>
            <a:off x="914400" y="402336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ATTENTION EPOCH</a:t>
            </a:r>
            <a:endParaRPr lang="en-US" sz="1200" dirty="0"/>
          </a:p>
        </p:txBody>
      </p:sp>
      <p:sp>
        <p:nvSpPr>
          <p:cNvPr id="16" name="Text 14"/>
          <p:cNvSpPr/>
          <p:nvPr/>
        </p:nvSpPr>
        <p:spPr>
          <a:xfrm>
            <a:off x="914400" y="452628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8 s (lab paradigm) @ 256 Hz</a:t>
            </a:r>
            <a:endParaRPr lang="en-US" sz="1700" dirty="0"/>
          </a:p>
        </p:txBody>
      </p:sp>
      <p:sp>
        <p:nvSpPr>
          <p:cNvPr id="17" name="Shape 15"/>
          <p:cNvSpPr/>
          <p:nvPr/>
        </p:nvSpPr>
        <p:spPr>
          <a:xfrm>
            <a:off x="4434840" y="3611880"/>
            <a:ext cx="3611880" cy="2011680"/>
          </a:xfrm>
          <a:prstGeom prst="rect">
            <a:avLst/>
          </a:prstGeom>
          <a:solidFill>
            <a:srgbClr val="FFFFFF"/>
          </a:solidFill>
          <a:ln w="12700">
            <a:solidFill>
              <a:srgbClr val="D0D5DB"/>
            </a:solidFill>
            <a:prstDash val="solid"/>
          </a:ln>
        </p:spPr>
      </p:sp>
      <p:sp>
        <p:nvSpPr>
          <p:cNvPr id="18" name="Text 16"/>
          <p:cNvSpPr/>
          <p:nvPr/>
        </p:nvSpPr>
        <p:spPr>
          <a:xfrm>
            <a:off x="4709160" y="402336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CHANNELS</a:t>
            </a:r>
            <a:endParaRPr lang="en-US" sz="1200" dirty="0"/>
          </a:p>
        </p:txBody>
      </p:sp>
      <p:sp>
        <p:nvSpPr>
          <p:cNvPr id="19" name="Text 17"/>
          <p:cNvSpPr/>
          <p:nvPr/>
        </p:nvSpPr>
        <p:spPr>
          <a:xfrm>
            <a:off x="4709160" y="452628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68 EEG → 64 for ViT (EOG excluded)</a:t>
            </a:r>
            <a:endParaRPr lang="en-US" sz="1700" dirty="0"/>
          </a:p>
        </p:txBody>
      </p:sp>
      <p:sp>
        <p:nvSpPr>
          <p:cNvPr id="20" name="Shape 18"/>
          <p:cNvSpPr/>
          <p:nvPr/>
        </p:nvSpPr>
        <p:spPr>
          <a:xfrm>
            <a:off x="8229600" y="3611880"/>
            <a:ext cx="3611880" cy="2011680"/>
          </a:xfrm>
          <a:prstGeom prst="rect">
            <a:avLst/>
          </a:prstGeom>
          <a:solidFill>
            <a:srgbClr val="FFFFFF"/>
          </a:solidFill>
          <a:ln w="12700">
            <a:solidFill>
              <a:srgbClr val="D0D5DB"/>
            </a:solidFill>
            <a:prstDash val="solid"/>
          </a:ln>
        </p:spPr>
      </p:sp>
      <p:sp>
        <p:nvSpPr>
          <p:cNvPr id="21" name="Text 19"/>
          <p:cNvSpPr/>
          <p:nvPr/>
        </p:nvSpPr>
        <p:spPr>
          <a:xfrm>
            <a:off x="8503920" y="4023360"/>
            <a:ext cx="3063240" cy="320040"/>
          </a:xfrm>
          <a:prstGeom prst="rect">
            <a:avLst/>
          </a:prstGeom>
          <a:noFill/>
          <a:ln/>
        </p:spPr>
        <p:txBody>
          <a:bodyPr wrap="square" lIns="0" tIns="0" rIns="0" bIns="0" rtlCol="0" anchor="ctr"/>
          <a:lstStyle/>
          <a:p>
            <a:pPr marL="0" indent="0">
              <a:buNone/>
            </a:pPr>
            <a:r>
              <a:rPr lang="en-US" sz="1200" b="1" dirty="0">
                <a:solidFill>
                  <a:srgbClr val="1F3A5F"/>
                </a:solidFill>
                <a:latin typeface="Calibri" pitchFamily="34" charset="0"/>
                <a:ea typeface="Calibri" pitchFamily="34" charset="-122"/>
                <a:cs typeface="Calibri" pitchFamily="34" charset="-120"/>
              </a:rPr>
              <a:t>PARADIGM</a:t>
            </a:r>
            <a:endParaRPr lang="en-US" sz="1200" dirty="0"/>
          </a:p>
        </p:txBody>
      </p:sp>
      <p:sp>
        <p:nvSpPr>
          <p:cNvPr id="22" name="Text 20"/>
          <p:cNvSpPr/>
          <p:nvPr/>
        </p:nvSpPr>
        <p:spPr>
          <a:xfrm>
            <a:off x="8503920" y="4526280"/>
            <a:ext cx="3063240" cy="73152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Morioka et al., 2014</a:t>
            </a:r>
            <a:endParaRPr lang="en-US" sz="1700" dirty="0"/>
          </a:p>
        </p:txBody>
      </p:sp>
      <p:sp>
        <p:nvSpPr>
          <p:cNvPr id="24" name="Shape 21"/>
          <p:cNvSpPr/>
          <p:nvPr/>
        </p:nvSpPr>
        <p:spPr>
          <a:xfrm>
            <a:off x="640080" y="6400800"/>
            <a:ext cx="10881360" cy="0"/>
          </a:xfrm>
          <a:prstGeom prst="line">
            <a:avLst/>
          </a:prstGeom>
          <a:noFill/>
          <a:ln w="9525">
            <a:solidFill>
              <a:srgbClr val="D0D5DB"/>
            </a:solidFill>
            <a:prstDash val="solid"/>
          </a:ln>
        </p:spPr>
      </p:sp>
      <p:sp>
        <p:nvSpPr>
          <p:cNvPr id="25" name="Text 22"/>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6" name="Text 23"/>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METHOD</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Preprocessing and training protocol</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71600"/>
            <a:ext cx="5394960" cy="4572000"/>
          </a:xfrm>
          <a:prstGeom prst="rect">
            <a:avLst/>
          </a:prstGeom>
          <a:solidFill>
            <a:srgbClr val="FFFFFF"/>
          </a:solidFill>
          <a:ln w="12700">
            <a:solidFill>
              <a:srgbClr val="D0D5DB"/>
            </a:solidFill>
            <a:prstDash val="solid"/>
          </a:ln>
        </p:spPr>
      </p:sp>
      <p:sp>
        <p:nvSpPr>
          <p:cNvPr id="6" name="Shape 4"/>
          <p:cNvSpPr/>
          <p:nvPr/>
        </p:nvSpPr>
        <p:spPr>
          <a:xfrm>
            <a:off x="640080" y="1371600"/>
            <a:ext cx="5394960" cy="548640"/>
          </a:xfrm>
          <a:prstGeom prst="rect">
            <a:avLst/>
          </a:prstGeom>
          <a:solidFill>
            <a:srgbClr val="2C3338"/>
          </a:solidFill>
          <a:ln/>
        </p:spPr>
      </p:sp>
      <p:sp>
        <p:nvSpPr>
          <p:cNvPr id="7" name="Text 5"/>
          <p:cNvSpPr/>
          <p:nvPr/>
        </p:nvSpPr>
        <p:spPr>
          <a:xfrm>
            <a:off x="868680" y="1463040"/>
            <a:ext cx="493776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Preprocessing</a:t>
            </a:r>
            <a:endParaRPr lang="en-US" sz="1600" dirty="0"/>
          </a:p>
        </p:txBody>
      </p:sp>
      <p:sp>
        <p:nvSpPr>
          <p:cNvPr id="8" name="Text 6"/>
          <p:cNvSpPr/>
          <p:nvPr/>
        </p:nvSpPr>
        <p:spPr>
          <a:xfrm>
            <a:off x="868680" y="2194560"/>
            <a:ext cx="4937760" cy="34747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8-second attention windows, resampled to 256 Hz</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Average reference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Band-pass filtering and 60 Hz notch</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Baseline correction</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Full set: 43 subjects</a:t>
            </a:r>
            <a:endParaRPr lang="en-US" sz="1500" dirty="0"/>
          </a:p>
          <a:p>
            <a:pPr marL="0" indent="0">
              <a:spcAft>
                <a:spcPts val="800"/>
              </a:spcAft>
              <a:buNone/>
            </a:pPr>
            <a:endParaRPr lang="en-US" sz="1500" dirty="0"/>
          </a:p>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Validation with LDA baseline: 55.7%</a:t>
            </a:r>
            <a:endParaRPr lang="en-US" sz="1500" dirty="0"/>
          </a:p>
        </p:txBody>
      </p:sp>
      <p:sp>
        <p:nvSpPr>
          <p:cNvPr id="9" name="Shape 7"/>
          <p:cNvSpPr/>
          <p:nvPr/>
        </p:nvSpPr>
        <p:spPr>
          <a:xfrm>
            <a:off x="6263640" y="1371600"/>
            <a:ext cx="5257800" cy="4572000"/>
          </a:xfrm>
          <a:prstGeom prst="rect">
            <a:avLst/>
          </a:prstGeom>
          <a:solidFill>
            <a:srgbClr val="FFFFFF"/>
          </a:solidFill>
          <a:ln w="12700">
            <a:solidFill>
              <a:srgbClr val="D0D5DB"/>
            </a:solidFill>
            <a:prstDash val="solid"/>
          </a:ln>
        </p:spPr>
      </p:sp>
      <p:sp>
        <p:nvSpPr>
          <p:cNvPr id="10" name="Shape 8"/>
          <p:cNvSpPr/>
          <p:nvPr/>
        </p:nvSpPr>
        <p:spPr>
          <a:xfrm>
            <a:off x="6263640" y="1371600"/>
            <a:ext cx="5257800" cy="548640"/>
          </a:xfrm>
          <a:prstGeom prst="rect">
            <a:avLst/>
          </a:prstGeom>
          <a:solidFill>
            <a:srgbClr val="1F3A5F"/>
          </a:solidFill>
          <a:ln/>
        </p:spPr>
      </p:sp>
      <p:sp>
        <p:nvSpPr>
          <p:cNvPr id="11" name="Text 9"/>
          <p:cNvSpPr/>
          <p:nvPr/>
        </p:nvSpPr>
        <p:spPr>
          <a:xfrm>
            <a:off x="6492240" y="1463040"/>
            <a:ext cx="484632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Fine-tuning (ST-EEGFormer)</a:t>
            </a:r>
            <a:endParaRPr lang="en-US" sz="1600" dirty="0"/>
          </a:p>
        </p:txBody>
      </p:sp>
      <p:sp>
        <p:nvSpPr>
          <p:cNvPr id="12" name="Text 10"/>
          <p:cNvSpPr/>
          <p:nvPr/>
        </p:nvSpPr>
        <p:spPr>
          <a:xfrm>
            <a:off x="6492240" y="2194560"/>
            <a:ext cx="4846320" cy="3474720"/>
          </a:xfrm>
          <a:prstGeom prst="rect">
            <a:avLst/>
          </a:prstGeom>
          <a:noFill/>
          <a:ln/>
        </p:spPr>
        <p:txBody>
          <a:bodyPr wrap="square" lIns="0" tIns="0" rIns="0" bIns="0" rtlCol="0" anchor="ctr"/>
          <a:lstStyle/>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Pretrained ViT-large backbone</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layer_decay = 1.0 (full backbone adapts)</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mix_up = 0.0</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Learning rate 3×10⁻⁴ · warmup 5 epochs</a:t>
            </a:r>
            <a:endParaRPr lang="en-US" sz="1500" dirty="0"/>
          </a:p>
          <a:p>
            <a:pPr marL="342900" indent="-342900">
              <a:spcAft>
                <a:spcPts val="800"/>
              </a:spcAft>
              <a:buSzPct val="100000"/>
              <a:buChar char="•"/>
            </a:pPr>
            <a:r>
              <a:rPr lang="en-US" sz="1500" dirty="0">
                <a:solidFill>
                  <a:srgbClr val="1A1A1A"/>
                </a:solidFill>
                <a:latin typeface="Calibri" pitchFamily="34" charset="0"/>
                <a:ea typeface="Calibri" pitchFamily="34" charset="-122"/>
                <a:cs typeface="Calibri" pitchFamily="34" charset="-120"/>
              </a:rPr>
              <a:t>50 training epochs · batch size 4</a:t>
            </a:r>
            <a:endParaRPr lang="en-US" sz="1500" dirty="0"/>
          </a:p>
          <a:p>
            <a:pPr marL="0" indent="0">
              <a:spcAft>
                <a:spcPts val="800"/>
              </a:spcAft>
              <a:buNone/>
            </a:pPr>
            <a:endParaRPr lang="en-US" sz="1500" dirty="0"/>
          </a:p>
          <a:p>
            <a:pPr marL="0" indent="0">
              <a:spcAft>
                <a:spcPts val="800"/>
              </a:spcAft>
              <a:buNone/>
            </a:pPr>
            <a:r>
              <a:rPr lang="en-US" sz="1500" b="1" dirty="0">
                <a:solidFill>
                  <a:srgbClr val="1A1A1A"/>
                </a:solidFill>
                <a:latin typeface="Calibri" pitchFamily="34" charset="0"/>
                <a:ea typeface="Calibri" pitchFamily="34" charset="-122"/>
                <a:cs typeface="Calibri" pitchFamily="34" charset="-120"/>
              </a:rPr>
              <a:t>Same recipe used for population and LOSO</a:t>
            </a:r>
            <a:endParaRPr lang="en-US" sz="1500" dirty="0"/>
          </a:p>
        </p:txBody>
      </p:sp>
      <p:sp>
        <p:nvSpPr>
          <p:cNvPr id="14" name="Shape 11"/>
          <p:cNvSpPr/>
          <p:nvPr/>
        </p:nvSpPr>
        <p:spPr>
          <a:xfrm>
            <a:off x="640080" y="6400800"/>
            <a:ext cx="10881360" cy="0"/>
          </a:xfrm>
          <a:prstGeom prst="line">
            <a:avLst/>
          </a:prstGeom>
          <a:noFill/>
          <a:ln w="9525">
            <a:solidFill>
              <a:srgbClr val="D0D5DB"/>
            </a:solidFill>
            <a:prstDash val="solid"/>
          </a:ln>
        </p:spPr>
      </p:sp>
      <p:sp>
        <p:nvSpPr>
          <p:cNvPr id="15" name="Text 12"/>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16" name="Text 13"/>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RESULTS</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Population result — 43 subjects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1097280" y="4478154"/>
            <a:ext cx="10058400" cy="0"/>
          </a:xfrm>
          <a:prstGeom prst="line">
            <a:avLst/>
          </a:prstGeom>
          <a:noFill/>
          <a:ln w="12700">
            <a:solidFill>
              <a:srgbClr val="B0B8C1"/>
            </a:solidFill>
            <a:prstDash val="dash"/>
          </a:ln>
        </p:spPr>
      </p:sp>
      <p:sp>
        <p:nvSpPr>
          <p:cNvPr id="6" name="Text 4"/>
          <p:cNvSpPr/>
          <p:nvPr/>
        </p:nvSpPr>
        <p:spPr>
          <a:xfrm>
            <a:off x="1143000" y="4203834"/>
            <a:ext cx="1371600" cy="228600"/>
          </a:xfrm>
          <a:prstGeom prst="rect">
            <a:avLst/>
          </a:prstGeom>
          <a:noFill/>
          <a:ln/>
        </p:spPr>
        <p:txBody>
          <a:bodyPr wrap="square" lIns="0" tIns="0" rIns="0" bIns="0" rtlCol="0" anchor="ctr"/>
          <a:lstStyle/>
          <a:p>
            <a:pPr marL="0" indent="0">
              <a:buNone/>
            </a:pPr>
            <a:r>
              <a:rPr lang="en-US" sz="1000" dirty="0">
                <a:solidFill>
                  <a:srgbClr val="5C6570"/>
                </a:solidFill>
                <a:latin typeface="Calibri" pitchFamily="34" charset="0"/>
                <a:ea typeface="Calibri" pitchFamily="34" charset="-122"/>
                <a:cs typeface="Calibri" pitchFamily="34" charset="-120"/>
              </a:rPr>
              <a:t>chance 50%</a:t>
            </a:r>
            <a:endParaRPr lang="en-US" sz="1000" dirty="0"/>
          </a:p>
        </p:txBody>
      </p:sp>
      <p:sp>
        <p:nvSpPr>
          <p:cNvPr id="7" name="Shape 5"/>
          <p:cNvSpPr/>
          <p:nvPr/>
        </p:nvSpPr>
        <p:spPr>
          <a:xfrm>
            <a:off x="1463040" y="4478154"/>
            <a:ext cx="1554480" cy="962526"/>
          </a:xfrm>
          <a:prstGeom prst="rect">
            <a:avLst/>
          </a:prstGeom>
          <a:solidFill>
            <a:srgbClr val="9CA3AF"/>
          </a:solidFill>
          <a:ln/>
        </p:spPr>
      </p:sp>
      <p:sp>
        <p:nvSpPr>
          <p:cNvPr id="8" name="Text 6"/>
          <p:cNvSpPr/>
          <p:nvPr/>
        </p:nvSpPr>
        <p:spPr>
          <a:xfrm>
            <a:off x="1280160" y="4094106"/>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50.0%</a:t>
            </a:r>
            <a:endParaRPr lang="en-US" sz="1600" dirty="0"/>
          </a:p>
        </p:txBody>
      </p:sp>
      <p:sp>
        <p:nvSpPr>
          <p:cNvPr id="9" name="Text 7"/>
          <p:cNvSpPr/>
          <p:nvPr/>
        </p:nvSpPr>
        <p:spPr>
          <a:xfrm>
            <a:off x="1234440" y="5532120"/>
            <a:ext cx="2011680" cy="365760"/>
          </a:xfrm>
          <a:prstGeom prst="rect">
            <a:avLst/>
          </a:prstGeom>
          <a:noFill/>
          <a:ln/>
        </p:spPr>
        <p:txBody>
          <a:bodyPr wrap="square" lIns="0" tIns="0" rIns="0" bIns="0" rtlCol="0" anchor="ctr"/>
          <a:lstStyle/>
          <a:p>
            <a:pPr marL="0" indent="0" algn="ctr">
              <a:buNone/>
            </a:pPr>
            <a:r>
              <a:rPr lang="en-US" sz="1200" dirty="0">
                <a:solidFill>
                  <a:srgbClr val="5C6570"/>
                </a:solidFill>
                <a:latin typeface="Calibri" pitchFamily="34" charset="0"/>
                <a:ea typeface="Calibri" pitchFamily="34" charset="-122"/>
                <a:cs typeface="Calibri" pitchFamily="34" charset="-120"/>
              </a:rPr>
              <a:t>Chance</a:t>
            </a:r>
            <a:endParaRPr lang="en-US" sz="1200" dirty="0"/>
          </a:p>
        </p:txBody>
      </p:sp>
      <p:sp>
        <p:nvSpPr>
          <p:cNvPr id="10" name="Shape 8"/>
          <p:cNvSpPr/>
          <p:nvPr/>
        </p:nvSpPr>
        <p:spPr>
          <a:xfrm>
            <a:off x="4069080" y="3380874"/>
            <a:ext cx="1554480" cy="2059806"/>
          </a:xfrm>
          <a:prstGeom prst="rect">
            <a:avLst/>
          </a:prstGeom>
          <a:solidFill>
            <a:srgbClr val="6B7280"/>
          </a:solidFill>
          <a:ln/>
        </p:spPr>
      </p:sp>
      <p:sp>
        <p:nvSpPr>
          <p:cNvPr id="11" name="Text 9"/>
          <p:cNvSpPr/>
          <p:nvPr/>
        </p:nvSpPr>
        <p:spPr>
          <a:xfrm>
            <a:off x="3886200" y="2996826"/>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55.7%</a:t>
            </a:r>
            <a:endParaRPr lang="en-US" sz="1600" dirty="0"/>
          </a:p>
        </p:txBody>
      </p:sp>
      <p:sp>
        <p:nvSpPr>
          <p:cNvPr id="12" name="Text 10"/>
          <p:cNvSpPr/>
          <p:nvPr/>
        </p:nvSpPr>
        <p:spPr>
          <a:xfrm>
            <a:off x="3840480" y="5532120"/>
            <a:ext cx="2011680" cy="365760"/>
          </a:xfrm>
          <a:prstGeom prst="rect">
            <a:avLst/>
          </a:prstGeom>
          <a:noFill/>
          <a:ln/>
        </p:spPr>
        <p:txBody>
          <a:bodyPr wrap="square" lIns="0" tIns="0" rIns="0" bIns="0" rtlCol="0" anchor="ctr"/>
          <a:lstStyle/>
          <a:p>
            <a:pPr marL="0" indent="0" algn="ctr">
              <a:buNone/>
            </a:pPr>
            <a:r>
              <a:rPr lang="en-US" sz="1200" dirty="0">
                <a:solidFill>
                  <a:srgbClr val="5C6570"/>
                </a:solidFill>
                <a:latin typeface="Calibri" pitchFamily="34" charset="0"/>
                <a:ea typeface="Calibri" pitchFamily="34" charset="-122"/>
                <a:cs typeface="Calibri" pitchFamily="34" charset="-120"/>
              </a:rPr>
              <a:t>LDA</a:t>
            </a:r>
            <a:endParaRPr lang="en-US" sz="1200" dirty="0"/>
          </a:p>
        </p:txBody>
      </p:sp>
      <p:sp>
        <p:nvSpPr>
          <p:cNvPr id="13" name="Shape 11"/>
          <p:cNvSpPr/>
          <p:nvPr/>
        </p:nvSpPr>
        <p:spPr>
          <a:xfrm>
            <a:off x="6675120" y="2225842"/>
            <a:ext cx="1554480" cy="3214838"/>
          </a:xfrm>
          <a:prstGeom prst="rect">
            <a:avLst/>
          </a:prstGeom>
          <a:solidFill>
            <a:srgbClr val="1F3A5F"/>
          </a:solidFill>
          <a:ln/>
        </p:spPr>
      </p:sp>
      <p:sp>
        <p:nvSpPr>
          <p:cNvPr id="14" name="Text 12"/>
          <p:cNvSpPr/>
          <p:nvPr/>
        </p:nvSpPr>
        <p:spPr>
          <a:xfrm>
            <a:off x="6492240" y="1841794"/>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61.7%</a:t>
            </a:r>
            <a:endParaRPr lang="en-US" sz="1600" dirty="0"/>
          </a:p>
        </p:txBody>
      </p:sp>
      <p:sp>
        <p:nvSpPr>
          <p:cNvPr id="15" name="Text 13"/>
          <p:cNvSpPr/>
          <p:nvPr/>
        </p:nvSpPr>
        <p:spPr>
          <a:xfrm>
            <a:off x="6446520" y="5532120"/>
            <a:ext cx="2011680" cy="365760"/>
          </a:xfrm>
          <a:prstGeom prst="rect">
            <a:avLst/>
          </a:prstGeom>
          <a:noFill/>
          <a:ln/>
        </p:spPr>
        <p:txBody>
          <a:bodyPr wrap="square" lIns="0" tIns="0" rIns="0" bIns="0" rtlCol="0" anchor="ctr"/>
          <a:lstStyle/>
          <a:p>
            <a:pPr marL="0" indent="0" algn="ctr">
              <a:buNone/>
            </a:pPr>
            <a:r>
              <a:rPr lang="en-US" sz="1200" b="1" dirty="0">
                <a:solidFill>
                  <a:srgbClr val="1F3A5F"/>
                </a:solidFill>
                <a:latin typeface="Calibri" pitchFamily="34" charset="0"/>
                <a:ea typeface="Calibri" pitchFamily="34" charset="-122"/>
                <a:cs typeface="Calibri" pitchFamily="34" charset="-120"/>
              </a:rPr>
              <a:t>ST-EEGFormer</a:t>
            </a:r>
            <a:endParaRPr lang="en-US" sz="1200" dirty="0"/>
          </a:p>
        </p:txBody>
      </p:sp>
      <p:sp>
        <p:nvSpPr>
          <p:cNvPr id="16" name="Shape 14"/>
          <p:cNvSpPr/>
          <p:nvPr/>
        </p:nvSpPr>
        <p:spPr>
          <a:xfrm>
            <a:off x="9281160" y="2168091"/>
            <a:ext cx="1554480" cy="3272589"/>
          </a:xfrm>
          <a:prstGeom prst="rect">
            <a:avLst/>
          </a:prstGeom>
          <a:solidFill>
            <a:srgbClr val="4B5563"/>
          </a:solidFill>
          <a:ln/>
        </p:spPr>
      </p:sp>
      <p:sp>
        <p:nvSpPr>
          <p:cNvPr id="17" name="Text 15"/>
          <p:cNvSpPr/>
          <p:nvPr/>
        </p:nvSpPr>
        <p:spPr>
          <a:xfrm>
            <a:off x="9098280" y="1784043"/>
            <a:ext cx="1920240" cy="320040"/>
          </a:xfrm>
          <a:prstGeom prst="rect">
            <a:avLst/>
          </a:prstGeom>
          <a:noFill/>
          <a:ln/>
        </p:spPr>
        <p:txBody>
          <a:bodyPr wrap="square" lIns="0" tIns="0" rIns="0" bIns="0" rtlCol="0" anchor="ctr"/>
          <a:lstStyle/>
          <a:p>
            <a:pPr marL="0" indent="0" algn="ctr">
              <a:buNone/>
            </a:pPr>
            <a:r>
              <a:rPr lang="en-US" sz="1600" b="1" dirty="0">
                <a:solidFill>
                  <a:srgbClr val="1A1A1A"/>
                </a:solidFill>
                <a:latin typeface="Georgia" pitchFamily="34" charset="0"/>
                <a:ea typeface="Georgia" pitchFamily="34" charset="-122"/>
                <a:cs typeface="Georgia" pitchFamily="34" charset="-120"/>
              </a:rPr>
              <a:t>62.0%</a:t>
            </a:r>
            <a:endParaRPr lang="en-US" sz="1600" dirty="0"/>
          </a:p>
        </p:txBody>
      </p:sp>
      <p:sp>
        <p:nvSpPr>
          <p:cNvPr id="18" name="Text 16"/>
          <p:cNvSpPr/>
          <p:nvPr/>
        </p:nvSpPr>
        <p:spPr>
          <a:xfrm>
            <a:off x="9052560" y="5532120"/>
            <a:ext cx="2011680" cy="365760"/>
          </a:xfrm>
          <a:prstGeom prst="rect">
            <a:avLst/>
          </a:prstGeom>
          <a:noFill/>
          <a:ln/>
        </p:spPr>
        <p:txBody>
          <a:bodyPr wrap="square" lIns="0" tIns="0" rIns="0" bIns="0" rtlCol="0" anchor="ctr"/>
          <a:lstStyle/>
          <a:p>
            <a:pPr marL="0" indent="0" algn="ctr">
              <a:buNone/>
            </a:pPr>
            <a:r>
              <a:rPr lang="en-US" sz="1200" dirty="0">
                <a:solidFill>
                  <a:srgbClr val="5C6570"/>
                </a:solidFill>
                <a:latin typeface="Calibri" pitchFamily="34" charset="0"/>
                <a:ea typeface="Calibri" pitchFamily="34" charset="-122"/>
                <a:cs typeface="Calibri" pitchFamily="34" charset="-120"/>
              </a:rPr>
              <a:t>LaBraM (Liz)</a:t>
            </a:r>
            <a:endParaRPr lang="en-US" sz="1200" dirty="0"/>
          </a:p>
        </p:txBody>
      </p:sp>
      <p:sp>
        <p:nvSpPr>
          <p:cNvPr id="19" name="Shape 17"/>
          <p:cNvSpPr/>
          <p:nvPr/>
        </p:nvSpPr>
        <p:spPr>
          <a:xfrm>
            <a:off x="1097280" y="5440680"/>
            <a:ext cx="10058400" cy="0"/>
          </a:xfrm>
          <a:prstGeom prst="line">
            <a:avLst/>
          </a:prstGeom>
          <a:noFill/>
          <a:ln w="15875">
            <a:solidFill>
              <a:srgbClr val="D0D5DB"/>
            </a:solidFill>
            <a:prstDash val="solid"/>
          </a:ln>
        </p:spPr>
      </p:sp>
      <p:sp>
        <p:nvSpPr>
          <p:cNvPr id="20" name="Text 18"/>
          <p:cNvSpPr/>
          <p:nvPr/>
        </p:nvSpPr>
        <p:spPr>
          <a:xfrm>
            <a:off x="640080" y="5989320"/>
            <a:ext cx="10881360" cy="274320"/>
          </a:xfrm>
          <a:prstGeom prst="rect">
            <a:avLst/>
          </a:prstGeom>
          <a:noFill/>
          <a:ln/>
        </p:spPr>
        <p:txBody>
          <a:bodyPr wrap="square" lIns="0" tIns="0" rIns="0" bIns="0" rtlCol="0" anchor="ctr"/>
          <a:lstStyle/>
          <a:p>
            <a:pPr marL="0" indent="0" algn="ctr">
              <a:buNone/>
            </a:pPr>
            <a:r>
              <a:rPr lang="en-US" sz="1300" dirty="0">
                <a:solidFill>
                  <a:srgbClr val="1A1A1A"/>
                </a:solidFill>
                <a:latin typeface="Calibri" pitchFamily="34" charset="0"/>
                <a:ea typeface="Calibri" pitchFamily="34" charset="-122"/>
                <a:cs typeface="Calibri" pitchFamily="34" charset="-120"/>
              </a:rPr>
              <a:t>ST-EEGFormer = 61.66% ≈ 61.7%   ·   comparable to LaBraM (~62%)   ·   above LDA (55.7%) and chance (50%)</a:t>
            </a:r>
            <a:endParaRPr lang="en-US" sz="1300" dirty="0"/>
          </a:p>
        </p:txBody>
      </p:sp>
      <p:sp>
        <p:nvSpPr>
          <p:cNvPr id="22" name="Shape 19"/>
          <p:cNvSpPr/>
          <p:nvPr/>
        </p:nvSpPr>
        <p:spPr>
          <a:xfrm>
            <a:off x="640080" y="6400800"/>
            <a:ext cx="10881360" cy="0"/>
          </a:xfrm>
          <a:prstGeom prst="line">
            <a:avLst/>
          </a:prstGeom>
          <a:noFill/>
          <a:ln w="9525">
            <a:solidFill>
              <a:srgbClr val="D0D5DB"/>
            </a:solidFill>
            <a:prstDash val="solid"/>
          </a:ln>
        </p:spPr>
      </p:sp>
      <p:sp>
        <p:nvSpPr>
          <p:cNvPr id="23" name="Text 20"/>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4" name="Text 21"/>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IN PROGRESS</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Next protocol: leave-one-subject-out (LOSO)</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371600"/>
            <a:ext cx="6858000" cy="4572000"/>
          </a:xfrm>
          <a:prstGeom prst="rect">
            <a:avLst/>
          </a:prstGeom>
          <a:solidFill>
            <a:srgbClr val="FFFFFF"/>
          </a:solidFill>
          <a:ln w="12700">
            <a:solidFill>
              <a:srgbClr val="D0D5DB"/>
            </a:solidFill>
            <a:prstDash val="solid"/>
          </a:ln>
        </p:spPr>
      </p:sp>
      <p:sp>
        <p:nvSpPr>
          <p:cNvPr id="6" name="Text 4"/>
          <p:cNvSpPr/>
          <p:nvPr/>
        </p:nvSpPr>
        <p:spPr>
          <a:xfrm>
            <a:off x="914400" y="1600200"/>
            <a:ext cx="6400800" cy="365760"/>
          </a:xfrm>
          <a:prstGeom prst="rect">
            <a:avLst/>
          </a:prstGeom>
          <a:noFill/>
          <a:ln/>
        </p:spPr>
        <p:txBody>
          <a:bodyPr wrap="square" lIns="0" tIns="0" rIns="0" bIns="0" rtlCol="0" anchor="ctr"/>
          <a:lstStyle/>
          <a:p>
            <a:pPr marL="0" indent="0">
              <a:buNone/>
            </a:pPr>
            <a:r>
              <a:rPr lang="en-US" sz="1700" b="1" dirty="0">
                <a:solidFill>
                  <a:srgbClr val="1A1A1A"/>
                </a:solidFill>
                <a:latin typeface="Georgia" pitchFamily="34" charset="0"/>
                <a:ea typeface="Georgia" pitchFamily="34" charset="-122"/>
                <a:cs typeface="Georgia" pitchFamily="34" charset="-120"/>
              </a:rPr>
              <a:t>What LOSO evaluates</a:t>
            </a:r>
            <a:endParaRPr lang="en-US" sz="1700" dirty="0"/>
          </a:p>
        </p:txBody>
      </p:sp>
      <p:sp>
        <p:nvSpPr>
          <p:cNvPr id="7" name="Text 5"/>
          <p:cNvSpPr/>
          <p:nvPr/>
        </p:nvSpPr>
        <p:spPr>
          <a:xfrm>
            <a:off x="914400" y="2103120"/>
            <a:ext cx="6309360" cy="3566160"/>
          </a:xfrm>
          <a:prstGeom prst="rect">
            <a:avLst/>
          </a:prstGeom>
          <a:noFill/>
          <a:ln/>
        </p:spPr>
        <p:txBody>
          <a:bodyPr wrap="square" lIns="0" tIns="0" rIns="0" bIns="0" rtlCol="0" anchor="ctr"/>
          <a:lstStyle/>
          <a:p>
            <a:pPr marL="0" indent="0">
              <a:spcAft>
                <a:spcPts val="600"/>
              </a:spcAft>
              <a:buNone/>
            </a:pPr>
            <a:r>
              <a:rPr lang="en-US" sz="1500" b="1" dirty="0">
                <a:solidFill>
                  <a:srgbClr val="5C6570"/>
                </a:solidFill>
                <a:latin typeface="Calibri" pitchFamily="34" charset="0"/>
                <a:ea typeface="Calibri" pitchFamily="34" charset="-122"/>
                <a:cs typeface="Calibri" pitchFamily="34" charset="-120"/>
              </a:rPr>
              <a:t>For each of 43 subjects:</a:t>
            </a:r>
            <a:endParaRPr lang="en-US" sz="1500" dirty="0"/>
          </a:p>
          <a:p>
            <a:pPr marL="342900" indent="-342900">
              <a:spcAft>
                <a:spcPts val="600"/>
              </a:spcAft>
              <a:buSzPct val="100000"/>
              <a:buChar char="•"/>
            </a:pPr>
            <a:r>
              <a:rPr lang="en-US" sz="1500" dirty="0">
                <a:solidFill>
                  <a:srgbClr val="5C6570"/>
                </a:solidFill>
                <a:latin typeface="Calibri" pitchFamily="34" charset="0"/>
                <a:ea typeface="Calibri" pitchFamily="34" charset="-122"/>
                <a:cs typeface="Calibri" pitchFamily="34" charset="-120"/>
              </a:rPr>
              <a:t>Train on the other 42 subjects (50 epochs)</a:t>
            </a:r>
            <a:endParaRPr lang="en-US" sz="1500" dirty="0"/>
          </a:p>
          <a:p>
            <a:pPr marL="342900" indent="-342900">
              <a:spcAft>
                <a:spcPts val="600"/>
              </a:spcAft>
              <a:buSzPct val="100000"/>
              <a:buChar char="•"/>
            </a:pPr>
            <a:r>
              <a:rPr lang="en-US" sz="1500" dirty="0">
                <a:solidFill>
                  <a:srgbClr val="5C6570"/>
                </a:solidFill>
                <a:latin typeface="Calibri" pitchFamily="34" charset="0"/>
                <a:ea typeface="Calibri" pitchFamily="34" charset="-122"/>
                <a:cs typeface="Calibri" pitchFamily="34" charset="-120"/>
              </a:rPr>
              <a:t>Finetune on the held-out subject (30 epochs)</a:t>
            </a:r>
            <a:endParaRPr lang="en-US" sz="1500" dirty="0"/>
          </a:p>
          <a:p>
            <a:pPr marL="342900" indent="-342900">
              <a:spcAft>
                <a:spcPts val="600"/>
              </a:spcAft>
              <a:buSzPct val="100000"/>
              <a:buChar char="•"/>
            </a:pPr>
            <a:r>
              <a:rPr lang="en-US" sz="1500" dirty="0">
                <a:solidFill>
                  <a:srgbClr val="5C6570"/>
                </a:solidFill>
                <a:latin typeface="Calibri" pitchFamily="34" charset="0"/>
                <a:ea typeface="Calibri" pitchFamily="34" charset="-122"/>
                <a:cs typeface="Calibri" pitchFamily="34" charset="-120"/>
              </a:rPr>
              <a:t>Evaluate — stricter test of subject transfer</a:t>
            </a:r>
            <a:endParaRPr lang="en-US" sz="1500" dirty="0"/>
          </a:p>
          <a:p>
            <a:pPr marL="0" indent="0">
              <a:spcAft>
                <a:spcPts val="600"/>
              </a:spcAft>
              <a:buNone/>
            </a:pPr>
            <a:endParaRPr lang="en-US" sz="1500" dirty="0"/>
          </a:p>
          <a:p>
            <a:pPr marL="0" indent="0">
              <a:spcAft>
                <a:spcPts val="600"/>
              </a:spcAft>
              <a:buNone/>
            </a:pPr>
            <a:r>
              <a:rPr lang="en-US" sz="1500" dirty="0">
                <a:solidFill>
                  <a:srgbClr val="5C6570"/>
                </a:solidFill>
                <a:latin typeface="Calibri" pitchFamily="34" charset="0"/>
                <a:ea typeface="Calibri" pitchFamily="34" charset="-122"/>
                <a:cs typeface="Calibri" pitchFamily="34" charset="-120"/>
              </a:rPr>
              <a:t>Liz (LaBraM, full 43): 61.8 ± 12.4%</a:t>
            </a:r>
            <a:endParaRPr lang="en-US" sz="1500" dirty="0"/>
          </a:p>
          <a:p>
            <a:pPr marL="0" indent="0">
              <a:spcAft>
                <a:spcPts val="600"/>
              </a:spcAft>
              <a:buNone/>
            </a:pPr>
            <a:r>
              <a:rPr lang="en-US" sz="1500" dirty="0">
                <a:solidFill>
                  <a:srgbClr val="5C6570"/>
                </a:solidFill>
                <a:latin typeface="Calibri" pitchFamily="34" charset="0"/>
                <a:ea typeface="Calibri" pitchFamily="34" charset="-122"/>
                <a:cs typeface="Calibri" pitchFamily="34" charset="-120"/>
              </a:rPr>
              <a:t>ST-EEGFormer LOSO: running — full mean when 43/43 done</a:t>
            </a:r>
            <a:endParaRPr lang="en-US" sz="1500" dirty="0"/>
          </a:p>
        </p:txBody>
      </p:sp>
      <p:sp>
        <p:nvSpPr>
          <p:cNvPr id="8" name="Shape 6"/>
          <p:cNvSpPr/>
          <p:nvPr/>
        </p:nvSpPr>
        <p:spPr>
          <a:xfrm>
            <a:off x="7726680" y="1371600"/>
            <a:ext cx="3794760" cy="4572000"/>
          </a:xfrm>
          <a:prstGeom prst="rect">
            <a:avLst/>
          </a:prstGeom>
          <a:solidFill>
            <a:srgbClr val="2C3338"/>
          </a:solidFill>
          <a:ln w="12700">
            <a:solidFill>
              <a:srgbClr val="D0D5DB"/>
            </a:solidFill>
            <a:prstDash val="solid"/>
          </a:ln>
        </p:spPr>
      </p:sp>
      <p:sp>
        <p:nvSpPr>
          <p:cNvPr id="9" name="Text 7"/>
          <p:cNvSpPr/>
          <p:nvPr/>
        </p:nvSpPr>
        <p:spPr>
          <a:xfrm>
            <a:off x="8001000" y="1691640"/>
            <a:ext cx="3291840" cy="274320"/>
          </a:xfrm>
          <a:prstGeom prst="rect">
            <a:avLst/>
          </a:prstGeom>
          <a:noFill/>
          <a:ln/>
        </p:spPr>
        <p:txBody>
          <a:bodyPr wrap="square" lIns="0" tIns="0" rIns="0" bIns="0" rtlCol="0" anchor="ctr"/>
          <a:lstStyle/>
          <a:p>
            <a:pPr marL="0" indent="0">
              <a:buNone/>
            </a:pPr>
            <a:r>
              <a:rPr lang="en-US" sz="1200" b="1" dirty="0">
                <a:solidFill>
                  <a:srgbClr val="A8B0B8"/>
                </a:solidFill>
                <a:latin typeface="Calibri" pitchFamily="34" charset="0"/>
                <a:ea typeface="Calibri" pitchFamily="34" charset="-122"/>
                <a:cs typeface="Calibri" pitchFamily="34" charset="-120"/>
              </a:rPr>
              <a:t>STATUS</a:t>
            </a:r>
            <a:endParaRPr lang="en-US" sz="1200" dirty="0"/>
          </a:p>
        </p:txBody>
      </p:sp>
      <p:sp>
        <p:nvSpPr>
          <p:cNvPr id="10" name="Text 8"/>
          <p:cNvSpPr/>
          <p:nvPr/>
        </p:nvSpPr>
        <p:spPr>
          <a:xfrm>
            <a:off x="8001000" y="2103120"/>
            <a:ext cx="3291840" cy="45720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Running</a:t>
            </a:r>
            <a:endParaRPr lang="en-US" sz="2600" dirty="0"/>
          </a:p>
        </p:txBody>
      </p:sp>
      <p:sp>
        <p:nvSpPr>
          <p:cNvPr id="11" name="Text 9"/>
          <p:cNvSpPr/>
          <p:nvPr/>
        </p:nvSpPr>
        <p:spPr>
          <a:xfrm>
            <a:off x="8001000" y="2697480"/>
            <a:ext cx="3291840" cy="320040"/>
          </a:xfrm>
          <a:prstGeom prst="rect">
            <a:avLst/>
          </a:prstGeom>
          <a:noFill/>
          <a:ln/>
        </p:spPr>
        <p:txBody>
          <a:bodyPr wrap="square" lIns="0" tIns="0" rIns="0" bIns="0" rtlCol="0" anchor="ctr"/>
          <a:lstStyle/>
          <a:p>
            <a:pPr marL="0" indent="0">
              <a:buNone/>
            </a:pPr>
            <a:r>
              <a:rPr lang="en-US" sz="1500" dirty="0">
                <a:solidFill>
                  <a:srgbClr val="C5CCD3"/>
                </a:solidFill>
                <a:latin typeface="Calibri" pitchFamily="34" charset="0"/>
                <a:ea typeface="Calibri" pitchFamily="34" charset="-122"/>
                <a:cs typeface="Calibri" pitchFamily="34" charset="-120"/>
              </a:rPr>
              <a:t>No final mean yet</a:t>
            </a:r>
            <a:endParaRPr lang="en-US" sz="1500" dirty="0"/>
          </a:p>
        </p:txBody>
      </p:sp>
      <p:sp>
        <p:nvSpPr>
          <p:cNvPr id="12" name="Text 10"/>
          <p:cNvSpPr/>
          <p:nvPr/>
        </p:nvSpPr>
        <p:spPr>
          <a:xfrm>
            <a:off x="8001000" y="3246120"/>
            <a:ext cx="3291840" cy="2286000"/>
          </a:xfrm>
          <a:prstGeom prst="rect">
            <a:avLst/>
          </a:prstGeom>
          <a:noFill/>
          <a:ln/>
        </p:spPr>
        <p:txBody>
          <a:bodyPr wrap="square" lIns="0" tIns="0" rIns="0" bIns="0" rtlCol="0" anchor="ctr"/>
          <a:lstStyle/>
          <a:p>
            <a:pPr marL="0" indent="0">
              <a:spcAft>
                <a:spcPts val="800"/>
              </a:spcAft>
              <a:buNone/>
            </a:pPr>
            <a:r>
              <a:rPr lang="en-US" sz="1400" dirty="0">
                <a:solidFill>
                  <a:srgbClr val="B0B8C1"/>
                </a:solidFill>
                <a:latin typeface="Calibri" pitchFamily="34" charset="0"/>
                <a:ea typeface="Calibri" pitchFamily="34" charset="-122"/>
                <a:cs typeface="Calibri" pitchFamily="34" charset="-120"/>
              </a:rPr>
              <a:t>Same config as population</a:t>
            </a:r>
            <a:endParaRPr lang="en-US" sz="1400" dirty="0"/>
          </a:p>
          <a:p>
            <a:pPr marL="0" indent="0">
              <a:spcAft>
                <a:spcPts val="800"/>
              </a:spcAft>
              <a:buNone/>
            </a:pPr>
            <a:r>
              <a:rPr lang="en-US" sz="1400" dirty="0">
                <a:solidFill>
                  <a:srgbClr val="B0B8C1"/>
                </a:solidFill>
                <a:latin typeface="Calibri" pitchFamily="34" charset="0"/>
                <a:ea typeface="Calibri" pitchFamily="34" charset="-122"/>
                <a:cs typeface="Calibri" pitchFamily="34" charset="-120"/>
              </a:rPr>
              <a:t>43 folds (compute-heavy)</a:t>
            </a:r>
            <a:endParaRPr lang="en-US" sz="1400" dirty="0"/>
          </a:p>
        </p:txBody>
      </p:sp>
      <p:sp>
        <p:nvSpPr>
          <p:cNvPr id="14" name="Shape 11"/>
          <p:cNvSpPr/>
          <p:nvPr/>
        </p:nvSpPr>
        <p:spPr>
          <a:xfrm>
            <a:off x="640080" y="6400800"/>
            <a:ext cx="10881360" cy="0"/>
          </a:xfrm>
          <a:prstGeom prst="line">
            <a:avLst/>
          </a:prstGeom>
          <a:noFill/>
          <a:ln w="9525">
            <a:solidFill>
              <a:srgbClr val="D0D5DB"/>
            </a:solidFill>
            <a:prstDash val="solid"/>
          </a:ln>
        </p:spPr>
      </p:sp>
      <p:sp>
        <p:nvSpPr>
          <p:cNvPr id="15" name="Text 12"/>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16" name="Text 13"/>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56032"/>
          </a:xfrm>
          <a:prstGeom prst="rect">
            <a:avLst/>
          </a:prstGeom>
          <a:noFill/>
          <a:ln/>
        </p:spPr>
        <p:txBody>
          <a:bodyPr wrap="square" lIns="0" tIns="0" rIns="0" bIns="0" rtlCol="0" anchor="ctr"/>
          <a:lstStyle/>
          <a:p>
            <a:pPr marL="0" indent="0">
              <a:buNone/>
            </a:pPr>
            <a:r>
              <a:rPr lang="en-US" sz="1100" b="1" kern="0" spc="120" dirty="0">
                <a:solidFill>
                  <a:srgbClr val="1F3A5F"/>
                </a:solidFill>
                <a:latin typeface="Calibri" pitchFamily="34" charset="0"/>
                <a:ea typeface="Calibri" pitchFamily="34" charset="-122"/>
                <a:cs typeface="Calibri" pitchFamily="34" charset="-120"/>
              </a:rPr>
              <a:t>OUTLOOK</a:t>
            </a:r>
            <a:endParaRPr lang="en-US" sz="1100" dirty="0"/>
          </a:p>
        </p:txBody>
      </p:sp>
      <p:sp>
        <p:nvSpPr>
          <p:cNvPr id="3" name="Text 1"/>
          <p:cNvSpPr/>
          <p:nvPr/>
        </p:nvSpPr>
        <p:spPr>
          <a:xfrm>
            <a:off x="640080" y="640080"/>
            <a:ext cx="10972800" cy="457200"/>
          </a:xfrm>
          <a:prstGeom prst="rect">
            <a:avLst/>
          </a:prstGeom>
          <a:noFill/>
          <a:ln/>
        </p:spPr>
        <p:txBody>
          <a:bodyPr wrap="square" lIns="0" tIns="0" rIns="0" bIns="0" rtlCol="0" anchor="ctr"/>
          <a:lstStyle/>
          <a:p>
            <a:pPr marL="0" indent="0">
              <a:buNone/>
            </a:pPr>
            <a:r>
              <a:rPr lang="en-US" sz="2600" b="1" dirty="0">
                <a:solidFill>
                  <a:srgbClr val="1A1A1A"/>
                </a:solidFill>
                <a:latin typeface="Georgia" pitchFamily="34" charset="0"/>
                <a:ea typeface="Georgia" pitchFamily="34" charset="-122"/>
                <a:cs typeface="Georgia" pitchFamily="34" charset="-120"/>
              </a:rPr>
              <a:t>Next steps</a:t>
            </a:r>
            <a:endParaRPr lang="en-US" sz="2600" dirty="0"/>
          </a:p>
        </p:txBody>
      </p:sp>
      <p:sp>
        <p:nvSpPr>
          <p:cNvPr id="4" name="Shape 2"/>
          <p:cNvSpPr/>
          <p:nvPr/>
        </p:nvSpPr>
        <p:spPr>
          <a:xfrm>
            <a:off x="640080" y="1188720"/>
            <a:ext cx="10881360" cy="0"/>
          </a:xfrm>
          <a:prstGeom prst="line">
            <a:avLst/>
          </a:prstGeom>
          <a:noFill/>
          <a:ln w="12700">
            <a:solidFill>
              <a:srgbClr val="D0D5DB"/>
            </a:solidFill>
            <a:prstDash val="solid"/>
          </a:ln>
        </p:spPr>
      </p:sp>
      <p:sp>
        <p:nvSpPr>
          <p:cNvPr id="5" name="Shape 3"/>
          <p:cNvSpPr/>
          <p:nvPr/>
        </p:nvSpPr>
        <p:spPr>
          <a:xfrm>
            <a:off x="640080" y="1417320"/>
            <a:ext cx="10881360" cy="1325880"/>
          </a:xfrm>
          <a:prstGeom prst="rect">
            <a:avLst/>
          </a:prstGeom>
          <a:solidFill>
            <a:srgbClr val="FFFFFF"/>
          </a:solidFill>
          <a:ln w="12700">
            <a:solidFill>
              <a:srgbClr val="D0D5DB"/>
            </a:solidFill>
            <a:prstDash val="solid"/>
          </a:ln>
        </p:spPr>
      </p:sp>
      <p:sp>
        <p:nvSpPr>
          <p:cNvPr id="6" name="Text 4"/>
          <p:cNvSpPr/>
          <p:nvPr/>
        </p:nvSpPr>
        <p:spPr>
          <a:xfrm>
            <a:off x="960120" y="1783080"/>
            <a:ext cx="548640" cy="502920"/>
          </a:xfrm>
          <a:prstGeom prst="rect">
            <a:avLst/>
          </a:prstGeom>
          <a:noFill/>
          <a:ln/>
        </p:spPr>
        <p:txBody>
          <a:bodyPr wrap="square" lIns="0" tIns="0" rIns="0" bIns="0" rtlCol="0" anchor="ctr"/>
          <a:lstStyle/>
          <a:p>
            <a:pPr marL="0" indent="0">
              <a:buNone/>
            </a:pPr>
            <a:r>
              <a:rPr lang="en-US" sz="2200" b="1" dirty="0">
                <a:solidFill>
                  <a:srgbClr val="1F3A5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737360" y="1645920"/>
            <a:ext cx="941832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Finish LOSO</a:t>
            </a:r>
            <a:endParaRPr lang="en-US" sz="1800" dirty="0"/>
          </a:p>
        </p:txBody>
      </p:sp>
      <p:sp>
        <p:nvSpPr>
          <p:cNvPr id="8" name="Text 6"/>
          <p:cNvSpPr/>
          <p:nvPr/>
        </p:nvSpPr>
        <p:spPr>
          <a:xfrm>
            <a:off x="1737360" y="2103120"/>
            <a:ext cx="94183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Complete all 43 folds; report mean ± std versus LaBraM (61.8 ± 12.4%).</a:t>
            </a:r>
            <a:endParaRPr lang="en-US" sz="1500" dirty="0"/>
          </a:p>
        </p:txBody>
      </p:sp>
      <p:sp>
        <p:nvSpPr>
          <p:cNvPr id="9" name="Shape 7"/>
          <p:cNvSpPr/>
          <p:nvPr/>
        </p:nvSpPr>
        <p:spPr>
          <a:xfrm>
            <a:off x="640080" y="2880360"/>
            <a:ext cx="10881360" cy="1325880"/>
          </a:xfrm>
          <a:prstGeom prst="rect">
            <a:avLst/>
          </a:prstGeom>
          <a:solidFill>
            <a:srgbClr val="FFFFFF"/>
          </a:solidFill>
          <a:ln w="12700">
            <a:solidFill>
              <a:srgbClr val="D0D5DB"/>
            </a:solidFill>
            <a:prstDash val="solid"/>
          </a:ln>
        </p:spPr>
      </p:sp>
      <p:sp>
        <p:nvSpPr>
          <p:cNvPr id="10" name="Text 8"/>
          <p:cNvSpPr/>
          <p:nvPr/>
        </p:nvSpPr>
        <p:spPr>
          <a:xfrm>
            <a:off x="960120" y="3246120"/>
            <a:ext cx="548640" cy="502920"/>
          </a:xfrm>
          <a:prstGeom prst="rect">
            <a:avLst/>
          </a:prstGeom>
          <a:noFill/>
          <a:ln/>
        </p:spPr>
        <p:txBody>
          <a:bodyPr wrap="square" lIns="0" tIns="0" rIns="0" bIns="0" rtlCol="0" anchor="ctr"/>
          <a:lstStyle/>
          <a:p>
            <a:pPr marL="0" indent="0">
              <a:buNone/>
            </a:pPr>
            <a:r>
              <a:rPr lang="en-US" sz="2200" b="1" dirty="0">
                <a:solidFill>
                  <a:srgbClr val="1F3A5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737360" y="3108960"/>
            <a:ext cx="941832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Optional lighter LOSO</a:t>
            </a:r>
            <a:endParaRPr lang="en-US" sz="1800" dirty="0"/>
          </a:p>
        </p:txBody>
      </p:sp>
      <p:sp>
        <p:nvSpPr>
          <p:cNvPr id="12" name="Text 10"/>
          <p:cNvSpPr/>
          <p:nvPr/>
        </p:nvSpPr>
        <p:spPr>
          <a:xfrm>
            <a:off x="1737360" y="3566160"/>
            <a:ext cx="94183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Liz-style freeze-backbone / fewer epochs — fairer wall-clock comparison.</a:t>
            </a:r>
            <a:endParaRPr lang="en-US" sz="1500" dirty="0"/>
          </a:p>
        </p:txBody>
      </p:sp>
      <p:sp>
        <p:nvSpPr>
          <p:cNvPr id="13" name="Shape 11"/>
          <p:cNvSpPr/>
          <p:nvPr/>
        </p:nvSpPr>
        <p:spPr>
          <a:xfrm>
            <a:off x="640080" y="4343400"/>
            <a:ext cx="10881360" cy="1325880"/>
          </a:xfrm>
          <a:prstGeom prst="rect">
            <a:avLst/>
          </a:prstGeom>
          <a:solidFill>
            <a:srgbClr val="FFFFFF"/>
          </a:solidFill>
          <a:ln w="12700">
            <a:solidFill>
              <a:srgbClr val="D0D5DB"/>
            </a:solidFill>
            <a:prstDash val="solid"/>
          </a:ln>
        </p:spPr>
      </p:sp>
      <p:sp>
        <p:nvSpPr>
          <p:cNvPr id="14" name="Text 12"/>
          <p:cNvSpPr/>
          <p:nvPr/>
        </p:nvSpPr>
        <p:spPr>
          <a:xfrm>
            <a:off x="960120" y="4709160"/>
            <a:ext cx="548640" cy="502920"/>
          </a:xfrm>
          <a:prstGeom prst="rect">
            <a:avLst/>
          </a:prstGeom>
          <a:noFill/>
          <a:ln/>
        </p:spPr>
        <p:txBody>
          <a:bodyPr wrap="square" lIns="0" tIns="0" rIns="0" bIns="0" rtlCol="0" anchor="ctr"/>
          <a:lstStyle/>
          <a:p>
            <a:pPr marL="0" indent="0">
              <a:buNone/>
            </a:pPr>
            <a:r>
              <a:rPr lang="en-US" sz="2200" b="1" dirty="0">
                <a:solidFill>
                  <a:srgbClr val="1F3A5F"/>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737360" y="4572000"/>
            <a:ext cx="9418320" cy="365760"/>
          </a:xfrm>
          <a:prstGeom prst="rect">
            <a:avLst/>
          </a:prstGeom>
          <a:noFill/>
          <a:ln/>
        </p:spPr>
        <p:txBody>
          <a:bodyPr wrap="square" lIns="0" tIns="0" rIns="0" bIns="0" rtlCol="0" anchor="ctr"/>
          <a:lstStyle/>
          <a:p>
            <a:pPr marL="0" indent="0">
              <a:buNone/>
            </a:pPr>
            <a:r>
              <a:rPr lang="en-US" sz="1800" b="1" dirty="0">
                <a:solidFill>
                  <a:srgbClr val="1A1A1A"/>
                </a:solidFill>
                <a:latin typeface="Georgia" pitchFamily="34" charset="0"/>
                <a:ea typeface="Georgia" pitchFamily="34" charset="-122"/>
                <a:cs typeface="Georgia" pitchFamily="34" charset="-120"/>
              </a:rPr>
              <a:t>Reproducible pipeline</a:t>
            </a:r>
            <a:endParaRPr lang="en-US" sz="1800" dirty="0"/>
          </a:p>
        </p:txBody>
      </p:sp>
      <p:sp>
        <p:nvSpPr>
          <p:cNvPr id="16" name="Text 14"/>
          <p:cNvSpPr/>
          <p:nvPr/>
        </p:nvSpPr>
        <p:spPr>
          <a:xfrm>
            <a:off x="1737360" y="5029200"/>
            <a:ext cx="9418320" cy="411480"/>
          </a:xfrm>
          <a:prstGeom prst="rect">
            <a:avLst/>
          </a:prstGeom>
          <a:noFill/>
          <a:ln/>
        </p:spPr>
        <p:txBody>
          <a:bodyPr wrap="square" lIns="0" tIns="0" rIns="0" bIns="0" rtlCol="0" anchor="ctr"/>
          <a:lstStyle/>
          <a:p>
            <a:pPr marL="0" indent="0">
              <a:buNone/>
            </a:pPr>
            <a:r>
              <a:rPr lang="en-US" sz="1500" dirty="0">
                <a:solidFill>
                  <a:srgbClr val="5C6570"/>
                </a:solidFill>
                <a:latin typeface="Calibri" pitchFamily="34" charset="0"/>
                <a:ea typeface="Calibri" pitchFamily="34" charset="-122"/>
                <a:cs typeface="Calibri" pitchFamily="34" charset="-120"/>
              </a:rPr>
              <a:t>Commit preprocessing, dataset YAML, and the fine-tuning configuration.</a:t>
            </a:r>
            <a:endParaRPr lang="en-US" sz="15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5C6570"/>
                </a:solidFill>
                <a:latin typeface="Calibri" pitchFamily="34" charset="0"/>
                <a:ea typeface="Calibri" pitchFamily="34" charset="-122"/>
                <a:cs typeface="Calibri" pitchFamily="34" charset="-120"/>
              </a:rPr>
              <a:t>Maxime Lacombe  ·  Ishii Lab  ·  23 July 2026</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5C657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C3338"/>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737360"/>
            <a:ext cx="10515600" cy="640080"/>
          </a:xfrm>
          <a:prstGeom prst="rect">
            <a:avLst/>
          </a:prstGeom>
          <a:noFill/>
          <a:ln/>
        </p:spPr>
        <p:txBody>
          <a:bodyPr wrap="square" lIns="0" tIns="0" rIns="0" bIns="0" rtlCol="0" anchor="ctr"/>
          <a:lstStyle/>
          <a:p>
            <a:pPr marL="0" indent="0">
              <a:buNone/>
            </a:pPr>
            <a:r>
              <a:rPr lang="en-US" sz="4000" b="1" dirty="0">
                <a:solidFill>
                  <a:srgbClr val="FFFFFF"/>
                </a:solidFill>
                <a:latin typeface="Georgia" pitchFamily="34" charset="0"/>
                <a:ea typeface="Georgia" pitchFamily="34" charset="-122"/>
                <a:cs typeface="Georgia" pitchFamily="34" charset="-120"/>
              </a:rPr>
              <a:t>Thank you</a:t>
            </a:r>
            <a:endParaRPr lang="en-US" sz="4000" dirty="0"/>
          </a:p>
        </p:txBody>
      </p:sp>
      <p:sp>
        <p:nvSpPr>
          <p:cNvPr id="4" name="Text 2"/>
          <p:cNvSpPr/>
          <p:nvPr/>
        </p:nvSpPr>
        <p:spPr>
          <a:xfrm>
            <a:off x="777240" y="2514600"/>
            <a:ext cx="10515600" cy="365760"/>
          </a:xfrm>
          <a:prstGeom prst="rect">
            <a:avLst/>
          </a:prstGeom>
          <a:noFill/>
          <a:ln/>
        </p:spPr>
        <p:txBody>
          <a:bodyPr wrap="square" lIns="0" tIns="0" rIns="0" bIns="0" rtlCol="0" anchor="ctr"/>
          <a:lstStyle/>
          <a:p>
            <a:pPr marL="0" indent="0">
              <a:buNone/>
            </a:pPr>
            <a:r>
              <a:rPr lang="en-US" sz="1800" dirty="0">
                <a:solidFill>
                  <a:srgbClr val="B0B8C1"/>
                </a:solidFill>
                <a:latin typeface="Calibri" pitchFamily="34" charset="0"/>
                <a:ea typeface="Calibri" pitchFamily="34" charset="-122"/>
                <a:cs typeface="Calibri" pitchFamily="34" charset="-120"/>
              </a:rPr>
              <a:t>Questions welcome  </a:t>
            </a:r>
            <a:endParaRPr lang="en-US" sz="1800" dirty="0"/>
          </a:p>
        </p:txBody>
      </p:sp>
      <p:sp>
        <p:nvSpPr>
          <p:cNvPr id="5" name="Shape 3"/>
          <p:cNvSpPr/>
          <p:nvPr/>
        </p:nvSpPr>
        <p:spPr>
          <a:xfrm>
            <a:off x="777240" y="3291840"/>
            <a:ext cx="10607040" cy="1965960"/>
          </a:xfrm>
          <a:prstGeom prst="rect">
            <a:avLst/>
          </a:prstGeom>
          <a:solidFill>
            <a:srgbClr val="3D454C"/>
          </a:solidFill>
          <a:ln w="12700">
            <a:solidFill>
              <a:srgbClr val="D0D5DB"/>
            </a:solidFill>
            <a:prstDash val="solid"/>
          </a:ln>
        </p:spPr>
      </p:sp>
      <p:sp>
        <p:nvSpPr>
          <p:cNvPr id="6" name="Text 4"/>
          <p:cNvSpPr/>
          <p:nvPr/>
        </p:nvSpPr>
        <p:spPr>
          <a:xfrm>
            <a:off x="1051560" y="3520440"/>
            <a:ext cx="10058400" cy="274320"/>
          </a:xfrm>
          <a:prstGeom prst="rect">
            <a:avLst/>
          </a:prstGeom>
          <a:noFill/>
          <a:ln/>
        </p:spPr>
        <p:txBody>
          <a:bodyPr wrap="square" lIns="0" tIns="0" rIns="0" bIns="0" rtlCol="0" anchor="ctr"/>
          <a:lstStyle/>
          <a:p>
            <a:pPr marL="0" indent="0">
              <a:buNone/>
            </a:pPr>
            <a:r>
              <a:rPr lang="en-US" sz="1200" b="1" dirty="0">
                <a:solidFill>
                  <a:srgbClr val="A8B0B8"/>
                </a:solidFill>
                <a:latin typeface="Calibri" pitchFamily="34" charset="0"/>
                <a:ea typeface="Calibri" pitchFamily="34" charset="-122"/>
                <a:cs typeface="Calibri" pitchFamily="34" charset="-120"/>
              </a:rPr>
              <a:t>Summary</a:t>
            </a:r>
            <a:endParaRPr lang="en-US" sz="1200" dirty="0"/>
          </a:p>
        </p:txBody>
      </p:sp>
      <p:sp>
        <p:nvSpPr>
          <p:cNvPr id="7" name="Text 5"/>
          <p:cNvSpPr/>
          <p:nvPr/>
        </p:nvSpPr>
        <p:spPr>
          <a:xfrm>
            <a:off x="1051560" y="3931920"/>
            <a:ext cx="10058400" cy="1005840"/>
          </a:xfrm>
          <a:prstGeom prst="rect">
            <a:avLst/>
          </a:prstGeom>
          <a:noFill/>
          <a:ln/>
        </p:spPr>
        <p:txBody>
          <a:bodyPr wrap="square" lIns="0" tIns="0" rIns="0" bIns="0" rtlCol="0" anchor="ctr"/>
          <a:lstStyle/>
          <a:p>
            <a:pPr marL="0" indent="0">
              <a:buNone/>
            </a:pPr>
            <a:r>
              <a:rPr lang="en-US" sz="1600" dirty="0">
                <a:solidFill>
                  <a:srgbClr val="E5E7EB"/>
                </a:solidFill>
                <a:latin typeface="Calibri" pitchFamily="34" charset="0"/>
                <a:ea typeface="Calibri" pitchFamily="34" charset="-122"/>
                <a:cs typeface="Calibri" pitchFamily="34" charset="-120"/>
              </a:rPr>
              <a:t>Population: ST-EEGFormer 61.7% ≈ LaBraM ~62% (above LDA 55.7%). </a:t>
            </a:r>
            <a:endParaRPr lang="en-US" sz="1600" dirty="0"/>
          </a:p>
        </p:txBody>
      </p:sp>
      <p:sp>
        <p:nvSpPr>
          <p:cNvPr id="8" name="Text 6"/>
          <p:cNvSpPr/>
          <p:nvPr/>
        </p:nvSpPr>
        <p:spPr>
          <a:xfrm>
            <a:off x="777240" y="5623560"/>
            <a:ext cx="10515600" cy="320040"/>
          </a:xfrm>
          <a:prstGeom prst="rect">
            <a:avLst/>
          </a:prstGeom>
          <a:noFill/>
          <a:ln/>
        </p:spPr>
        <p:txBody>
          <a:bodyPr wrap="square" lIns="0" tIns="0" rIns="0" bIns="0" rtlCol="0" anchor="ctr"/>
          <a:lstStyle/>
          <a:p>
            <a:pPr marL="0" indent="0">
              <a:buNone/>
            </a:pPr>
            <a:r>
              <a:rPr lang="en-US" sz="1300" dirty="0">
                <a:solidFill>
                  <a:srgbClr val="8A939C"/>
                </a:solidFill>
                <a:latin typeface="Calibri" pitchFamily="34" charset="0"/>
                <a:ea typeface="Calibri" pitchFamily="34" charset="-122"/>
                <a:cs typeface="Calibri" pitchFamily="34" charset="-120"/>
              </a:rPr>
              <a:t>Maxime Lacombe  ·  Ishii Lab  ·  maxime.lacombe@esme.fr</a:t>
            </a:r>
            <a:endParaRPr lang="en-US" sz="1300" dirty="0"/>
          </a:p>
        </p:txBody>
      </p:sp>
      <p:sp>
        <p:nvSpPr>
          <p:cNvPr id="10" name="Shape 7"/>
          <p:cNvSpPr/>
          <p:nvPr/>
        </p:nvSpPr>
        <p:spPr>
          <a:xfrm>
            <a:off x="640080" y="6400800"/>
            <a:ext cx="10881360" cy="0"/>
          </a:xfrm>
          <a:prstGeom prst="line">
            <a:avLst/>
          </a:prstGeom>
          <a:noFill/>
          <a:ln w="9525">
            <a:solidFill>
              <a:srgbClr val="4B5563"/>
            </a:solidFill>
            <a:prstDash val="solid"/>
          </a:ln>
        </p:spPr>
      </p:sp>
      <p:sp>
        <p:nvSpPr>
          <p:cNvPr id="11" name="Text 8"/>
          <p:cNvSpPr/>
          <p:nvPr/>
        </p:nvSpPr>
        <p:spPr>
          <a:xfrm>
            <a:off x="640080" y="6492240"/>
            <a:ext cx="9601200" cy="256032"/>
          </a:xfrm>
          <a:prstGeom prst="rect">
            <a:avLst/>
          </a:prstGeom>
          <a:noFill/>
          <a:ln/>
        </p:spPr>
        <p:txBody>
          <a:bodyPr wrap="square" lIns="0" tIns="0" rIns="0" bIns="0" rtlCol="0" anchor="ctr"/>
          <a:lstStyle/>
          <a:p>
            <a:pPr marL="0" indent="0" algn="l">
              <a:buNone/>
            </a:pPr>
            <a:r>
              <a:rPr lang="en-US" sz="1100" dirty="0">
                <a:solidFill>
                  <a:srgbClr val="9CA3AF"/>
                </a:solidFill>
                <a:latin typeface="Calibri" pitchFamily="34" charset="0"/>
                <a:ea typeface="Calibri" pitchFamily="34" charset="-122"/>
                <a:cs typeface="Calibri" pitchFamily="34" charset="-120"/>
              </a:rPr>
              <a:t>Maxime Lacombe  ·  Ishii Lab  ·  23 July 2026</a:t>
            </a:r>
            <a:endParaRPr lang="en-US" sz="1100" dirty="0"/>
          </a:p>
        </p:txBody>
      </p:sp>
      <p:sp>
        <p:nvSpPr>
          <p:cNvPr id="12" name="Text 9"/>
          <p:cNvSpPr/>
          <p:nvPr/>
        </p:nvSpPr>
        <p:spPr>
          <a:xfrm>
            <a:off x="11155680" y="6492240"/>
            <a:ext cx="457200" cy="256032"/>
          </a:xfrm>
          <a:prstGeom prst="rect">
            <a:avLst/>
          </a:prstGeom>
          <a:noFill/>
          <a:ln/>
        </p:spPr>
        <p:txBody>
          <a:bodyPr wrap="square" lIns="0" tIns="0" rIns="0" bIns="0" rtlCol="0" anchor="ctr"/>
          <a:lstStyle/>
          <a:p>
            <a:pPr marL="0" indent="0" algn="r">
              <a:buNone/>
            </a:pPr>
            <a:r>
              <a:rPr lang="en-US" sz="1100" dirty="0">
                <a:solidFill>
                  <a:srgbClr val="9CA3A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174</TotalTime>
  <Words>3621</Words>
  <Application>Microsoft Office PowerPoint</Application>
  <PresentationFormat>Grand écran</PresentationFormat>
  <Paragraphs>258</Paragraphs>
  <Slides>12</Slides>
  <Notes>12</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12</vt:i4>
      </vt:variant>
    </vt:vector>
  </HeadingPairs>
  <TitlesOfParts>
    <vt:vector size="16"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Internship Seminar — ST-EEGFormer at Ishii Lab</dc:title>
  <dc:subject>Ishii Lab seminar · July 23, 2026 · 15 min + 5 min Q&amp;A</dc:subject>
  <dc:creator>Maxime Lacombe</dc:creator>
  <cp:lastModifiedBy>Maxime Lacombe</cp:lastModifiedBy>
  <cp:revision>1</cp:revision>
  <dcterms:created xsi:type="dcterms:W3CDTF">2026-07-22T06:31:01Z</dcterms:created>
  <dcterms:modified xsi:type="dcterms:W3CDTF">2026-07-23T05:42:40Z</dcterms:modified>
</cp:coreProperties>
</file>