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ST-EEGFormer applique la recette du Vision Transformer au signal EEG, sans rien d’autre. Quatre étapes. Un : on découpe chaque canal en petits morceaux de 16 échantillons, soit 125 millisecondes à 128 hertz ; sur notre fenêtre de 8 secondes à 64 canaux, cela fait 4 096 morceaux. Deux : chaque morceau passe par une seule couche linéaire qui en fait un vecteur de dimension 1 024 — il n’y a aucun dictionnaire, la représentation reste continue — et on ajoute deux informations de position : quand, par un codage sinusoïdal, et où, par une table apprise qui identifie l’électrode. Trois, le pré-entraînement : c’est un auto-encodeur masqué. On cache 75 % des morceaux, l’encodeur ne voit que le reste, et un petit décodeur doit reconstituer les amplitudes des morceaux cachés. La perte est une simple erreur quadratique, calculée uniquement sur ce qui a été caché. La cible est le signal lui-même. Quatre, l’adaptation : on jette le décodeur, on garde l’encodeur — 24 blocs, environ 302 millions de paramètres pour la variante large — on moyenne tous les tokens de sortie et une couche linéaire décide gauche ou droite. Le point à retenir : tout le modèle est standard ; ce qui est spécifique à l’EEG tient dans le découpage par canal et le plongement d’électrode.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LaBraM est le modèle étudié en parallèle par Liz, et c’est notre point de comparaison. Son idée : traiter l’EEG comme un texte. À gauche, l’encodeur. Le signal est rééchantillonné à 200 hertz et découpé en patches de une seconde — donc sur nos 8 secondes et 64 canaux, 512 patches au lieu de 4 096. Chaque patch passe par trois petites convolutions temporelles qui produisent un vecteur de 200, auquel on ajoute un plongement d’électrode et un plongement temporel, tous deux appris. Le transformeur base fait 12 blocs et environ 5,8 millions de paramètres : cinquante fois moins que ST-EEGFormer large. À droite, ce qui fait la différence : le pré-entraînement se fait en deux temps. D’abord on apprend un vocabulaire : un dictionnaire de codes, et chaque patch est remplacé par l’indice du code le plus proche. Ce dictionnaire est appris en reconstruisant le spectre de Fourier du patch, pas le signal brut — les auteurs jugeaient le signal brut trop bruité pour être reconstruit directement. Ensuite, on gèle ce tokeniseur, on masque la moitié des patches, et le transformeur doit prédire l’indice du code manquant, avec une entropie croisée. C’est une classification, comme un modèle de langue masqué. En aval, tout cela est jeté : LaBraM devient, exactement comme ST-EEGFormer, un encodeur suivi d’une moyenne et d’une couche linéaire. C’est ce qui rend la comparaison des deux modèles loyale.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figure met les deux modèles côte à côte, étape par étape, sur exactement les mêmes données : une fenêtre de 8 secondes, 64 canaux. Trois lectures. Première : ce qui est identique. Les deux suivent la logique du Vision Transformer — des patches par canal, un plongement, une information de position, une attention plate sur toute la séquence, puis une moyenne et une couche linéaire. Un lecteur qui comprend l’un comprend l’autre. Deuxième : ce qui diffère vraiment, c’est la ligne rouge — la cible du pré-entraînement. ST-EEGFormer fait une régression : il reconstruit les amplitudes. LaBraM fait une classification : il prédit l’indice d’un mot de vocabulaire, vocabulaire appris sur le spectre. Les deux se disent masqués, mais ils ne prédisent pas la même chose. Troisième : ce qui diffère en échelle. Cinquante fois plus de paramètres et huit fois plus de tokens pour ST-EEGFormer, avec des patches huit fois plus courts. Ce sont deux régimes différents, et améliorer l’un n’est pas nécessairement améliorer l’autre. Ce que cela implique pour nos résultats : sur la tâche d’attention spatiale, en population sur 43 sujets, les deux arrivent au même endroit, autour de 62 %. C’est cohérent avec la conclusion de Yang et al. : après fine-tuning, la nature de l’objectif de pré-entraînement cesse d’être discriminante. Attention à ne pas dire que ST-EEGFormer bat LaBraM : l’écart est de l’ordre de 0,3 point, sans test statistique ni graines appariées.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2733"/>
          </a:solidFill>
          <a:ln/>
        </p:spPr>
      </p:sp>
      <p:sp>
        <p:nvSpPr>
          <p:cNvPr id="3" name="Text 1"/>
          <p:cNvSpPr/>
          <p:nvPr/>
        </p:nvSpPr>
        <p:spPr>
          <a:xfrm>
            <a:off x="457200" y="109728"/>
            <a:ext cx="1124712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ST-EEGFormer : un Vision Transformer sur le signal EEG brut</a:t>
            </a:r>
            <a:endParaRPr lang="en-US" sz="2400" dirty="0"/>
          </a:p>
        </p:txBody>
      </p:sp>
      <p:sp>
        <p:nvSpPr>
          <p:cNvPr id="4" name="Text 2"/>
          <p:cNvSpPr/>
          <p:nvPr/>
        </p:nvSpPr>
        <p:spPr>
          <a:xfrm>
            <a:off x="457200" y="548640"/>
            <a:ext cx="11247120" cy="320040"/>
          </a:xfrm>
          <a:prstGeom prst="rect">
            <a:avLst/>
          </a:prstGeom>
          <a:noFill/>
          <a:ln/>
        </p:spPr>
        <p:txBody>
          <a:bodyPr wrap="square" rtlCol="0" anchor="ctr"/>
          <a:lstStyle/>
          <a:p>
            <a:pPr indent="0" marL="0">
              <a:buNone/>
            </a:pPr>
            <a:r>
              <a:rPr lang="en-US" sz="1300" dirty="0">
                <a:solidFill>
                  <a:srgbClr val="C7D2DD"/>
                </a:solidFill>
                <a:latin typeface="Calibri" pitchFamily="34" charset="0"/>
                <a:ea typeface="Calibri" pitchFamily="34" charset="-122"/>
                <a:cs typeface="Calibri" pitchFamily="34" charset="-120"/>
              </a:rPr>
              <a:t>Yang, Sun, Li &amp; Van Hulle (ICLR 2026) — patches continus, pré-entraînement par auto-encodeur masqué (MAE)</a:t>
            </a:r>
            <a:endParaRPr lang="en-US" sz="1300" dirty="0"/>
          </a:p>
        </p:txBody>
      </p:sp>
      <p:pic>
        <p:nvPicPr>
          <p:cNvPr id="5" name="Image 0" descr="C:\Users\maxim\OneDrive\Bureau\COURS\2021 2026 - INGÉ\2025 2026 - INGE3\STAGE\POUR LE STAGE\STEEGFormer\docs\rapport-esme-inge3\figures\fig_steegformer_overview.png">    </p:cNvPr>
          <p:cNvPicPr>
            <a:picLocks noChangeAspect="1"/>
          </p:cNvPicPr>
          <p:nvPr/>
        </p:nvPicPr>
        <p:blipFill>
          <a:blip r:embed="rId1"/>
          <a:srcRect l="0" r="0" t="43000" b="0"/>
          <a:stretch/>
        </p:blipFill>
        <p:spPr>
          <a:xfrm>
            <a:off x="457200" y="1097280"/>
            <a:ext cx="11247120" cy="3761927"/>
          </a:xfrm>
          <a:prstGeom prst="rect">
            <a:avLst/>
          </a:prstGeom>
        </p:spPr>
      </p:pic>
      <p:sp>
        <p:nvSpPr>
          <p:cNvPr id="6" name="Shape 3"/>
          <p:cNvSpPr/>
          <p:nvPr/>
        </p:nvSpPr>
        <p:spPr>
          <a:xfrm>
            <a:off x="457200" y="4937760"/>
            <a:ext cx="2697480" cy="1417320"/>
          </a:xfrm>
          <a:prstGeom prst="roundRect">
            <a:avLst>
              <a:gd name="adj" fmla="val 3871"/>
            </a:avLst>
          </a:prstGeom>
          <a:solidFill>
            <a:srgbClr val="EEF2F6"/>
          </a:solidFill>
          <a:ln w="12700">
            <a:solidFill>
              <a:srgbClr val="2E6F9E"/>
            </a:solidFill>
            <a:prstDash val="solid"/>
          </a:ln>
        </p:spPr>
      </p:sp>
      <p:sp>
        <p:nvSpPr>
          <p:cNvPr id="7" name="Text 4"/>
          <p:cNvSpPr/>
          <p:nvPr/>
        </p:nvSpPr>
        <p:spPr>
          <a:xfrm>
            <a:off x="566928" y="5029200"/>
            <a:ext cx="384048" cy="384048"/>
          </a:xfrm>
          <a:prstGeom prst="ellipse">
            <a:avLst/>
          </a:prstGeom>
          <a:solidFill>
            <a:srgbClr val="2E6F9E"/>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5"/>
          <p:cNvSpPr/>
          <p:nvPr/>
        </p:nvSpPr>
        <p:spPr>
          <a:xfrm>
            <a:off x="1024128" y="5029200"/>
            <a:ext cx="2011680" cy="274320"/>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DÉCOUPER</a:t>
            </a:r>
            <a:endParaRPr lang="en-US" sz="1000" dirty="0"/>
          </a:p>
        </p:txBody>
      </p:sp>
      <p:sp>
        <p:nvSpPr>
          <p:cNvPr id="9" name="Text 6"/>
          <p:cNvSpPr/>
          <p:nvPr/>
        </p:nvSpPr>
        <p:spPr>
          <a:xfrm>
            <a:off x="594360" y="5440680"/>
            <a:ext cx="2423160" cy="82296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Chaque canal est coupé en patches de 16 échantillons (125 ms à 128 Hz), sans recouvrement.</a:t>
            </a:r>
            <a:endParaRPr lang="en-US" sz="1150" dirty="0"/>
          </a:p>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8 s × 64 canaux → 4 096 patches.</a:t>
            </a:r>
            <a:endParaRPr lang="en-US" sz="1150" dirty="0"/>
          </a:p>
        </p:txBody>
      </p:sp>
      <p:sp>
        <p:nvSpPr>
          <p:cNvPr id="10" name="Shape 7"/>
          <p:cNvSpPr/>
          <p:nvPr/>
        </p:nvSpPr>
        <p:spPr>
          <a:xfrm>
            <a:off x="3310128" y="4937760"/>
            <a:ext cx="2697480" cy="1417320"/>
          </a:xfrm>
          <a:prstGeom prst="roundRect">
            <a:avLst>
              <a:gd name="adj" fmla="val 3871"/>
            </a:avLst>
          </a:prstGeom>
          <a:solidFill>
            <a:srgbClr val="EEF2F6"/>
          </a:solidFill>
          <a:ln w="12700">
            <a:solidFill>
              <a:srgbClr val="2E6F9E"/>
            </a:solidFill>
            <a:prstDash val="solid"/>
          </a:ln>
        </p:spPr>
      </p:sp>
      <p:sp>
        <p:nvSpPr>
          <p:cNvPr id="11" name="Text 8"/>
          <p:cNvSpPr/>
          <p:nvPr/>
        </p:nvSpPr>
        <p:spPr>
          <a:xfrm>
            <a:off x="3419856" y="5029200"/>
            <a:ext cx="384048" cy="384048"/>
          </a:xfrm>
          <a:prstGeom prst="ellipse">
            <a:avLst/>
          </a:prstGeom>
          <a:solidFill>
            <a:srgbClr val="2E6F9E"/>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9"/>
          <p:cNvSpPr/>
          <p:nvPr/>
        </p:nvSpPr>
        <p:spPr>
          <a:xfrm>
            <a:off x="3877056" y="5029200"/>
            <a:ext cx="2011680" cy="274320"/>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PLONGER + SITUER</a:t>
            </a:r>
            <a:endParaRPr lang="en-US" sz="1000" dirty="0"/>
          </a:p>
        </p:txBody>
      </p:sp>
      <p:sp>
        <p:nvSpPr>
          <p:cNvPr id="13" name="Text 10"/>
          <p:cNvSpPr/>
          <p:nvPr/>
        </p:nvSpPr>
        <p:spPr>
          <a:xfrm>
            <a:off x="3447288" y="5440680"/>
            <a:ext cx="2423160" cy="82296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Une couche linéaire 16 → 1 024. On ajoute un codage temporel sinusoïdal (quand) et un plongement d’électrode appris, 145 slots (où).</a:t>
            </a:r>
            <a:endParaRPr lang="en-US" sz="1150" dirty="0"/>
          </a:p>
        </p:txBody>
      </p:sp>
      <p:sp>
        <p:nvSpPr>
          <p:cNvPr id="14" name="Shape 11"/>
          <p:cNvSpPr/>
          <p:nvPr/>
        </p:nvSpPr>
        <p:spPr>
          <a:xfrm>
            <a:off x="6163056" y="4937760"/>
            <a:ext cx="2697480" cy="1417320"/>
          </a:xfrm>
          <a:prstGeom prst="roundRect">
            <a:avLst>
              <a:gd name="adj" fmla="val 3871"/>
            </a:avLst>
          </a:prstGeom>
          <a:solidFill>
            <a:srgbClr val="F7E7E3"/>
          </a:solidFill>
          <a:ln w="12700">
            <a:solidFill>
              <a:srgbClr val="A23B2B"/>
            </a:solidFill>
            <a:prstDash val="solid"/>
          </a:ln>
        </p:spPr>
      </p:sp>
      <p:sp>
        <p:nvSpPr>
          <p:cNvPr id="15" name="Text 12"/>
          <p:cNvSpPr/>
          <p:nvPr/>
        </p:nvSpPr>
        <p:spPr>
          <a:xfrm>
            <a:off x="6272784" y="5029200"/>
            <a:ext cx="384048" cy="384048"/>
          </a:xfrm>
          <a:prstGeom prst="ellipse">
            <a:avLst/>
          </a:prstGeom>
          <a:solidFill>
            <a:srgbClr val="A23B2B"/>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3"/>
          <p:cNvSpPr/>
          <p:nvPr/>
        </p:nvSpPr>
        <p:spPr>
          <a:xfrm>
            <a:off x="6729984" y="5029200"/>
            <a:ext cx="2011680" cy="274320"/>
          </a:xfrm>
          <a:prstGeom prst="rect">
            <a:avLst/>
          </a:prstGeom>
          <a:noFill/>
          <a:ln/>
        </p:spPr>
        <p:txBody>
          <a:bodyPr wrap="square" rtlCol="0" anchor="ctr"/>
          <a:lstStyle/>
          <a:p>
            <a:pPr indent="0" marL="0">
              <a:buNone/>
            </a:pPr>
            <a:r>
              <a:rPr lang="en-US" sz="1000" b="1" spc="100" kern="0" dirty="0">
                <a:solidFill>
                  <a:srgbClr val="A23B2B"/>
                </a:solidFill>
                <a:latin typeface="Calibri" pitchFamily="34" charset="0"/>
                <a:ea typeface="Calibri" pitchFamily="34" charset="-122"/>
                <a:cs typeface="Calibri" pitchFamily="34" charset="-120"/>
              </a:rPr>
              <a:t>PRÉ-ENTRAÎNER (MAE)</a:t>
            </a:r>
            <a:endParaRPr lang="en-US" sz="1000" dirty="0"/>
          </a:p>
        </p:txBody>
      </p:sp>
      <p:sp>
        <p:nvSpPr>
          <p:cNvPr id="17" name="Text 14"/>
          <p:cNvSpPr/>
          <p:nvPr/>
        </p:nvSpPr>
        <p:spPr>
          <a:xfrm>
            <a:off x="6300216" y="5440680"/>
            <a:ext cx="2423160" cy="82296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75 % des patches masqués ; l’encodeur ne voit que le reste ; un décodeur léger prédit les 16 amplitudes ; MSE sur les patches masqués.</a:t>
            </a:r>
            <a:endParaRPr lang="en-US" sz="1150" dirty="0"/>
          </a:p>
        </p:txBody>
      </p:sp>
      <p:sp>
        <p:nvSpPr>
          <p:cNvPr id="18" name="Shape 15"/>
          <p:cNvSpPr/>
          <p:nvPr/>
        </p:nvSpPr>
        <p:spPr>
          <a:xfrm>
            <a:off x="9015984" y="4937760"/>
            <a:ext cx="2697480" cy="1417320"/>
          </a:xfrm>
          <a:prstGeom prst="roundRect">
            <a:avLst>
              <a:gd name="adj" fmla="val 3871"/>
            </a:avLst>
          </a:prstGeom>
          <a:solidFill>
            <a:srgbClr val="EEF2F6"/>
          </a:solidFill>
          <a:ln w="12700">
            <a:solidFill>
              <a:srgbClr val="2E6F9E"/>
            </a:solidFill>
            <a:prstDash val="solid"/>
          </a:ln>
        </p:spPr>
      </p:sp>
      <p:sp>
        <p:nvSpPr>
          <p:cNvPr id="19" name="Text 16"/>
          <p:cNvSpPr/>
          <p:nvPr/>
        </p:nvSpPr>
        <p:spPr>
          <a:xfrm>
            <a:off x="9125712" y="5029200"/>
            <a:ext cx="384048" cy="384048"/>
          </a:xfrm>
          <a:prstGeom prst="ellipse">
            <a:avLst/>
          </a:prstGeom>
          <a:solidFill>
            <a:srgbClr val="2E6F9E"/>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0" name="Text 17"/>
          <p:cNvSpPr/>
          <p:nvPr/>
        </p:nvSpPr>
        <p:spPr>
          <a:xfrm>
            <a:off x="9582912" y="5029200"/>
            <a:ext cx="2011680" cy="274320"/>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ADAPTER</a:t>
            </a:r>
            <a:endParaRPr lang="en-US" sz="1000" dirty="0"/>
          </a:p>
        </p:txBody>
      </p:sp>
      <p:sp>
        <p:nvSpPr>
          <p:cNvPr id="21" name="Text 18"/>
          <p:cNvSpPr/>
          <p:nvPr/>
        </p:nvSpPr>
        <p:spPr>
          <a:xfrm>
            <a:off x="9153144" y="5440680"/>
            <a:ext cx="2423160" cy="82296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Décodeur jeté. Encodeur large : 24 blocs, D = 1 024, ≈ 302 M paramètres. Moyenne des tokens → tête linéaire (gauche / droite).</a:t>
            </a:r>
            <a:endParaRPr lang="en-US" sz="1150" dirty="0"/>
          </a:p>
        </p:txBody>
      </p:sp>
      <p:sp>
        <p:nvSpPr>
          <p:cNvPr id="22" name="Text 19"/>
          <p:cNvSpPr/>
          <p:nvPr/>
        </p:nvSpPr>
        <p:spPr>
          <a:xfrm>
            <a:off x="457200" y="6446520"/>
            <a:ext cx="11247120" cy="274320"/>
          </a:xfrm>
          <a:prstGeom prst="rect">
            <a:avLst/>
          </a:prstGeom>
          <a:noFill/>
          <a:ln/>
        </p:spPr>
        <p:txBody>
          <a:bodyPr wrap="square" rtlCol="0" anchor="ctr"/>
          <a:lstStyle/>
          <a:p>
            <a:pPr indent="0" marL="0">
              <a:buNone/>
            </a:pPr>
            <a:r>
              <a:rPr lang="en-US" sz="900" i="1" dirty="0">
                <a:solidFill>
                  <a:srgbClr val="5C6672"/>
                </a:solidFill>
                <a:latin typeface="Calibri" pitchFamily="34" charset="0"/>
                <a:ea typeface="Calibri" pitchFamily="34" charset="-122"/>
                <a:cs typeface="Calibri" pitchFamily="34" charset="-120"/>
              </a:rPr>
              <a:t>Figure : Yang et al., ICLR 2026, fig. 1(b) — © KU Leuven. Valeurs lues dans le code du dépôt (models_vit_eeg.py, models_mae_eeg.py).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2733"/>
          </a:solidFill>
          <a:ln/>
        </p:spPr>
      </p:sp>
      <p:sp>
        <p:nvSpPr>
          <p:cNvPr id="3" name="Text 1"/>
          <p:cNvSpPr/>
          <p:nvPr/>
        </p:nvSpPr>
        <p:spPr>
          <a:xfrm>
            <a:off x="457200" y="109728"/>
            <a:ext cx="1124712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LaBraM : un vocabulaire appris, puis un modèle de langue masqué</a:t>
            </a:r>
            <a:endParaRPr lang="en-US" sz="2400" dirty="0"/>
          </a:p>
        </p:txBody>
      </p:sp>
      <p:sp>
        <p:nvSpPr>
          <p:cNvPr id="4" name="Text 2"/>
          <p:cNvSpPr/>
          <p:nvPr/>
        </p:nvSpPr>
        <p:spPr>
          <a:xfrm>
            <a:off x="457200" y="548640"/>
            <a:ext cx="11247120" cy="320040"/>
          </a:xfrm>
          <a:prstGeom prst="rect">
            <a:avLst/>
          </a:prstGeom>
          <a:noFill/>
          <a:ln/>
        </p:spPr>
        <p:txBody>
          <a:bodyPr wrap="square" rtlCol="0" anchor="ctr"/>
          <a:lstStyle/>
          <a:p>
            <a:pPr indent="0" marL="0">
              <a:buNone/>
            </a:pPr>
            <a:r>
              <a:rPr lang="en-US" sz="1300" dirty="0">
                <a:solidFill>
                  <a:srgbClr val="C7D2DD"/>
                </a:solidFill>
                <a:latin typeface="Calibri" pitchFamily="34" charset="0"/>
                <a:ea typeface="Calibri" pitchFamily="34" charset="-122"/>
                <a:cs typeface="Calibri" pitchFamily="34" charset="-120"/>
              </a:rPr>
              <a:t>Jiang, Zhao &amp; Lu (ICLR 2024) — tokens discrets (quantification vectorielle), prédiction des codes masqués</a:t>
            </a:r>
            <a:endParaRPr lang="en-US" sz="1300" dirty="0"/>
          </a:p>
        </p:txBody>
      </p:sp>
      <p:sp>
        <p:nvSpPr>
          <p:cNvPr id="5" name="Text 3"/>
          <p:cNvSpPr/>
          <p:nvPr/>
        </p:nvSpPr>
        <p:spPr>
          <a:xfrm>
            <a:off x="457200" y="1143000"/>
            <a:ext cx="5394960" cy="274320"/>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ENCODEUR (identique en pré-entraînement et en aval)</a:t>
            </a:r>
            <a:endParaRPr lang="en-US" sz="1000" dirty="0"/>
          </a:p>
        </p:txBody>
      </p:sp>
      <p:sp>
        <p:nvSpPr>
          <p:cNvPr id="6" name="Shape 4"/>
          <p:cNvSpPr/>
          <p:nvPr/>
        </p:nvSpPr>
        <p:spPr>
          <a:xfrm>
            <a:off x="457200" y="1463040"/>
            <a:ext cx="5394960" cy="566928"/>
          </a:xfrm>
          <a:prstGeom prst="roundRect">
            <a:avLst>
              <a:gd name="adj" fmla="val 8065"/>
            </a:avLst>
          </a:prstGeom>
          <a:solidFill>
            <a:srgbClr val="EEF2F6"/>
          </a:solidFill>
          <a:ln w="12700">
            <a:solidFill>
              <a:srgbClr val="2E6F9E"/>
            </a:solidFill>
            <a:prstDash val="solid"/>
          </a:ln>
        </p:spPr>
      </p:sp>
      <p:sp>
        <p:nvSpPr>
          <p:cNvPr id="7" name="Text 5"/>
          <p:cNvSpPr/>
          <p:nvPr/>
        </p:nvSpPr>
        <p:spPr>
          <a:xfrm>
            <a:off x="594360" y="1517904"/>
            <a:ext cx="1463040" cy="228600"/>
          </a:xfrm>
          <a:prstGeom prst="rect">
            <a:avLst/>
          </a:prstGeom>
          <a:noFill/>
          <a:ln/>
        </p:spPr>
        <p:txBody>
          <a:bodyPr wrap="square" rtlCol="0" anchor="ctr"/>
          <a:lstStyle/>
          <a:p>
            <a:pPr indent="0" marL="0">
              <a:buNone/>
            </a:pPr>
            <a:r>
              <a:rPr lang="en-US" sz="950" b="1" spc="100" kern="0" dirty="0">
                <a:solidFill>
                  <a:srgbClr val="2E6F9E"/>
                </a:solidFill>
                <a:latin typeface="Calibri" pitchFamily="34" charset="0"/>
                <a:ea typeface="Calibri" pitchFamily="34" charset="-122"/>
                <a:cs typeface="Calibri" pitchFamily="34" charset="-120"/>
              </a:rPr>
              <a:t>ENTRÉE</a:t>
            </a:r>
            <a:endParaRPr lang="en-US" sz="950" dirty="0"/>
          </a:p>
        </p:txBody>
      </p:sp>
      <p:sp>
        <p:nvSpPr>
          <p:cNvPr id="8" name="Text 6"/>
          <p:cNvSpPr/>
          <p:nvPr/>
        </p:nvSpPr>
        <p:spPr>
          <a:xfrm>
            <a:off x="594360" y="1719072"/>
            <a:ext cx="5120640" cy="274320"/>
          </a:xfrm>
          <a:prstGeom prst="rect">
            <a:avLst/>
          </a:prstGeom>
          <a:noFill/>
          <a:ln/>
        </p:spPr>
        <p:txBody>
          <a:bodyPr wrap="square" rtlCol="0" anchor="t"/>
          <a:lstStyle/>
          <a:p>
            <a:pPr indent="0" marL="0">
              <a:buNone/>
            </a:pPr>
            <a:r>
              <a:rPr lang="en-US" sz="1100" dirty="0">
                <a:solidFill>
                  <a:srgbClr val="1F2733"/>
                </a:solidFill>
                <a:latin typeface="Calibri" pitchFamily="34" charset="0"/>
                <a:ea typeface="Calibri" pitchFamily="34" charset="-122"/>
                <a:cs typeface="Calibri" pitchFamily="34" charset="-120"/>
              </a:rPr>
              <a:t>64 canaux × 8 s, rééchantillonnés à 200 Hz</a:t>
            </a:r>
            <a:endParaRPr lang="en-US" sz="1100" dirty="0"/>
          </a:p>
        </p:txBody>
      </p:sp>
      <p:sp>
        <p:nvSpPr>
          <p:cNvPr id="9" name="Shape 7"/>
          <p:cNvSpPr/>
          <p:nvPr/>
        </p:nvSpPr>
        <p:spPr>
          <a:xfrm>
            <a:off x="3044952" y="2048256"/>
            <a:ext cx="219456" cy="182880"/>
          </a:xfrm>
          <a:prstGeom prst="downArrow">
            <a:avLst/>
          </a:prstGeom>
          <a:solidFill>
            <a:srgbClr val="5C6672"/>
          </a:solidFill>
          <a:ln w="12700">
            <a:solidFill>
              <a:srgbClr val="5C6672"/>
            </a:solidFill>
            <a:prstDash val="solid"/>
          </a:ln>
        </p:spPr>
      </p:sp>
      <p:sp>
        <p:nvSpPr>
          <p:cNvPr id="10" name="Shape 8"/>
          <p:cNvSpPr/>
          <p:nvPr/>
        </p:nvSpPr>
        <p:spPr>
          <a:xfrm>
            <a:off x="457200" y="2267712"/>
            <a:ext cx="5394960" cy="566928"/>
          </a:xfrm>
          <a:prstGeom prst="roundRect">
            <a:avLst>
              <a:gd name="adj" fmla="val 8065"/>
            </a:avLst>
          </a:prstGeom>
          <a:solidFill>
            <a:srgbClr val="EEF2F6"/>
          </a:solidFill>
          <a:ln w="12700">
            <a:solidFill>
              <a:srgbClr val="2E6F9E"/>
            </a:solidFill>
            <a:prstDash val="solid"/>
          </a:ln>
        </p:spPr>
      </p:sp>
      <p:sp>
        <p:nvSpPr>
          <p:cNvPr id="11" name="Text 9"/>
          <p:cNvSpPr/>
          <p:nvPr/>
        </p:nvSpPr>
        <p:spPr>
          <a:xfrm>
            <a:off x="594360" y="2322576"/>
            <a:ext cx="1463040" cy="228600"/>
          </a:xfrm>
          <a:prstGeom prst="rect">
            <a:avLst/>
          </a:prstGeom>
          <a:noFill/>
          <a:ln/>
        </p:spPr>
        <p:txBody>
          <a:bodyPr wrap="square" rtlCol="0" anchor="ctr"/>
          <a:lstStyle/>
          <a:p>
            <a:pPr indent="0" marL="0">
              <a:buNone/>
            </a:pPr>
            <a:r>
              <a:rPr lang="en-US" sz="950" b="1" spc="100" kern="0" dirty="0">
                <a:solidFill>
                  <a:srgbClr val="2E6F9E"/>
                </a:solidFill>
                <a:latin typeface="Calibri" pitchFamily="34" charset="0"/>
                <a:ea typeface="Calibri" pitchFamily="34" charset="-122"/>
                <a:cs typeface="Calibri" pitchFamily="34" charset="-120"/>
              </a:rPr>
              <a:t>DÉCOUPAGE</a:t>
            </a:r>
            <a:endParaRPr lang="en-US" sz="950" dirty="0"/>
          </a:p>
        </p:txBody>
      </p:sp>
      <p:sp>
        <p:nvSpPr>
          <p:cNvPr id="12" name="Text 10"/>
          <p:cNvSpPr/>
          <p:nvPr/>
        </p:nvSpPr>
        <p:spPr>
          <a:xfrm>
            <a:off x="594360" y="2523744"/>
            <a:ext cx="5120640" cy="274320"/>
          </a:xfrm>
          <a:prstGeom prst="rect">
            <a:avLst/>
          </a:prstGeom>
          <a:noFill/>
          <a:ln/>
        </p:spPr>
        <p:txBody>
          <a:bodyPr wrap="square" rtlCol="0" anchor="t"/>
          <a:lstStyle/>
          <a:p>
            <a:pPr indent="0" marL="0">
              <a:buNone/>
            </a:pPr>
            <a:r>
              <a:rPr lang="en-US" sz="1100" dirty="0">
                <a:solidFill>
                  <a:srgbClr val="1F2733"/>
                </a:solidFill>
                <a:latin typeface="Calibri" pitchFamily="34" charset="0"/>
                <a:ea typeface="Calibri" pitchFamily="34" charset="-122"/>
                <a:cs typeface="Calibri" pitchFamily="34" charset="-120"/>
              </a:rPr>
              <a:t>patches de 200 échantillons = 1 s → 64 × 8 = 512 patches</a:t>
            </a:r>
            <a:endParaRPr lang="en-US" sz="1100" dirty="0"/>
          </a:p>
        </p:txBody>
      </p:sp>
      <p:sp>
        <p:nvSpPr>
          <p:cNvPr id="13" name="Shape 11"/>
          <p:cNvSpPr/>
          <p:nvPr/>
        </p:nvSpPr>
        <p:spPr>
          <a:xfrm>
            <a:off x="3044952" y="2852928"/>
            <a:ext cx="219456" cy="182880"/>
          </a:xfrm>
          <a:prstGeom prst="downArrow">
            <a:avLst/>
          </a:prstGeom>
          <a:solidFill>
            <a:srgbClr val="5C6672"/>
          </a:solidFill>
          <a:ln w="12700">
            <a:solidFill>
              <a:srgbClr val="5C6672"/>
            </a:solidFill>
            <a:prstDash val="solid"/>
          </a:ln>
        </p:spPr>
      </p:sp>
      <p:sp>
        <p:nvSpPr>
          <p:cNvPr id="14" name="Shape 12"/>
          <p:cNvSpPr/>
          <p:nvPr/>
        </p:nvSpPr>
        <p:spPr>
          <a:xfrm>
            <a:off x="457200" y="3072384"/>
            <a:ext cx="5394960" cy="914400"/>
          </a:xfrm>
          <a:prstGeom prst="roundRect">
            <a:avLst>
              <a:gd name="adj" fmla="val 5000"/>
            </a:avLst>
          </a:prstGeom>
          <a:solidFill>
            <a:srgbClr val="EEF2F6"/>
          </a:solidFill>
          <a:ln w="12700">
            <a:solidFill>
              <a:srgbClr val="2E6F9E"/>
            </a:solidFill>
            <a:prstDash val="solid"/>
          </a:ln>
        </p:spPr>
      </p:sp>
      <p:sp>
        <p:nvSpPr>
          <p:cNvPr id="15" name="Text 13"/>
          <p:cNvSpPr/>
          <p:nvPr/>
        </p:nvSpPr>
        <p:spPr>
          <a:xfrm>
            <a:off x="594360" y="3127248"/>
            <a:ext cx="1463040" cy="228600"/>
          </a:xfrm>
          <a:prstGeom prst="rect">
            <a:avLst/>
          </a:prstGeom>
          <a:noFill/>
          <a:ln/>
        </p:spPr>
        <p:txBody>
          <a:bodyPr wrap="square" rtlCol="0" anchor="ctr"/>
          <a:lstStyle/>
          <a:p>
            <a:pPr indent="0" marL="0">
              <a:buNone/>
            </a:pPr>
            <a:r>
              <a:rPr lang="en-US" sz="950" b="1" spc="100" kern="0" dirty="0">
                <a:solidFill>
                  <a:srgbClr val="2E6F9E"/>
                </a:solidFill>
                <a:latin typeface="Calibri" pitchFamily="34" charset="0"/>
                <a:ea typeface="Calibri" pitchFamily="34" charset="-122"/>
                <a:cs typeface="Calibri" pitchFamily="34" charset="-120"/>
              </a:rPr>
              <a:t>PLONGEMENT</a:t>
            </a:r>
            <a:endParaRPr lang="en-US" sz="950" dirty="0"/>
          </a:p>
        </p:txBody>
      </p:sp>
      <p:sp>
        <p:nvSpPr>
          <p:cNvPr id="16" name="Text 14"/>
          <p:cNvSpPr/>
          <p:nvPr/>
        </p:nvSpPr>
        <p:spPr>
          <a:xfrm>
            <a:off x="594360" y="3328416"/>
            <a:ext cx="5120640" cy="621792"/>
          </a:xfrm>
          <a:prstGeom prst="rect">
            <a:avLst/>
          </a:prstGeom>
          <a:noFill/>
          <a:ln/>
        </p:spPr>
        <p:txBody>
          <a:bodyPr wrap="square" rtlCol="0" anchor="t"/>
          <a:lstStyle/>
          <a:p>
            <a:pPr indent="0" marL="0">
              <a:buNone/>
            </a:pPr>
            <a:r>
              <a:rPr lang="en-US" sz="1100" dirty="0">
                <a:solidFill>
                  <a:srgbClr val="1F2733"/>
                </a:solidFill>
                <a:latin typeface="Calibri" pitchFamily="34" charset="0"/>
                <a:ea typeface="Calibri" pitchFamily="34" charset="-122"/>
                <a:cs typeface="Calibri" pitchFamily="34" charset="-120"/>
              </a:rPr>
              <a:t>3 convolutions temporelles (GroupNorm, GELU) → vecteur de 200</a:t>
            </a:r>
            <a:endParaRPr lang="en-US" sz="1100" dirty="0"/>
          </a:p>
          <a:p>
            <a:pPr indent="0" marL="0">
              <a:buNone/>
            </a:pPr>
            <a:r>
              <a:rPr lang="en-US" sz="1100" dirty="0">
                <a:solidFill>
                  <a:srgbClr val="1F2733"/>
                </a:solidFill>
                <a:latin typeface="Calibri" pitchFamily="34" charset="0"/>
                <a:ea typeface="Calibri" pitchFamily="34" charset="-122"/>
                <a:cs typeface="Calibri" pitchFamily="34" charset="-120"/>
              </a:rPr>
              <a:t>+ plongement d’électrode appris (128 slots) + plongement temporel appris (16 slots)</a:t>
            </a:r>
            <a:endParaRPr lang="en-US" sz="1100" dirty="0"/>
          </a:p>
        </p:txBody>
      </p:sp>
      <p:sp>
        <p:nvSpPr>
          <p:cNvPr id="17" name="Shape 15"/>
          <p:cNvSpPr/>
          <p:nvPr/>
        </p:nvSpPr>
        <p:spPr>
          <a:xfrm>
            <a:off x="3044952" y="4005072"/>
            <a:ext cx="219456" cy="182880"/>
          </a:xfrm>
          <a:prstGeom prst="downArrow">
            <a:avLst/>
          </a:prstGeom>
          <a:solidFill>
            <a:srgbClr val="5C6672"/>
          </a:solidFill>
          <a:ln w="12700">
            <a:solidFill>
              <a:srgbClr val="5C6672"/>
            </a:solidFill>
            <a:prstDash val="solid"/>
          </a:ln>
        </p:spPr>
      </p:sp>
      <p:sp>
        <p:nvSpPr>
          <p:cNvPr id="18" name="Shape 16"/>
          <p:cNvSpPr/>
          <p:nvPr/>
        </p:nvSpPr>
        <p:spPr>
          <a:xfrm>
            <a:off x="457200" y="4224528"/>
            <a:ext cx="5394960" cy="566928"/>
          </a:xfrm>
          <a:prstGeom prst="roundRect">
            <a:avLst>
              <a:gd name="adj" fmla="val 8065"/>
            </a:avLst>
          </a:prstGeom>
          <a:solidFill>
            <a:srgbClr val="EEF2F6"/>
          </a:solidFill>
          <a:ln w="12700">
            <a:solidFill>
              <a:srgbClr val="2E6F9E"/>
            </a:solidFill>
            <a:prstDash val="solid"/>
          </a:ln>
        </p:spPr>
      </p:sp>
      <p:sp>
        <p:nvSpPr>
          <p:cNvPr id="19" name="Text 17"/>
          <p:cNvSpPr/>
          <p:nvPr/>
        </p:nvSpPr>
        <p:spPr>
          <a:xfrm>
            <a:off x="594360" y="4279392"/>
            <a:ext cx="1463040" cy="228600"/>
          </a:xfrm>
          <a:prstGeom prst="rect">
            <a:avLst/>
          </a:prstGeom>
          <a:noFill/>
          <a:ln/>
        </p:spPr>
        <p:txBody>
          <a:bodyPr wrap="square" rtlCol="0" anchor="ctr"/>
          <a:lstStyle/>
          <a:p>
            <a:pPr indent="0" marL="0">
              <a:buNone/>
            </a:pPr>
            <a:r>
              <a:rPr lang="en-US" sz="950" b="1" spc="100" kern="0" dirty="0">
                <a:solidFill>
                  <a:srgbClr val="2E6F9E"/>
                </a:solidFill>
                <a:latin typeface="Calibri" pitchFamily="34" charset="0"/>
                <a:ea typeface="Calibri" pitchFamily="34" charset="-122"/>
                <a:cs typeface="Calibri" pitchFamily="34" charset="-120"/>
              </a:rPr>
              <a:t>TRANSFORMEUR</a:t>
            </a:r>
            <a:endParaRPr lang="en-US" sz="950" dirty="0"/>
          </a:p>
        </p:txBody>
      </p:sp>
      <p:sp>
        <p:nvSpPr>
          <p:cNvPr id="20" name="Text 18"/>
          <p:cNvSpPr/>
          <p:nvPr/>
        </p:nvSpPr>
        <p:spPr>
          <a:xfrm>
            <a:off x="594360" y="4480560"/>
            <a:ext cx="5120640" cy="274320"/>
          </a:xfrm>
          <a:prstGeom prst="rect">
            <a:avLst/>
          </a:prstGeom>
          <a:noFill/>
          <a:ln/>
        </p:spPr>
        <p:txBody>
          <a:bodyPr wrap="square" rtlCol="0" anchor="t"/>
          <a:lstStyle/>
          <a:p>
            <a:pPr indent="0" marL="0">
              <a:buNone/>
            </a:pPr>
            <a:r>
              <a:rPr lang="en-US" sz="1100" dirty="0">
                <a:solidFill>
                  <a:srgbClr val="1F2733"/>
                </a:solidFill>
                <a:latin typeface="Calibri" pitchFamily="34" charset="0"/>
                <a:ea typeface="Calibri" pitchFamily="34" charset="-122"/>
                <a:cs typeface="Calibri" pitchFamily="34" charset="-120"/>
              </a:rPr>
              <a:t>base : 12 blocs, 10 têtes, D = 200 — ≈ 5,8 M paramètres</a:t>
            </a:r>
            <a:endParaRPr lang="en-US" sz="1100" dirty="0"/>
          </a:p>
        </p:txBody>
      </p:sp>
      <p:sp>
        <p:nvSpPr>
          <p:cNvPr id="21" name="Shape 19"/>
          <p:cNvSpPr/>
          <p:nvPr/>
        </p:nvSpPr>
        <p:spPr>
          <a:xfrm>
            <a:off x="3044952" y="4809744"/>
            <a:ext cx="219456" cy="182880"/>
          </a:xfrm>
          <a:prstGeom prst="downArrow">
            <a:avLst/>
          </a:prstGeom>
          <a:solidFill>
            <a:srgbClr val="5C6672"/>
          </a:solidFill>
          <a:ln w="12700">
            <a:solidFill>
              <a:srgbClr val="5C6672"/>
            </a:solidFill>
            <a:prstDash val="solid"/>
          </a:ln>
        </p:spPr>
      </p:sp>
      <p:sp>
        <p:nvSpPr>
          <p:cNvPr id="22" name="Shape 20"/>
          <p:cNvSpPr/>
          <p:nvPr/>
        </p:nvSpPr>
        <p:spPr>
          <a:xfrm>
            <a:off x="457200" y="5029200"/>
            <a:ext cx="5394960" cy="566928"/>
          </a:xfrm>
          <a:prstGeom prst="roundRect">
            <a:avLst>
              <a:gd name="adj" fmla="val 8065"/>
            </a:avLst>
          </a:prstGeom>
          <a:solidFill>
            <a:srgbClr val="EEF2F6"/>
          </a:solidFill>
          <a:ln w="12700">
            <a:solidFill>
              <a:srgbClr val="2E6F9E"/>
            </a:solidFill>
            <a:prstDash val="solid"/>
          </a:ln>
        </p:spPr>
      </p:sp>
      <p:sp>
        <p:nvSpPr>
          <p:cNvPr id="23" name="Text 21"/>
          <p:cNvSpPr/>
          <p:nvPr/>
        </p:nvSpPr>
        <p:spPr>
          <a:xfrm>
            <a:off x="594360" y="5084064"/>
            <a:ext cx="1463040" cy="228600"/>
          </a:xfrm>
          <a:prstGeom prst="rect">
            <a:avLst/>
          </a:prstGeom>
          <a:noFill/>
          <a:ln/>
        </p:spPr>
        <p:txBody>
          <a:bodyPr wrap="square" rtlCol="0" anchor="ctr"/>
          <a:lstStyle/>
          <a:p>
            <a:pPr indent="0" marL="0">
              <a:buNone/>
            </a:pPr>
            <a:r>
              <a:rPr lang="en-US" sz="950" b="1" spc="100" kern="0" dirty="0">
                <a:solidFill>
                  <a:srgbClr val="2E6F9E"/>
                </a:solidFill>
                <a:latin typeface="Calibri" pitchFamily="34" charset="0"/>
                <a:ea typeface="Calibri" pitchFamily="34" charset="-122"/>
                <a:cs typeface="Calibri" pitchFamily="34" charset="-120"/>
              </a:rPr>
              <a:t>AVAL</a:t>
            </a:r>
            <a:endParaRPr lang="en-US" sz="950" dirty="0"/>
          </a:p>
        </p:txBody>
      </p:sp>
      <p:sp>
        <p:nvSpPr>
          <p:cNvPr id="24" name="Text 22"/>
          <p:cNvSpPr/>
          <p:nvPr/>
        </p:nvSpPr>
        <p:spPr>
          <a:xfrm>
            <a:off x="594360" y="5285232"/>
            <a:ext cx="5120640" cy="274320"/>
          </a:xfrm>
          <a:prstGeom prst="rect">
            <a:avLst/>
          </a:prstGeom>
          <a:noFill/>
          <a:ln/>
        </p:spPr>
        <p:txBody>
          <a:bodyPr wrap="square" rtlCol="0" anchor="t"/>
          <a:lstStyle/>
          <a:p>
            <a:pPr indent="0" marL="0">
              <a:buNone/>
            </a:pPr>
            <a:r>
              <a:rPr lang="en-US" sz="1100" dirty="0">
                <a:solidFill>
                  <a:srgbClr val="1F2733"/>
                </a:solidFill>
                <a:latin typeface="Calibri" pitchFamily="34" charset="0"/>
                <a:ea typeface="Calibri" pitchFamily="34" charset="-122"/>
                <a:cs typeface="Calibri" pitchFamily="34" charset="-120"/>
              </a:rPr>
              <a:t>moyenne des tokens → tête linéaire (gauche / droite)</a:t>
            </a:r>
            <a:endParaRPr lang="en-US" sz="1100" dirty="0"/>
          </a:p>
        </p:txBody>
      </p:sp>
      <p:sp>
        <p:nvSpPr>
          <p:cNvPr id="25" name="Text 23"/>
          <p:cNvSpPr/>
          <p:nvPr/>
        </p:nvSpPr>
        <p:spPr>
          <a:xfrm>
            <a:off x="6263640" y="1143000"/>
            <a:ext cx="5468112" cy="274320"/>
          </a:xfrm>
          <a:prstGeom prst="rect">
            <a:avLst/>
          </a:prstGeom>
          <a:noFill/>
          <a:ln/>
        </p:spPr>
        <p:txBody>
          <a:bodyPr wrap="square" rtlCol="0" anchor="ctr"/>
          <a:lstStyle/>
          <a:p>
            <a:pPr indent="0" marL="0">
              <a:buNone/>
            </a:pPr>
            <a:r>
              <a:rPr lang="en-US" sz="1000" b="1" spc="100" kern="0" dirty="0">
                <a:solidFill>
                  <a:srgbClr val="A23B2B"/>
                </a:solidFill>
                <a:latin typeface="Calibri" pitchFamily="34" charset="0"/>
                <a:ea typeface="Calibri" pitchFamily="34" charset="-122"/>
                <a:cs typeface="Calibri" pitchFamily="34" charset="-120"/>
              </a:rPr>
              <a:t>PRÉ-ENTRAÎNEMENT EN DEUX TEMPS (ce qui diffère de ST-EEGFormer)</a:t>
            </a:r>
            <a:endParaRPr lang="en-US" sz="1000" dirty="0"/>
          </a:p>
        </p:txBody>
      </p:sp>
      <p:sp>
        <p:nvSpPr>
          <p:cNvPr id="26" name="Shape 24"/>
          <p:cNvSpPr/>
          <p:nvPr/>
        </p:nvSpPr>
        <p:spPr>
          <a:xfrm>
            <a:off x="6263640" y="1463040"/>
            <a:ext cx="5468112" cy="2148840"/>
          </a:xfrm>
          <a:prstGeom prst="roundRect">
            <a:avLst>
              <a:gd name="adj" fmla="val 2553"/>
            </a:avLst>
          </a:prstGeom>
          <a:solidFill>
            <a:srgbClr val="F7E7E3"/>
          </a:solidFill>
          <a:ln w="12700">
            <a:solidFill>
              <a:srgbClr val="A23B2B"/>
            </a:solidFill>
            <a:prstDash val="solid"/>
          </a:ln>
        </p:spPr>
      </p:sp>
      <p:sp>
        <p:nvSpPr>
          <p:cNvPr id="27" name="Text 25"/>
          <p:cNvSpPr/>
          <p:nvPr/>
        </p:nvSpPr>
        <p:spPr>
          <a:xfrm>
            <a:off x="6373368" y="1554480"/>
            <a:ext cx="384048" cy="384048"/>
          </a:xfrm>
          <a:prstGeom prst="ellipse">
            <a:avLst/>
          </a:prstGeom>
          <a:solidFill>
            <a:srgbClr val="A23B2B"/>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①</a:t>
            </a:r>
            <a:endParaRPr lang="en-US" sz="1600" dirty="0"/>
          </a:p>
        </p:txBody>
      </p:sp>
      <p:sp>
        <p:nvSpPr>
          <p:cNvPr id="28" name="Text 26"/>
          <p:cNvSpPr/>
          <p:nvPr/>
        </p:nvSpPr>
        <p:spPr>
          <a:xfrm>
            <a:off x="6830568" y="1554480"/>
            <a:ext cx="4782312" cy="274320"/>
          </a:xfrm>
          <a:prstGeom prst="rect">
            <a:avLst/>
          </a:prstGeom>
          <a:noFill/>
          <a:ln/>
        </p:spPr>
        <p:txBody>
          <a:bodyPr wrap="square" rtlCol="0" anchor="ctr"/>
          <a:lstStyle/>
          <a:p>
            <a:pPr indent="0" marL="0">
              <a:buNone/>
            </a:pPr>
            <a:r>
              <a:rPr lang="en-US" sz="1000" b="1" spc="100" kern="0" dirty="0">
                <a:solidFill>
                  <a:srgbClr val="A23B2B"/>
                </a:solidFill>
                <a:latin typeface="Calibri" pitchFamily="34" charset="0"/>
                <a:ea typeface="Calibri" pitchFamily="34" charset="-122"/>
                <a:cs typeface="Calibri" pitchFamily="34" charset="-120"/>
              </a:rPr>
              <a:t>APPRENDRE LE TOKENISEUR (VQ)</a:t>
            </a:r>
            <a:endParaRPr lang="en-US" sz="1000" dirty="0"/>
          </a:p>
        </p:txBody>
      </p:sp>
      <p:sp>
        <p:nvSpPr>
          <p:cNvPr id="29" name="Text 27"/>
          <p:cNvSpPr/>
          <p:nvPr/>
        </p:nvSpPr>
        <p:spPr>
          <a:xfrm>
            <a:off x="6400800" y="1965960"/>
            <a:ext cx="5193792" cy="155448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Un dictionnaire de plusieurs milliers de vecteurs (8 192 dans la configuration publiée). Chaque patch de 1 s est remplacé par le vecteur le plus proche : il devient un indice entier.</a:t>
            </a:r>
            <a:endParaRPr lang="en-US" sz="1150" dirty="0"/>
          </a:p>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Le dictionnaire est appris en reconstruisant non pas le signal brut mais son spectre de Fourier (amplitude + phase).</a:t>
            </a:r>
            <a:endParaRPr lang="en-US" sz="1150" dirty="0"/>
          </a:p>
        </p:txBody>
      </p:sp>
      <p:sp>
        <p:nvSpPr>
          <p:cNvPr id="30" name="Shape 28"/>
          <p:cNvSpPr/>
          <p:nvPr/>
        </p:nvSpPr>
        <p:spPr>
          <a:xfrm>
            <a:off x="6263640" y="3749040"/>
            <a:ext cx="5468112" cy="1874520"/>
          </a:xfrm>
          <a:prstGeom prst="roundRect">
            <a:avLst>
              <a:gd name="adj" fmla="val 2927"/>
            </a:avLst>
          </a:prstGeom>
          <a:solidFill>
            <a:srgbClr val="F7E7E3"/>
          </a:solidFill>
          <a:ln w="12700">
            <a:solidFill>
              <a:srgbClr val="A23B2B"/>
            </a:solidFill>
            <a:prstDash val="solid"/>
          </a:ln>
        </p:spPr>
      </p:sp>
      <p:sp>
        <p:nvSpPr>
          <p:cNvPr id="31" name="Text 29"/>
          <p:cNvSpPr/>
          <p:nvPr/>
        </p:nvSpPr>
        <p:spPr>
          <a:xfrm>
            <a:off x="6373368" y="3840480"/>
            <a:ext cx="384048" cy="384048"/>
          </a:xfrm>
          <a:prstGeom prst="ellipse">
            <a:avLst/>
          </a:prstGeom>
          <a:solidFill>
            <a:srgbClr val="A23B2B"/>
          </a:solid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②</a:t>
            </a:r>
            <a:endParaRPr lang="en-US" sz="1600" dirty="0"/>
          </a:p>
        </p:txBody>
      </p:sp>
      <p:sp>
        <p:nvSpPr>
          <p:cNvPr id="32" name="Text 30"/>
          <p:cNvSpPr/>
          <p:nvPr/>
        </p:nvSpPr>
        <p:spPr>
          <a:xfrm>
            <a:off x="6830568" y="3840480"/>
            <a:ext cx="4782312" cy="274320"/>
          </a:xfrm>
          <a:prstGeom prst="rect">
            <a:avLst/>
          </a:prstGeom>
          <a:noFill/>
          <a:ln/>
        </p:spPr>
        <p:txBody>
          <a:bodyPr wrap="square" rtlCol="0" anchor="ctr"/>
          <a:lstStyle/>
          <a:p>
            <a:pPr indent="0" marL="0">
              <a:buNone/>
            </a:pPr>
            <a:r>
              <a:rPr lang="en-US" sz="1000" b="1" spc="100" kern="0" dirty="0">
                <a:solidFill>
                  <a:srgbClr val="A23B2B"/>
                </a:solidFill>
                <a:latin typeface="Calibri" pitchFamily="34" charset="0"/>
                <a:ea typeface="Calibri" pitchFamily="34" charset="-122"/>
                <a:cs typeface="Calibri" pitchFamily="34" charset="-120"/>
              </a:rPr>
              <a:t>MODÉLISATION D’EEG MASQUÉ</a:t>
            </a:r>
            <a:endParaRPr lang="en-US" sz="1000" dirty="0"/>
          </a:p>
        </p:txBody>
      </p:sp>
      <p:sp>
        <p:nvSpPr>
          <p:cNvPr id="33" name="Text 31"/>
          <p:cNvSpPr/>
          <p:nvPr/>
        </p:nvSpPr>
        <p:spPr>
          <a:xfrm>
            <a:off x="6400800" y="4251960"/>
            <a:ext cx="5193792" cy="1280160"/>
          </a:xfrm>
          <a:prstGeom prst="rect">
            <a:avLst/>
          </a:prstGeom>
          <a:noFill/>
          <a:ln/>
        </p:spPr>
        <p:txBody>
          <a:bodyPr wrap="square" rtlCol="0" anchor="t"/>
          <a:lstStyle/>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Tokeniseur gelé. 50 % des patches sont masqués ; le transformeur prédit l’indice du code manquant.</a:t>
            </a:r>
            <a:endParaRPr lang="en-US" sz="1150" dirty="0"/>
          </a:p>
          <a:p>
            <a:pPr indent="0" marL="0">
              <a:spcAft>
                <a:spcPts val="200"/>
              </a:spcAft>
              <a:buNone/>
            </a:pPr>
            <a:r>
              <a:rPr lang="en-US" sz="1150" dirty="0">
                <a:solidFill>
                  <a:srgbClr val="1F2733"/>
                </a:solidFill>
                <a:latin typeface="Calibri" pitchFamily="34" charset="0"/>
                <a:ea typeface="Calibri" pitchFamily="34" charset="-122"/>
                <a:cs typeface="Calibri" pitchFamily="34" charset="-120"/>
              </a:rPr>
              <a:t>Perte : entropie croisée — une classification, pas une régression d’amplitudes.</a:t>
            </a:r>
            <a:endParaRPr lang="en-US" sz="1150" dirty="0"/>
          </a:p>
        </p:txBody>
      </p:sp>
      <p:sp>
        <p:nvSpPr>
          <p:cNvPr id="34" name="Shape 32"/>
          <p:cNvSpPr/>
          <p:nvPr/>
        </p:nvSpPr>
        <p:spPr>
          <a:xfrm>
            <a:off x="6263640" y="5760720"/>
            <a:ext cx="5468112" cy="594360"/>
          </a:xfrm>
          <a:prstGeom prst="roundRect">
            <a:avLst>
              <a:gd name="adj" fmla="val 7692"/>
            </a:avLst>
          </a:prstGeom>
          <a:solidFill>
            <a:srgbClr val="FFFFFF"/>
          </a:solidFill>
          <a:ln w="12700">
            <a:solidFill>
              <a:srgbClr val="C9D3DC"/>
            </a:solidFill>
            <a:prstDash val="solid"/>
          </a:ln>
        </p:spPr>
      </p:sp>
      <p:sp>
        <p:nvSpPr>
          <p:cNvPr id="35" name="Text 33"/>
          <p:cNvSpPr/>
          <p:nvPr/>
        </p:nvSpPr>
        <p:spPr>
          <a:xfrm>
            <a:off x="6373368" y="5779008"/>
            <a:ext cx="5248656" cy="566928"/>
          </a:xfrm>
          <a:prstGeom prst="rect">
            <a:avLst/>
          </a:prstGeom>
          <a:noFill/>
          <a:ln/>
        </p:spPr>
        <p:txBody>
          <a:bodyPr wrap="square" rtlCol="0" anchor="ctr"/>
          <a:lstStyle/>
          <a:p>
            <a:pPr indent="0" marL="0">
              <a:buNone/>
            </a:pPr>
            <a:r>
              <a:rPr lang="en-US" sz="1050" dirty="0">
                <a:solidFill>
                  <a:srgbClr val="1F2733"/>
                </a:solidFill>
                <a:latin typeface="Calibri" pitchFamily="34" charset="0"/>
                <a:ea typeface="Calibri" pitchFamily="34" charset="-122"/>
                <a:cs typeface="Calibri" pitchFamily="34" charset="-120"/>
              </a:rPr>
              <a:t>Pré-entraîné sur ≈ 2 500 h d’EEG (≈ 20 jeux publics). En aval, le tokeniseur est jeté : LaBraM devient, comme ST-EEGFormer, un encodeur continu surmonté d’une couche linéaire.</a:t>
            </a:r>
            <a:endParaRPr lang="en-US" sz="1050" dirty="0"/>
          </a:p>
        </p:txBody>
      </p:sp>
      <p:sp>
        <p:nvSpPr>
          <p:cNvPr id="36" name="Text 34"/>
          <p:cNvSpPr/>
          <p:nvPr/>
        </p:nvSpPr>
        <p:spPr>
          <a:xfrm>
            <a:off x="457200" y="6446520"/>
            <a:ext cx="11247120" cy="274320"/>
          </a:xfrm>
          <a:prstGeom prst="rect">
            <a:avLst/>
          </a:prstGeom>
          <a:noFill/>
          <a:ln/>
        </p:spPr>
        <p:txBody>
          <a:bodyPr wrap="square" rtlCol="0" anchor="ctr"/>
          <a:lstStyle/>
          <a:p>
            <a:pPr indent="0" marL="0">
              <a:buNone/>
            </a:pPr>
            <a:r>
              <a:rPr lang="en-US" sz="900" i="1" dirty="0">
                <a:solidFill>
                  <a:srgbClr val="5C6672"/>
                </a:solidFill>
                <a:latin typeface="Calibri" pitchFamily="34" charset="0"/>
                <a:ea typeface="Calibri" pitchFamily="34" charset="-122"/>
                <a:cs typeface="Calibri" pitchFamily="34" charset="-120"/>
              </a:rPr>
              <a:t>Valeurs de l’encodeur lues dans benchmark/neural_networks/models/labram.py (copie du dépôt officiel) ; pré-entraînement d’après Jiang et al., ICLR 2024.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F2733"/>
          </a:solidFill>
          <a:ln/>
        </p:spPr>
      </p:sp>
      <p:sp>
        <p:nvSpPr>
          <p:cNvPr id="3" name="Text 1"/>
          <p:cNvSpPr/>
          <p:nvPr/>
        </p:nvSpPr>
        <p:spPr>
          <a:xfrm>
            <a:off x="457200" y="109728"/>
            <a:ext cx="11247120" cy="45720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Les deux modèles point à point, sur nos données</a:t>
            </a:r>
            <a:endParaRPr lang="en-US" sz="2400" dirty="0"/>
          </a:p>
        </p:txBody>
      </p:sp>
      <p:sp>
        <p:nvSpPr>
          <p:cNvPr id="4" name="Text 2"/>
          <p:cNvSpPr/>
          <p:nvPr/>
        </p:nvSpPr>
        <p:spPr>
          <a:xfrm>
            <a:off x="457200" y="548640"/>
            <a:ext cx="11247120" cy="320040"/>
          </a:xfrm>
          <a:prstGeom prst="rect">
            <a:avLst/>
          </a:prstGeom>
          <a:noFill/>
          <a:ln/>
        </p:spPr>
        <p:txBody>
          <a:bodyPr wrap="square" rtlCol="0" anchor="ctr"/>
          <a:lstStyle/>
          <a:p>
            <a:pPr indent="0" marL="0">
              <a:buNone/>
            </a:pPr>
            <a:r>
              <a:rPr lang="en-US" sz="1300" dirty="0">
                <a:solidFill>
                  <a:srgbClr val="C7D2DD"/>
                </a:solidFill>
                <a:latin typeface="Calibri" pitchFamily="34" charset="0"/>
                <a:ea typeface="Calibri" pitchFamily="34" charset="-122"/>
                <a:cs typeface="Calibri" pitchFamily="34" charset="-120"/>
              </a:rPr>
              <a:t>Même fenêtre 8 s × 64 canaux — en rouge, la seule différence de fond : l’objectif de pré-entraînement</a:t>
            </a:r>
            <a:endParaRPr lang="en-US" sz="1300" dirty="0"/>
          </a:p>
        </p:txBody>
      </p:sp>
      <p:pic>
        <p:nvPicPr>
          <p:cNvPr id="5" name="Image 0" descr="C:\Users\maxim\OneDrive\Bureau\COURS\2021 2026 - INGÉ\2025 2026 - INGE3\STAGE\POUR LE STAGE\STEEGFormer\docs\rapport-esme-inge3\figures\fig_architectures_comparees.png">    </p:cNvPr>
          <p:cNvPicPr>
            <a:picLocks noChangeAspect="1"/>
          </p:cNvPicPr>
          <p:nvPr/>
        </p:nvPicPr>
        <p:blipFill>
          <a:blip r:embed="rId1"/>
          <a:stretch>
            <a:fillRect/>
          </a:stretch>
        </p:blipFill>
        <p:spPr>
          <a:xfrm>
            <a:off x="365760" y="1097280"/>
            <a:ext cx="6846094" cy="5257800"/>
          </a:xfrm>
          <a:prstGeom prst="rect">
            <a:avLst/>
          </a:prstGeom>
        </p:spPr>
      </p:pic>
      <p:sp>
        <p:nvSpPr>
          <p:cNvPr id="6" name="Shape 3"/>
          <p:cNvSpPr/>
          <p:nvPr/>
        </p:nvSpPr>
        <p:spPr>
          <a:xfrm>
            <a:off x="7498080" y="1097280"/>
            <a:ext cx="4251960" cy="1188720"/>
          </a:xfrm>
          <a:prstGeom prst="roundRect">
            <a:avLst>
              <a:gd name="adj" fmla="val 3846"/>
            </a:avLst>
          </a:prstGeom>
          <a:solidFill>
            <a:srgbClr val="EEF2F6"/>
          </a:solidFill>
          <a:ln w="12700">
            <a:solidFill>
              <a:srgbClr val="2E6F9E"/>
            </a:solidFill>
            <a:prstDash val="solid"/>
          </a:ln>
        </p:spPr>
      </p:sp>
      <p:sp>
        <p:nvSpPr>
          <p:cNvPr id="7" name="Text 4"/>
          <p:cNvSpPr/>
          <p:nvPr/>
        </p:nvSpPr>
        <p:spPr>
          <a:xfrm>
            <a:off x="7635240" y="1161288"/>
            <a:ext cx="3977640" cy="237744"/>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IDENTIQUE</a:t>
            </a:r>
            <a:endParaRPr lang="en-US" sz="1000" dirty="0"/>
          </a:p>
        </p:txBody>
      </p:sp>
      <p:sp>
        <p:nvSpPr>
          <p:cNvPr id="8" name="Text 5"/>
          <p:cNvSpPr/>
          <p:nvPr/>
        </p:nvSpPr>
        <p:spPr>
          <a:xfrm>
            <a:off x="7635240" y="1399032"/>
            <a:ext cx="3977640" cy="841248"/>
          </a:xfrm>
          <a:prstGeom prst="rect">
            <a:avLst/>
          </a:prstGeom>
          <a:noFill/>
          <a:ln/>
        </p:spPr>
        <p:txBody>
          <a:bodyPr wrap="square" rtlCol="0" anchor="t"/>
          <a:lstStyle/>
          <a:p>
            <a:pPr indent="0" marL="0">
              <a:buNone/>
            </a:pPr>
            <a:r>
              <a:rPr lang="en-US" sz="1050" dirty="0">
                <a:solidFill>
                  <a:srgbClr val="1F2733"/>
                </a:solidFill>
                <a:latin typeface="Calibri" pitchFamily="34" charset="0"/>
                <a:ea typeface="Calibri" pitchFamily="34" charset="-122"/>
                <a:cs typeface="Calibri" pitchFamily="34" charset="-120"/>
              </a:rPr>
              <a:t>La logique ViT : patch par canal, plongement, position, attention plate, moyenne, tête linéaire. En aval, les deux sont des encodeurs continus + une couche linéaire.</a:t>
            </a:r>
            <a:endParaRPr lang="en-US" sz="1050" dirty="0"/>
          </a:p>
        </p:txBody>
      </p:sp>
      <p:sp>
        <p:nvSpPr>
          <p:cNvPr id="9" name="Shape 6"/>
          <p:cNvSpPr/>
          <p:nvPr/>
        </p:nvSpPr>
        <p:spPr>
          <a:xfrm>
            <a:off x="7498080" y="2377440"/>
            <a:ext cx="4251960" cy="1371600"/>
          </a:xfrm>
          <a:prstGeom prst="roundRect">
            <a:avLst>
              <a:gd name="adj" fmla="val 3333"/>
            </a:avLst>
          </a:prstGeom>
          <a:solidFill>
            <a:srgbClr val="F7E7E3"/>
          </a:solidFill>
          <a:ln w="12700">
            <a:solidFill>
              <a:srgbClr val="A23B2B"/>
            </a:solidFill>
            <a:prstDash val="solid"/>
          </a:ln>
        </p:spPr>
      </p:sp>
      <p:sp>
        <p:nvSpPr>
          <p:cNvPr id="10" name="Text 7"/>
          <p:cNvSpPr/>
          <p:nvPr/>
        </p:nvSpPr>
        <p:spPr>
          <a:xfrm>
            <a:off x="7635240" y="2441448"/>
            <a:ext cx="3977640" cy="237744"/>
          </a:xfrm>
          <a:prstGeom prst="rect">
            <a:avLst/>
          </a:prstGeom>
          <a:noFill/>
          <a:ln/>
        </p:spPr>
        <p:txBody>
          <a:bodyPr wrap="square" rtlCol="0" anchor="ctr"/>
          <a:lstStyle/>
          <a:p>
            <a:pPr indent="0" marL="0">
              <a:buNone/>
            </a:pPr>
            <a:r>
              <a:rPr lang="en-US" sz="1000" b="1" spc="100" kern="0" dirty="0">
                <a:solidFill>
                  <a:srgbClr val="A23B2B"/>
                </a:solidFill>
                <a:latin typeface="Calibri" pitchFamily="34" charset="0"/>
                <a:ea typeface="Calibri" pitchFamily="34" charset="-122"/>
                <a:cs typeface="Calibri" pitchFamily="34" charset="-120"/>
              </a:rPr>
              <a:t>DIFFÈRE VRAIMENT</a:t>
            </a:r>
            <a:endParaRPr lang="en-US" sz="1000" dirty="0"/>
          </a:p>
        </p:txBody>
      </p:sp>
      <p:sp>
        <p:nvSpPr>
          <p:cNvPr id="11" name="Text 8"/>
          <p:cNvSpPr/>
          <p:nvPr/>
        </p:nvSpPr>
        <p:spPr>
          <a:xfrm>
            <a:off x="7635240" y="2679192"/>
            <a:ext cx="3977640" cy="1024128"/>
          </a:xfrm>
          <a:prstGeom prst="rect">
            <a:avLst/>
          </a:prstGeom>
          <a:noFill/>
          <a:ln/>
        </p:spPr>
        <p:txBody>
          <a:bodyPr wrap="square" rtlCol="0" anchor="t"/>
          <a:lstStyle/>
          <a:p>
            <a:pPr indent="0" marL="0">
              <a:buNone/>
            </a:pPr>
            <a:r>
              <a:rPr lang="en-US" sz="1050" dirty="0">
                <a:solidFill>
                  <a:srgbClr val="1F2733"/>
                </a:solidFill>
                <a:latin typeface="Calibri" pitchFamily="34" charset="0"/>
                <a:ea typeface="Calibri" pitchFamily="34" charset="-122"/>
                <a:cs typeface="Calibri" pitchFamily="34" charset="-120"/>
              </a:rPr>
              <a:t>La cible du pré-entraînement. ST-EEGFormer régresse les 16 amplitudes du patch (MSE, 75 % masqués). LaBraM classe l’indice d’un code appris sur le spectre (entropie croisée, 50 % masqués).</a:t>
            </a:r>
            <a:endParaRPr lang="en-US" sz="1050" dirty="0"/>
          </a:p>
        </p:txBody>
      </p:sp>
      <p:sp>
        <p:nvSpPr>
          <p:cNvPr id="12" name="Shape 9"/>
          <p:cNvSpPr/>
          <p:nvPr/>
        </p:nvSpPr>
        <p:spPr>
          <a:xfrm>
            <a:off x="7498080" y="3840480"/>
            <a:ext cx="4251960" cy="1143000"/>
          </a:xfrm>
          <a:prstGeom prst="roundRect">
            <a:avLst>
              <a:gd name="adj" fmla="val 4000"/>
            </a:avLst>
          </a:prstGeom>
          <a:solidFill>
            <a:srgbClr val="EEF2F6"/>
          </a:solidFill>
          <a:ln w="12700">
            <a:solidFill>
              <a:srgbClr val="2E6F9E"/>
            </a:solidFill>
            <a:prstDash val="solid"/>
          </a:ln>
        </p:spPr>
      </p:sp>
      <p:sp>
        <p:nvSpPr>
          <p:cNvPr id="13" name="Text 10"/>
          <p:cNvSpPr/>
          <p:nvPr/>
        </p:nvSpPr>
        <p:spPr>
          <a:xfrm>
            <a:off x="7635240" y="3904488"/>
            <a:ext cx="3977640" cy="237744"/>
          </a:xfrm>
          <a:prstGeom prst="rect">
            <a:avLst/>
          </a:prstGeom>
          <a:noFill/>
          <a:ln/>
        </p:spPr>
        <p:txBody>
          <a:bodyPr wrap="square" rtlCol="0" anchor="ctr"/>
          <a:lstStyle/>
          <a:p>
            <a:pPr indent="0" marL="0">
              <a:buNone/>
            </a:pPr>
            <a:r>
              <a:rPr lang="en-US" sz="1000" b="1" spc="100" kern="0" dirty="0">
                <a:solidFill>
                  <a:srgbClr val="2E6F9E"/>
                </a:solidFill>
                <a:latin typeface="Calibri" pitchFamily="34" charset="0"/>
                <a:ea typeface="Calibri" pitchFamily="34" charset="-122"/>
                <a:cs typeface="Calibri" pitchFamily="34" charset="-120"/>
              </a:rPr>
              <a:t>DIFFÈRE EN ÉCHELLE</a:t>
            </a:r>
            <a:endParaRPr lang="en-US" sz="1000" dirty="0"/>
          </a:p>
        </p:txBody>
      </p:sp>
      <p:sp>
        <p:nvSpPr>
          <p:cNvPr id="14" name="Text 11"/>
          <p:cNvSpPr/>
          <p:nvPr/>
        </p:nvSpPr>
        <p:spPr>
          <a:xfrm>
            <a:off x="7635240" y="4142232"/>
            <a:ext cx="3977640" cy="795528"/>
          </a:xfrm>
          <a:prstGeom prst="rect">
            <a:avLst/>
          </a:prstGeom>
          <a:noFill/>
          <a:ln/>
        </p:spPr>
        <p:txBody>
          <a:bodyPr wrap="square" rtlCol="0" anchor="t"/>
          <a:lstStyle/>
          <a:p>
            <a:pPr indent="0" marL="0">
              <a:buNone/>
            </a:pPr>
            <a:r>
              <a:rPr lang="en-US" sz="1050" dirty="0">
                <a:solidFill>
                  <a:srgbClr val="1F2733"/>
                </a:solidFill>
                <a:latin typeface="Calibri" pitchFamily="34" charset="0"/>
                <a:ea typeface="Calibri" pitchFamily="34" charset="-122"/>
                <a:cs typeface="Calibri" pitchFamily="34" charset="-120"/>
              </a:rPr>
              <a:t>≈ 302 M vs ≈ 5,8 M paramètres ; 4 096 vs 512 tokens ; patches de 125 ms vs 1 s. Deux régimes de résolution temporelle et de coût.</a:t>
            </a:r>
            <a:endParaRPr lang="en-US" sz="1050" dirty="0"/>
          </a:p>
        </p:txBody>
      </p:sp>
      <p:sp>
        <p:nvSpPr>
          <p:cNvPr id="15" name="Shape 12"/>
          <p:cNvSpPr/>
          <p:nvPr/>
        </p:nvSpPr>
        <p:spPr>
          <a:xfrm>
            <a:off x="7498080" y="5074920"/>
            <a:ext cx="4251960" cy="1325880"/>
          </a:xfrm>
          <a:prstGeom prst="roundRect">
            <a:avLst>
              <a:gd name="adj" fmla="val 3448"/>
            </a:avLst>
          </a:prstGeom>
          <a:solidFill>
            <a:srgbClr val="EEF2F6"/>
          </a:solidFill>
          <a:ln w="12700">
            <a:solidFill>
              <a:srgbClr val="1F3A5F"/>
            </a:solidFill>
            <a:prstDash val="solid"/>
          </a:ln>
        </p:spPr>
      </p:sp>
      <p:sp>
        <p:nvSpPr>
          <p:cNvPr id="16" name="Text 13"/>
          <p:cNvSpPr/>
          <p:nvPr/>
        </p:nvSpPr>
        <p:spPr>
          <a:xfrm>
            <a:off x="7635240" y="5138928"/>
            <a:ext cx="3977640" cy="237744"/>
          </a:xfrm>
          <a:prstGeom prst="rect">
            <a:avLst/>
          </a:prstGeom>
          <a:noFill/>
          <a:ln/>
        </p:spPr>
        <p:txBody>
          <a:bodyPr wrap="square" rtlCol="0" anchor="ctr"/>
          <a:lstStyle/>
          <a:p>
            <a:pPr indent="0" marL="0">
              <a:buNone/>
            </a:pPr>
            <a:r>
              <a:rPr lang="en-US" sz="1000" b="1" spc="100" kern="0" dirty="0">
                <a:solidFill>
                  <a:srgbClr val="1F3A5F"/>
                </a:solidFill>
                <a:latin typeface="Calibri" pitchFamily="34" charset="0"/>
                <a:ea typeface="Calibri" pitchFamily="34" charset="-122"/>
                <a:cs typeface="Calibri" pitchFamily="34" charset="-120"/>
              </a:rPr>
              <a:t>CE QUE ÇA IMPLIQUE</a:t>
            </a:r>
            <a:endParaRPr lang="en-US" sz="1000" dirty="0"/>
          </a:p>
        </p:txBody>
      </p:sp>
      <p:sp>
        <p:nvSpPr>
          <p:cNvPr id="17" name="Text 14"/>
          <p:cNvSpPr/>
          <p:nvPr/>
        </p:nvSpPr>
        <p:spPr>
          <a:xfrm>
            <a:off x="7635240" y="5376672"/>
            <a:ext cx="3977640" cy="978408"/>
          </a:xfrm>
          <a:prstGeom prst="rect">
            <a:avLst/>
          </a:prstGeom>
          <a:noFill/>
          <a:ln/>
        </p:spPr>
        <p:txBody>
          <a:bodyPr wrap="square" rtlCol="0" anchor="t"/>
          <a:lstStyle/>
          <a:p>
            <a:pPr indent="0" marL="0">
              <a:buNone/>
            </a:pPr>
            <a:r>
              <a:rPr lang="en-US" sz="1050" dirty="0">
                <a:solidFill>
                  <a:srgbClr val="1F2733"/>
                </a:solidFill>
                <a:latin typeface="Calibri" pitchFamily="34" charset="0"/>
                <a:ea typeface="Calibri" pitchFamily="34" charset="-122"/>
                <a:cs typeface="Calibri" pitchFamily="34" charset="-120"/>
              </a:rPr>
              <a:t>Sur notre tâche, les deux arrivent à ≈ 62 % en population : cohérent avec Yang et al. — le fine-tuning efface une grande part de la spécialisation du pré-entraînement.</a:t>
            </a:r>
            <a:endParaRPr lang="en-US" sz="1050" dirty="0"/>
          </a:p>
        </p:txBody>
      </p:sp>
      <p:sp>
        <p:nvSpPr>
          <p:cNvPr id="18" name="Text 15"/>
          <p:cNvSpPr/>
          <p:nvPr/>
        </p:nvSpPr>
        <p:spPr>
          <a:xfrm>
            <a:off x="457200" y="6446520"/>
            <a:ext cx="11247120" cy="274320"/>
          </a:xfrm>
          <a:prstGeom prst="rect">
            <a:avLst/>
          </a:prstGeom>
          <a:noFill/>
          <a:ln/>
        </p:spPr>
        <p:txBody>
          <a:bodyPr wrap="square" rtlCol="0" anchor="ctr"/>
          <a:lstStyle/>
          <a:p>
            <a:pPr indent="0" marL="0">
              <a:buNone/>
            </a:pPr>
            <a:r>
              <a:rPr lang="en-US" sz="900" i="1" dirty="0">
                <a:solidFill>
                  <a:srgbClr val="5C6672"/>
                </a:solidFill>
                <a:latin typeface="Calibri" pitchFamily="34" charset="0"/>
                <a:ea typeface="Calibri" pitchFamily="34" charset="-122"/>
                <a:cs typeface="Calibri" pitchFamily="34" charset="-120"/>
              </a:rPr>
              <a:t>Figure 3.2 du rapport ESME (docs/rapport-esme-inge3/make_fig_architectures.py). Population 43 sujets : ST-EEGFormer 61,66 %, LaBraM ≈ 62 % (Liz), hasard 50 %.</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ESME — architectures ST-EEGFormer / LaBraM</dc:title>
  <dc:subject>PptxGenJS Presentation</dc:subject>
  <dc:creator>Maxime Lacombe</dc:creator>
  <cp:lastModifiedBy>Maxime Lacombe</cp:lastModifiedBy>
  <cp:revision>1</cp:revision>
  <dcterms:created xsi:type="dcterms:W3CDTF">2026-09-10T07:21:44Z</dcterms:created>
  <dcterms:modified xsi:type="dcterms:W3CDTF">2026-09-10T07:21:44Z</dcterms:modified>
</cp:coreProperties>
</file>