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3213" autoAdjust="0"/>
  </p:normalViewPr>
  <p:slideViewPr>
    <p:cSldViewPr snapToGrid="0" snapToObjects="1">
      <p:cViewPr varScale="1">
        <p:scale>
          <a:sx n="51" d="100"/>
          <a:sy n="51" d="100"/>
        </p:scale>
        <p:origin x="23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e Lacombe" userId="8ac2f16f4ca8bfbc" providerId="LiveId" clId="{C7131637-2EE4-4B03-97C5-A3AB2667F11B}"/>
    <pc:docChg chg="undo custSel modSld">
      <pc:chgData name="Maxime Lacombe" userId="8ac2f16f4ca8bfbc" providerId="LiveId" clId="{C7131637-2EE4-4B03-97C5-A3AB2667F11B}" dt="2026-07-22T06:29:50.894" v="58" actId="20577"/>
      <pc:docMkLst>
        <pc:docMk/>
      </pc:docMkLst>
      <pc:sldChg chg="delSp modSp mod modNotesTx">
        <pc:chgData name="Maxime Lacombe" userId="8ac2f16f4ca8bfbc" providerId="LiveId" clId="{C7131637-2EE4-4B03-97C5-A3AB2667F11B}" dt="2026-07-22T06:25:34.108" v="54" actId="20577"/>
        <pc:sldMkLst>
          <pc:docMk/>
          <pc:sldMk cId="0" sldId="256"/>
        </pc:sldMkLst>
        <pc:spChg chg="mod">
          <ac:chgData name="Maxime Lacombe" userId="8ac2f16f4ca8bfbc" providerId="LiveId" clId="{C7131637-2EE4-4B03-97C5-A3AB2667F11B}" dt="2026-07-22T06:22:43.275" v="19" actId="1076"/>
          <ac:spMkLst>
            <pc:docMk/>
            <pc:sldMk cId="0" sldId="256"/>
            <ac:spMk id="4" creationId="{00000000-0000-0000-0000-000000000000}"/>
          </ac:spMkLst>
        </pc:spChg>
        <pc:spChg chg="del">
          <ac:chgData name="Maxime Lacombe" userId="8ac2f16f4ca8bfbc" providerId="LiveId" clId="{C7131637-2EE4-4B03-97C5-A3AB2667F11B}" dt="2026-07-22T06:22:18.741" v="0" actId="478"/>
          <ac:spMkLst>
            <pc:docMk/>
            <pc:sldMk cId="0" sldId="256"/>
            <ac:spMk id="5" creationId="{00000000-0000-0000-0000-000000000000}"/>
          </ac:spMkLst>
        </pc:spChg>
        <pc:spChg chg="del">
          <ac:chgData name="Maxime Lacombe" userId="8ac2f16f4ca8bfbc" providerId="LiveId" clId="{C7131637-2EE4-4B03-97C5-A3AB2667F11B}" dt="2026-07-22T06:22:23.236" v="1" actId="478"/>
          <ac:spMkLst>
            <pc:docMk/>
            <pc:sldMk cId="0" sldId="256"/>
            <ac:spMk id="6" creationId="{00000000-0000-0000-0000-000000000000}"/>
          </ac:spMkLst>
        </pc:spChg>
        <pc:spChg chg="del">
          <ac:chgData name="Maxime Lacombe" userId="8ac2f16f4ca8bfbc" providerId="LiveId" clId="{C7131637-2EE4-4B03-97C5-A3AB2667F11B}" dt="2026-07-22T06:22:24.443" v="2" actId="478"/>
          <ac:spMkLst>
            <pc:docMk/>
            <pc:sldMk cId="0" sldId="256"/>
            <ac:spMk id="7" creationId="{00000000-0000-0000-0000-000000000000}"/>
          </ac:spMkLst>
        </pc:spChg>
        <pc:spChg chg="del">
          <ac:chgData name="Maxime Lacombe" userId="8ac2f16f4ca8bfbc" providerId="LiveId" clId="{C7131637-2EE4-4B03-97C5-A3AB2667F11B}" dt="2026-07-22T06:22:26.808" v="3" actId="478"/>
          <ac:spMkLst>
            <pc:docMk/>
            <pc:sldMk cId="0" sldId="256"/>
            <ac:spMk id="8" creationId="{00000000-0000-0000-0000-000000000000}"/>
          </ac:spMkLst>
        </pc:spChg>
      </pc:sldChg>
      <pc:sldChg chg="modNotesTx">
        <pc:chgData name="Maxime Lacombe" userId="8ac2f16f4ca8bfbc" providerId="LiveId" clId="{C7131637-2EE4-4B03-97C5-A3AB2667F11B}" dt="2026-07-22T06:25:52.590" v="55" actId="20577"/>
        <pc:sldMkLst>
          <pc:docMk/>
          <pc:sldMk cId="0" sldId="257"/>
        </pc:sldMkLst>
      </pc:sldChg>
      <pc:sldChg chg="modSp mod modNotesTx">
        <pc:chgData name="Maxime Lacombe" userId="8ac2f16f4ca8bfbc" providerId="LiveId" clId="{C7131637-2EE4-4B03-97C5-A3AB2667F11B}" dt="2026-07-22T06:29:50.894" v="58" actId="20577"/>
        <pc:sldMkLst>
          <pc:docMk/>
          <pc:sldMk cId="0" sldId="258"/>
        </pc:sldMkLst>
        <pc:spChg chg="mod">
          <ac:chgData name="Maxime Lacombe" userId="8ac2f16f4ca8bfbc" providerId="LiveId" clId="{C7131637-2EE4-4B03-97C5-A3AB2667F11B}" dt="2026-07-22T06:22:55.791" v="23" actId="20577"/>
          <ac:spMkLst>
            <pc:docMk/>
            <pc:sldMk cId="0" sldId="258"/>
            <ac:spMk id="2" creationId="{00000000-0000-0000-0000-000000000000}"/>
          </ac:spMkLst>
        </pc:spChg>
      </pc:sldChg>
      <pc:sldChg chg="modSp mod">
        <pc:chgData name="Maxime Lacombe" userId="8ac2f16f4ca8bfbc" providerId="LiveId" clId="{C7131637-2EE4-4B03-97C5-A3AB2667F11B}" dt="2026-07-22T06:22:59.904" v="27" actId="20577"/>
        <pc:sldMkLst>
          <pc:docMk/>
          <pc:sldMk cId="0" sldId="259"/>
        </pc:sldMkLst>
        <pc:spChg chg="mod">
          <ac:chgData name="Maxime Lacombe" userId="8ac2f16f4ca8bfbc" providerId="LiveId" clId="{C7131637-2EE4-4B03-97C5-A3AB2667F11B}" dt="2026-07-22T06:22:59.904" v="27" actId="20577"/>
          <ac:spMkLst>
            <pc:docMk/>
            <pc:sldMk cId="0" sldId="259"/>
            <ac:spMk id="2" creationId="{00000000-0000-0000-0000-000000000000}"/>
          </ac:spMkLst>
        </pc:spChg>
      </pc:sldChg>
      <pc:sldChg chg="modSp mod">
        <pc:chgData name="Maxime Lacombe" userId="8ac2f16f4ca8bfbc" providerId="LiveId" clId="{C7131637-2EE4-4B03-97C5-A3AB2667F11B}" dt="2026-07-22T06:23:03.708" v="31" actId="20577"/>
        <pc:sldMkLst>
          <pc:docMk/>
          <pc:sldMk cId="0" sldId="260"/>
        </pc:sldMkLst>
        <pc:spChg chg="mod">
          <ac:chgData name="Maxime Lacombe" userId="8ac2f16f4ca8bfbc" providerId="LiveId" clId="{C7131637-2EE4-4B03-97C5-A3AB2667F11B}" dt="2026-07-22T06:23:03.708" v="31" actId="20577"/>
          <ac:spMkLst>
            <pc:docMk/>
            <pc:sldMk cId="0" sldId="260"/>
            <ac:spMk id="2" creationId="{00000000-0000-0000-0000-000000000000}"/>
          </ac:spMkLst>
        </pc:spChg>
      </pc:sldChg>
      <pc:sldChg chg="modSp mod">
        <pc:chgData name="Maxime Lacombe" userId="8ac2f16f4ca8bfbc" providerId="LiveId" clId="{C7131637-2EE4-4B03-97C5-A3AB2667F11B}" dt="2026-07-22T06:23:07.943" v="35" actId="20577"/>
        <pc:sldMkLst>
          <pc:docMk/>
          <pc:sldMk cId="0" sldId="261"/>
        </pc:sldMkLst>
        <pc:spChg chg="mod">
          <ac:chgData name="Maxime Lacombe" userId="8ac2f16f4ca8bfbc" providerId="LiveId" clId="{C7131637-2EE4-4B03-97C5-A3AB2667F11B}" dt="2026-07-22T06:23:07.943" v="35" actId="20577"/>
          <ac:spMkLst>
            <pc:docMk/>
            <pc:sldMk cId="0" sldId="261"/>
            <ac:spMk id="2" creationId="{00000000-0000-0000-0000-000000000000}"/>
          </ac:spMkLst>
        </pc:spChg>
      </pc:sldChg>
      <pc:sldChg chg="modSp mod">
        <pc:chgData name="Maxime Lacombe" userId="8ac2f16f4ca8bfbc" providerId="LiveId" clId="{C7131637-2EE4-4B03-97C5-A3AB2667F11B}" dt="2026-07-22T06:23:12.258" v="39" actId="20577"/>
        <pc:sldMkLst>
          <pc:docMk/>
          <pc:sldMk cId="0" sldId="262"/>
        </pc:sldMkLst>
        <pc:spChg chg="mod">
          <ac:chgData name="Maxime Lacombe" userId="8ac2f16f4ca8bfbc" providerId="LiveId" clId="{C7131637-2EE4-4B03-97C5-A3AB2667F11B}" dt="2026-07-22T06:23:12.258" v="39" actId="20577"/>
          <ac:spMkLst>
            <pc:docMk/>
            <pc:sldMk cId="0" sldId="262"/>
            <ac:spMk id="2" creationId="{00000000-0000-0000-0000-000000000000}"/>
          </ac:spMkLst>
        </pc:spChg>
      </pc:sldChg>
      <pc:sldChg chg="modSp mod">
        <pc:chgData name="Maxime Lacombe" userId="8ac2f16f4ca8bfbc" providerId="LiveId" clId="{C7131637-2EE4-4B03-97C5-A3AB2667F11B}" dt="2026-07-22T06:23:25.571" v="43" actId="20577"/>
        <pc:sldMkLst>
          <pc:docMk/>
          <pc:sldMk cId="0" sldId="263"/>
        </pc:sldMkLst>
        <pc:spChg chg="mod">
          <ac:chgData name="Maxime Lacombe" userId="8ac2f16f4ca8bfbc" providerId="LiveId" clId="{C7131637-2EE4-4B03-97C5-A3AB2667F11B}" dt="2026-07-22T06:23:25.571" v="43" actId="20577"/>
          <ac:spMkLst>
            <pc:docMk/>
            <pc:sldMk cId="0" sldId="263"/>
            <ac:spMk id="2" creationId="{00000000-0000-0000-0000-000000000000}"/>
          </ac:spMkLst>
        </pc:spChg>
      </pc:sldChg>
      <pc:sldChg chg="modSp mod">
        <pc:chgData name="Maxime Lacombe" userId="8ac2f16f4ca8bfbc" providerId="LiveId" clId="{C7131637-2EE4-4B03-97C5-A3AB2667F11B}" dt="2026-07-22T06:23:41.215" v="47" actId="20577"/>
        <pc:sldMkLst>
          <pc:docMk/>
          <pc:sldMk cId="0" sldId="264"/>
        </pc:sldMkLst>
        <pc:spChg chg="mod">
          <ac:chgData name="Maxime Lacombe" userId="8ac2f16f4ca8bfbc" providerId="LiveId" clId="{C7131637-2EE4-4B03-97C5-A3AB2667F11B}" dt="2026-07-22T06:23:41.215" v="47" actId="20577"/>
          <ac:spMkLst>
            <pc:docMk/>
            <pc:sldMk cId="0" sldId="264"/>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02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and thank you all for coming.
My name is Maxime Lacombe. I am a research intern in the Ishii Laboratory since April 2026.
The title of this seminar is Evaluating ST-</a:t>
            </a:r>
            <a:r>
              <a:rPr lang="en-US" dirty="0" err="1"/>
              <a:t>EEGFormer</a:t>
            </a:r>
            <a:r>
              <a:rPr lang="en-US" dirty="0"/>
              <a:t> on the Lab Spatial-Attention Task. Today I will present my progress.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organization of the presentation. 
First, Motivation. Second, Objective. Third, Related work: only the key papers that guide this project, not a full literature review. Fourth, Method. Fifth, Results and next steps, then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start with the motivation. There are three points on this slide.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EEG-based brain-computer interfaces. EEG is attractive because it is non-invasive and relatively affordable. But it is also difficult: the signal-to-noise ratio is low, and the signal changes a lot from one subject to another, and even from one session to another. That variability is the core practical problem.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user-independent decoding. In classical BCI, each new user often needs a long calibration before the system works. In this laboratory, the goal is to move toward models that transfer across subjects, with little or no per-user calibration.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Third, EEG foundation models. Large pretrained models such as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 are proposed as a possible answer. But we cannot assume they work: we must evaluate them carefully on real laboratory data — which is what my internship focuses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states the objective of the internship.
The main objective is to evaluate ST-EEGFormer on the ATR spatial-attention dataset and to compare it with LaBraM on the same task.
The model is ST-EEGFormer-large, a Vision Transformer with about three hundred and three million parameters, pretrained. The task is left versus right spatial attention: two classes, chance level fifty percent. The protocols are population, which is completed, and leave-one-subject-out, which is in progress. The references are Liz's LaBraM results and a classical LDA baseline.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key papers for this project — the same idea as Liz, but only four references, not a full literature review.
First, Yang and colleagues, twenty twenty-six: Are EEG Foundation Models Worth It? This is the main benchmark paper. It includes Figure G.2 and motivates evaluating ST-EEGFormer with fine-tuning protocols.
Second, Jiang and colleagues, twenty twenty-four: LaBraM, the Large Brain Model. This is Liz's model and our comparison target on the same laboratory data.
Third, Morioka and colleagues, twenty fourteen: the spatial-attention paradigm used in the lab, with eight-second attention windows and left versus right decoding.
Fourth, the critical review of EEG foundation models that I presented to the laboratory in April. That survey provided the context for later choosing ST-EEGFormer.
I do not review every paper read this semester. Papers such as POYO were useful early tooling context; Liz already covered that line in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comparison setup in the laboratory.
On the left, Maxime: I evaluate ST-EEGFormer. My work covers the evaluation pipeline and the population and LOSO protocols.
In the middle, Liz: she evaluates LaBraM. She provided the reference preprocessing. Her reported results are about sixty-two percent for population-style evaluation and about sixty-two percent for LOSO.
On the right, the shared ground: the same dataset, the same forty-three subjects, aligned preprocessing, and comparable protocols.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dataset and the task.
The task is covert left versus right spatial attention. Chance level is fifty percent. There are forty-three subjects. The attention epoch lasts eight seconds at two hundred and fifty-six hertz — that length comes from the laboratory paradigm, not from an arbitrary choice. There are sixty-eight EEG channels; sixty-four are used for the Vision Transformer after excluding EOG. The paradigm follows Morioka and colleagues, twenty fourteen.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method: preprocessing and training protocol.
On the left, preprocessing, aligned with Liz. We use eight-second attention windows resampled to two hundred and fifty-six hertz, average reference, band-pass filtering, a sixty-hertz notch, and baseline correction, on all forty-three subjects. As a classical check, an LDA baseline reaches fifty-five point seven percent on this processed data.
On the right, fine-tuning for ST-EEGFormer. We start from the pretrained Vision Transformer backbone. Layer decay is set to one, so the full backbone adapts. Mix-up is set to zero. The learning rate is three times ten to the minus four, with five warmup epochs, fifty training epochs, and batch size four. The same recipe is used for the population protocol and for LOSO.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the population protocol on forty-three subjects.
Chance is fifty percent. LDA reaches fifty-five point seven percent. ST-EEGFormer reaches sixty-one point seven percent — sixty-one point six six in the logs. LaBraM, from Liz, is about sixty-two percent.
ST-EEGFormer is comparable to LaBraM, above LDA, and clearly above chance. I describe this as a comparable population-style evaluation on the same dataset.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leave-one-subject-out, or LOSO — the next protocol after population.
For each of the forty-three subjects, I train on the other forty-two for fifty epochs, finetune on the held-out subject for thirty epochs, then evaluate. This is a stricter test of subject transfer.
Liz already reported LaBraM LOSO on all forty-three subjects: sixty-one point eight plus or minus twelve point four percent. My ST-EEGFormer LOSO is still running. I will not present a partial mean today, because a small early subset is not comparable to a full forty-three-fold result.
The solid claim for this seminar remains the population comparison at sixty-one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next steps.
First, finish the full LOSO on all forty-three folds and report mean and standard deviation versus LaBraM. Second, optionally run a lighter Liz-style LOSO with a frozen backbone and fewer epochs, for a fairer speed comparison. Third, commit the reproducible pipeline.
That closes the scientific part of the talk.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À LIRE À VOIX HAUTE (anglais) ===
Thank you. Questions are welcome. We have five minutes.
Summary: on the population protocol, ST-EEGFormer reaches sixty-one point seven percent, comparable to LaBraM at about sixty-two percent, and above LDA at fifty-five point seven percent. Leave-one-subject-out is the next step; I will report the full mean when all forty-three folds are complete. I am happy to take questions.
=== AIDE Q&amp;A (français — pour toi) ===
DÉFINITIONS COURTES
• Population 61.7% ≈ LaBraM ~62% ← résultat principal du talk.
• LOSO : en cours, pas de mean affiché (évite N=7 trompeur).
• Liz LOSO full 43 : 61.8 ± 12.4%.
• LDA 55.7% · chance 50% · 43 sujets.
★★ POURQUOI 8 SECONDES ? (question déjà posée à Liz) ★★
Q: Why only / why as long as 8 seconds of brain activity?
A (anglais): We are not recording only eight seconds of a whole experiment. In the Morioka spatial-attention paradigm, each block has an Attention epoch of eight seconds and a Control epoch of four seconds. The eight seconds is the designed sustained-attention period of the task — the neural signature we decode. A session has many such blocks (for example twelve left and twelve right attention epochs). So eight seconds is the analysis window per trial, not the total recording length.
Si on dit « trop long pour du BCI temps réel »: This evaluation is offline decoding of the lab paradigm, not a low-latency click-every-100-ms interface. Real-time BCI could use shorter windows later; here we match the published task.
★★ AUTRES QUESTIONS ★★
Q: Why no full LOSO yet?
A: ST-EEGFormer-large (~303M) with full-backbone fine-tuning is much heavier per fold than Liz’s lighter LaBraM LOSO+FT. Population is the completed head-to-head today; LOSO mean comes when all 43 folds finish.
Q: Why not show partial LOSO?
A: A small early subset is not comparable to Liz’s full 43-fold mean — better wait for the complete result.
Q: Is population easier?
A: Different question. Population = completed comparison on same data. LOSO = stricter user-independence test (next).
Config: layer_decay 1.0, mix_up 0, lr 3e-4, 50 ep. LDA = classical check.
Si tu bloques → « Good question — that is on the next-step list.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3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554480"/>
            <a:ext cx="10515600" cy="320040"/>
          </a:xfrm>
          <a:prstGeom prst="rect">
            <a:avLst/>
          </a:prstGeom>
          <a:noFill/>
          <a:ln/>
        </p:spPr>
        <p:txBody>
          <a:bodyPr wrap="square" lIns="0" tIns="0" rIns="0" bIns="0" rtlCol="0" anchor="ctr"/>
          <a:lstStyle/>
          <a:p>
            <a:pPr marL="0" indent="0">
              <a:buNone/>
            </a:pPr>
            <a:r>
              <a:rPr lang="en-US" sz="1300" b="1" kern="0" spc="150" dirty="0">
                <a:solidFill>
                  <a:srgbClr val="B0B8C1"/>
                </a:solidFill>
                <a:latin typeface="Calibri" pitchFamily="34" charset="0"/>
                <a:ea typeface="Calibri" pitchFamily="34" charset="-122"/>
                <a:cs typeface="Calibri" pitchFamily="34" charset="-120"/>
              </a:rPr>
              <a:t>ISHII LABORATORY  ·  KYOTO UNIVERSITY / ATR</a:t>
            </a:r>
            <a:endParaRPr lang="en-US" sz="1300" dirty="0"/>
          </a:p>
        </p:txBody>
      </p:sp>
      <p:sp>
        <p:nvSpPr>
          <p:cNvPr id="4" name="Text 2"/>
          <p:cNvSpPr/>
          <p:nvPr/>
        </p:nvSpPr>
        <p:spPr>
          <a:xfrm>
            <a:off x="777240" y="2649415"/>
            <a:ext cx="10515600" cy="128016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Evaluating ST-EEGFormer on the</a:t>
            </a:r>
            <a:r>
              <a:rPr lang="en-US" sz="5400" dirty="0"/>
              <a:t> </a:t>
            </a:r>
            <a:r>
              <a:rPr lang="en-US" sz="5400" b="1" dirty="0">
                <a:solidFill>
                  <a:srgbClr val="FFFFFF"/>
                </a:solidFill>
                <a:latin typeface="Georgia" pitchFamily="34" charset="0"/>
                <a:ea typeface="Georgia" pitchFamily="34" charset="-122"/>
                <a:cs typeface="Georgia" pitchFamily="34" charset="-120"/>
              </a:rPr>
              <a:t>Lab Spatial-Attention Task</a:t>
            </a:r>
            <a:endParaRPr lang="en-US" sz="5400" dirty="0"/>
          </a:p>
        </p:txBody>
      </p:sp>
      <p:sp>
        <p:nvSpPr>
          <p:cNvPr id="10" name="Shape 7"/>
          <p:cNvSpPr/>
          <p:nvPr/>
        </p:nvSpPr>
        <p:spPr>
          <a:xfrm>
            <a:off x="640080" y="6400800"/>
            <a:ext cx="10881360" cy="0"/>
          </a:xfrm>
          <a:prstGeom prst="line">
            <a:avLst/>
          </a:prstGeom>
          <a:noFill/>
          <a:ln w="9525">
            <a:solidFill>
              <a:srgbClr val="4B5563"/>
            </a:solidFill>
            <a:prstDash val="solid"/>
          </a:ln>
        </p:spPr>
      </p:sp>
      <p:sp>
        <p:nvSpPr>
          <p:cNvPr id="11" name="Text 8"/>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Maxime Lacombe  ·  Ishii Lab  ·  23 July 2026</a:t>
            </a:r>
            <a:endParaRPr lang="en-US" sz="1100" dirty="0"/>
          </a:p>
        </p:txBody>
      </p:sp>
      <p:sp>
        <p:nvSpPr>
          <p:cNvPr id="12" name="Text 9"/>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9CA3A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OUTLINE</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Organization of the presentation</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777240"/>
          </a:xfrm>
          <a:prstGeom prst="rect">
            <a:avLst/>
          </a:prstGeom>
          <a:solidFill>
            <a:srgbClr val="FFFFFF"/>
          </a:solidFill>
          <a:ln w="12700">
            <a:solidFill>
              <a:srgbClr val="D0D5DB"/>
            </a:solidFill>
            <a:prstDash val="solid"/>
          </a:ln>
        </p:spPr>
      </p:sp>
      <p:sp>
        <p:nvSpPr>
          <p:cNvPr id="6" name="Text 4"/>
          <p:cNvSpPr/>
          <p:nvPr/>
        </p:nvSpPr>
        <p:spPr>
          <a:xfrm>
            <a:off x="914400" y="160020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645920" y="160020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Motivation</a:t>
            </a:r>
            <a:endParaRPr lang="en-US" sz="1800" dirty="0"/>
          </a:p>
        </p:txBody>
      </p:sp>
      <p:sp>
        <p:nvSpPr>
          <p:cNvPr id="8" name="Text 6"/>
          <p:cNvSpPr/>
          <p:nvPr/>
        </p:nvSpPr>
        <p:spPr>
          <a:xfrm>
            <a:off x="5943600" y="160020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Why EEG foundation models and this task</a:t>
            </a:r>
            <a:endParaRPr lang="en-US" sz="1500" dirty="0"/>
          </a:p>
        </p:txBody>
      </p:sp>
      <p:sp>
        <p:nvSpPr>
          <p:cNvPr id="9" name="Shape 7"/>
          <p:cNvSpPr/>
          <p:nvPr/>
        </p:nvSpPr>
        <p:spPr>
          <a:xfrm>
            <a:off x="640080" y="2286000"/>
            <a:ext cx="10881360" cy="777240"/>
          </a:xfrm>
          <a:prstGeom prst="rect">
            <a:avLst/>
          </a:prstGeom>
          <a:solidFill>
            <a:srgbClr val="FFFFFF"/>
          </a:solidFill>
          <a:ln w="12700">
            <a:solidFill>
              <a:srgbClr val="D0D5DB"/>
            </a:solidFill>
            <a:prstDash val="solid"/>
          </a:ln>
        </p:spPr>
      </p:sp>
      <p:sp>
        <p:nvSpPr>
          <p:cNvPr id="10" name="Text 8"/>
          <p:cNvSpPr/>
          <p:nvPr/>
        </p:nvSpPr>
        <p:spPr>
          <a:xfrm>
            <a:off x="914400" y="246888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645920" y="246888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Objective</a:t>
            </a:r>
            <a:endParaRPr lang="en-US" sz="1800" dirty="0"/>
          </a:p>
        </p:txBody>
      </p:sp>
      <p:sp>
        <p:nvSpPr>
          <p:cNvPr id="12" name="Text 10"/>
          <p:cNvSpPr/>
          <p:nvPr/>
        </p:nvSpPr>
        <p:spPr>
          <a:xfrm>
            <a:off x="5943600" y="246888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What this internship evaluates</a:t>
            </a:r>
            <a:endParaRPr lang="en-US" sz="1500" dirty="0"/>
          </a:p>
        </p:txBody>
      </p:sp>
      <p:sp>
        <p:nvSpPr>
          <p:cNvPr id="13" name="Shape 11"/>
          <p:cNvSpPr/>
          <p:nvPr/>
        </p:nvSpPr>
        <p:spPr>
          <a:xfrm>
            <a:off x="640080" y="3154680"/>
            <a:ext cx="10881360" cy="777240"/>
          </a:xfrm>
          <a:prstGeom prst="rect">
            <a:avLst/>
          </a:prstGeom>
          <a:solidFill>
            <a:srgbClr val="FFFFFF"/>
          </a:solidFill>
          <a:ln w="12700">
            <a:solidFill>
              <a:srgbClr val="D0D5DB"/>
            </a:solidFill>
            <a:prstDash val="solid"/>
          </a:ln>
        </p:spPr>
      </p:sp>
      <p:sp>
        <p:nvSpPr>
          <p:cNvPr id="14" name="Text 12"/>
          <p:cNvSpPr/>
          <p:nvPr/>
        </p:nvSpPr>
        <p:spPr>
          <a:xfrm>
            <a:off x="914400" y="333756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3</a:t>
            </a:r>
            <a:endParaRPr lang="en-US" sz="2000" dirty="0"/>
          </a:p>
        </p:txBody>
      </p:sp>
      <p:sp>
        <p:nvSpPr>
          <p:cNvPr id="15" name="Text 13"/>
          <p:cNvSpPr/>
          <p:nvPr/>
        </p:nvSpPr>
        <p:spPr>
          <a:xfrm>
            <a:off x="1645920" y="333756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Related work</a:t>
            </a:r>
            <a:endParaRPr lang="en-US" sz="1800" dirty="0"/>
          </a:p>
        </p:txBody>
      </p:sp>
      <p:sp>
        <p:nvSpPr>
          <p:cNvPr id="16" name="Text 14"/>
          <p:cNvSpPr/>
          <p:nvPr/>
        </p:nvSpPr>
        <p:spPr>
          <a:xfrm>
            <a:off x="5943600" y="333756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Key papers that guide this project</a:t>
            </a:r>
            <a:endParaRPr lang="en-US" sz="1500" dirty="0"/>
          </a:p>
        </p:txBody>
      </p:sp>
      <p:sp>
        <p:nvSpPr>
          <p:cNvPr id="17" name="Shape 15"/>
          <p:cNvSpPr/>
          <p:nvPr/>
        </p:nvSpPr>
        <p:spPr>
          <a:xfrm>
            <a:off x="640080" y="4023360"/>
            <a:ext cx="10881360" cy="777240"/>
          </a:xfrm>
          <a:prstGeom prst="rect">
            <a:avLst/>
          </a:prstGeom>
          <a:solidFill>
            <a:srgbClr val="FFFFFF"/>
          </a:solidFill>
          <a:ln w="12700">
            <a:solidFill>
              <a:srgbClr val="D0D5DB"/>
            </a:solidFill>
            <a:prstDash val="solid"/>
          </a:ln>
        </p:spPr>
      </p:sp>
      <p:sp>
        <p:nvSpPr>
          <p:cNvPr id="18" name="Text 16"/>
          <p:cNvSpPr/>
          <p:nvPr/>
        </p:nvSpPr>
        <p:spPr>
          <a:xfrm>
            <a:off x="914400" y="420624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4</a:t>
            </a:r>
            <a:endParaRPr lang="en-US" sz="2000" dirty="0"/>
          </a:p>
        </p:txBody>
      </p:sp>
      <p:sp>
        <p:nvSpPr>
          <p:cNvPr id="19" name="Text 17"/>
          <p:cNvSpPr/>
          <p:nvPr/>
        </p:nvSpPr>
        <p:spPr>
          <a:xfrm>
            <a:off x="1645920" y="420624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Method</a:t>
            </a:r>
            <a:endParaRPr lang="en-US" sz="1800" dirty="0"/>
          </a:p>
        </p:txBody>
      </p:sp>
      <p:sp>
        <p:nvSpPr>
          <p:cNvPr id="20" name="Text 18"/>
          <p:cNvSpPr/>
          <p:nvPr/>
        </p:nvSpPr>
        <p:spPr>
          <a:xfrm>
            <a:off x="5943600" y="420624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Dataset, preprocessing, model, training</a:t>
            </a:r>
            <a:endParaRPr lang="en-US" sz="1500" dirty="0"/>
          </a:p>
        </p:txBody>
      </p:sp>
      <p:sp>
        <p:nvSpPr>
          <p:cNvPr id="21" name="Shape 19"/>
          <p:cNvSpPr/>
          <p:nvPr/>
        </p:nvSpPr>
        <p:spPr>
          <a:xfrm>
            <a:off x="640080" y="4892040"/>
            <a:ext cx="10881360" cy="777240"/>
          </a:xfrm>
          <a:prstGeom prst="rect">
            <a:avLst/>
          </a:prstGeom>
          <a:solidFill>
            <a:srgbClr val="FFFFFF"/>
          </a:solidFill>
          <a:ln w="12700">
            <a:solidFill>
              <a:srgbClr val="D0D5DB"/>
            </a:solidFill>
            <a:prstDash val="solid"/>
          </a:ln>
        </p:spPr>
      </p:sp>
      <p:sp>
        <p:nvSpPr>
          <p:cNvPr id="22" name="Text 20"/>
          <p:cNvSpPr/>
          <p:nvPr/>
        </p:nvSpPr>
        <p:spPr>
          <a:xfrm>
            <a:off x="914400" y="507492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5</a:t>
            </a:r>
            <a:endParaRPr lang="en-US" sz="2000" dirty="0"/>
          </a:p>
        </p:txBody>
      </p:sp>
      <p:sp>
        <p:nvSpPr>
          <p:cNvPr id="23" name="Text 21"/>
          <p:cNvSpPr/>
          <p:nvPr/>
        </p:nvSpPr>
        <p:spPr>
          <a:xfrm>
            <a:off x="1645920" y="507492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Results &amp; next steps</a:t>
            </a:r>
            <a:endParaRPr lang="en-US" sz="1800" dirty="0"/>
          </a:p>
        </p:txBody>
      </p:sp>
      <p:sp>
        <p:nvSpPr>
          <p:cNvPr id="24" name="Text 22"/>
          <p:cNvSpPr/>
          <p:nvPr/>
        </p:nvSpPr>
        <p:spPr>
          <a:xfrm>
            <a:off x="5943600" y="507492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Population 61.7% · LOSO next · questions</a:t>
            </a:r>
            <a:endParaRPr lang="en-US" sz="1500" dirty="0"/>
          </a:p>
        </p:txBody>
      </p:sp>
      <p:sp>
        <p:nvSpPr>
          <p:cNvPr id="26" name="Shape 23"/>
          <p:cNvSpPr/>
          <p:nvPr/>
        </p:nvSpPr>
        <p:spPr>
          <a:xfrm>
            <a:off x="640080" y="6400800"/>
            <a:ext cx="10881360" cy="0"/>
          </a:xfrm>
          <a:prstGeom prst="line">
            <a:avLst/>
          </a:prstGeom>
          <a:noFill/>
          <a:ln w="9525">
            <a:solidFill>
              <a:srgbClr val="D0D5DB"/>
            </a:solidFill>
            <a:prstDash val="solid"/>
          </a:ln>
        </p:spPr>
      </p:sp>
      <p:sp>
        <p:nvSpPr>
          <p:cNvPr id="27" name="Text 24"/>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8" name="Text 25"/>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1 - MOTIVATION</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Why this problem matters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1280160"/>
          </a:xfrm>
          <a:prstGeom prst="rect">
            <a:avLst/>
          </a:prstGeom>
          <a:solidFill>
            <a:srgbClr val="FFFFFF"/>
          </a:solidFill>
          <a:ln w="12700">
            <a:solidFill>
              <a:srgbClr val="D0D5DB"/>
            </a:solidFill>
            <a:prstDash val="solid"/>
          </a:ln>
        </p:spPr>
      </p:sp>
      <p:sp>
        <p:nvSpPr>
          <p:cNvPr id="6" name="Shape 4"/>
          <p:cNvSpPr/>
          <p:nvPr/>
        </p:nvSpPr>
        <p:spPr>
          <a:xfrm>
            <a:off x="640080" y="1417320"/>
            <a:ext cx="109728" cy="1280160"/>
          </a:xfrm>
          <a:prstGeom prst="rect">
            <a:avLst/>
          </a:prstGeom>
          <a:solidFill>
            <a:srgbClr val="1F3A5F"/>
          </a:solidFill>
          <a:ln/>
        </p:spPr>
      </p:sp>
      <p:sp>
        <p:nvSpPr>
          <p:cNvPr id="7" name="Text 5"/>
          <p:cNvSpPr/>
          <p:nvPr/>
        </p:nvSpPr>
        <p:spPr>
          <a:xfrm>
            <a:off x="1051560" y="169164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828800" y="164592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EEG-based BCI</a:t>
            </a:r>
            <a:endParaRPr lang="en-US" sz="1800" dirty="0"/>
          </a:p>
        </p:txBody>
      </p:sp>
      <p:sp>
        <p:nvSpPr>
          <p:cNvPr id="9" name="Text 7"/>
          <p:cNvSpPr/>
          <p:nvPr/>
        </p:nvSpPr>
        <p:spPr>
          <a:xfrm>
            <a:off x="1828800" y="210312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Non-invasive and affordable, but low signal-to-noise ratio and strong variability across subjects and sessions.</a:t>
            </a:r>
            <a:endParaRPr lang="en-US" sz="1500" dirty="0"/>
          </a:p>
        </p:txBody>
      </p:sp>
      <p:sp>
        <p:nvSpPr>
          <p:cNvPr id="10" name="Shape 8"/>
          <p:cNvSpPr/>
          <p:nvPr/>
        </p:nvSpPr>
        <p:spPr>
          <a:xfrm>
            <a:off x="640080" y="2834640"/>
            <a:ext cx="10881360" cy="1280160"/>
          </a:xfrm>
          <a:prstGeom prst="rect">
            <a:avLst/>
          </a:prstGeom>
          <a:solidFill>
            <a:srgbClr val="FFFFFF"/>
          </a:solidFill>
          <a:ln w="12700">
            <a:solidFill>
              <a:srgbClr val="D0D5DB"/>
            </a:solidFill>
            <a:prstDash val="solid"/>
          </a:ln>
        </p:spPr>
      </p:sp>
      <p:sp>
        <p:nvSpPr>
          <p:cNvPr id="11" name="Shape 9"/>
          <p:cNvSpPr/>
          <p:nvPr/>
        </p:nvSpPr>
        <p:spPr>
          <a:xfrm>
            <a:off x="640080" y="2834640"/>
            <a:ext cx="109728" cy="1280160"/>
          </a:xfrm>
          <a:prstGeom prst="rect">
            <a:avLst/>
          </a:prstGeom>
          <a:solidFill>
            <a:srgbClr val="1F3A5F"/>
          </a:solidFill>
          <a:ln/>
        </p:spPr>
      </p:sp>
      <p:sp>
        <p:nvSpPr>
          <p:cNvPr id="12" name="Text 10"/>
          <p:cNvSpPr/>
          <p:nvPr/>
        </p:nvSpPr>
        <p:spPr>
          <a:xfrm>
            <a:off x="1051560" y="310896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1828800" y="306324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User-independent decoding</a:t>
            </a:r>
            <a:endParaRPr lang="en-US" sz="1800" dirty="0"/>
          </a:p>
        </p:txBody>
      </p:sp>
      <p:sp>
        <p:nvSpPr>
          <p:cNvPr id="14" name="Text 12"/>
          <p:cNvSpPr/>
          <p:nvPr/>
        </p:nvSpPr>
        <p:spPr>
          <a:xfrm>
            <a:off x="1828800" y="352044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Classical BCI often needs long per-user calibration. The laboratory aims at models that transfer across subjects.</a:t>
            </a:r>
            <a:endParaRPr lang="en-US" sz="1500" dirty="0"/>
          </a:p>
        </p:txBody>
      </p:sp>
      <p:sp>
        <p:nvSpPr>
          <p:cNvPr id="15" name="Shape 13"/>
          <p:cNvSpPr/>
          <p:nvPr/>
        </p:nvSpPr>
        <p:spPr>
          <a:xfrm>
            <a:off x="640080" y="4251960"/>
            <a:ext cx="10881360" cy="1280160"/>
          </a:xfrm>
          <a:prstGeom prst="rect">
            <a:avLst/>
          </a:prstGeom>
          <a:solidFill>
            <a:srgbClr val="FFFFFF"/>
          </a:solidFill>
          <a:ln w="12700">
            <a:solidFill>
              <a:srgbClr val="D0D5DB"/>
            </a:solidFill>
            <a:prstDash val="solid"/>
          </a:ln>
        </p:spPr>
      </p:sp>
      <p:sp>
        <p:nvSpPr>
          <p:cNvPr id="16" name="Shape 14"/>
          <p:cNvSpPr/>
          <p:nvPr/>
        </p:nvSpPr>
        <p:spPr>
          <a:xfrm>
            <a:off x="640080" y="4251960"/>
            <a:ext cx="109728" cy="1280160"/>
          </a:xfrm>
          <a:prstGeom prst="rect">
            <a:avLst/>
          </a:prstGeom>
          <a:solidFill>
            <a:srgbClr val="1F3A5F"/>
          </a:solidFill>
          <a:ln/>
        </p:spPr>
      </p:sp>
      <p:sp>
        <p:nvSpPr>
          <p:cNvPr id="17" name="Text 15"/>
          <p:cNvSpPr/>
          <p:nvPr/>
        </p:nvSpPr>
        <p:spPr>
          <a:xfrm>
            <a:off x="1051560" y="452628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1828800" y="448056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EEG foundation models</a:t>
            </a:r>
            <a:endParaRPr lang="en-US" sz="1800" dirty="0"/>
          </a:p>
        </p:txBody>
      </p:sp>
      <p:sp>
        <p:nvSpPr>
          <p:cNvPr id="19" name="Text 17"/>
          <p:cNvSpPr/>
          <p:nvPr/>
        </p:nvSpPr>
        <p:spPr>
          <a:xfrm>
            <a:off x="1828800" y="493776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Pretrained models such as ST-EEGFormer and LaBraM may help — they must be evaluated on real laboratory data.</a:t>
            </a:r>
            <a:endParaRPr lang="en-US" sz="1500" dirty="0"/>
          </a:p>
        </p:txBody>
      </p:sp>
      <p:sp>
        <p:nvSpPr>
          <p:cNvPr id="21" name="Shape 18"/>
          <p:cNvSpPr/>
          <p:nvPr/>
        </p:nvSpPr>
        <p:spPr>
          <a:xfrm>
            <a:off x="640080" y="6400800"/>
            <a:ext cx="10881360" cy="0"/>
          </a:xfrm>
          <a:prstGeom prst="line">
            <a:avLst/>
          </a:prstGeom>
          <a:noFill/>
          <a:ln w="9525">
            <a:solidFill>
              <a:srgbClr val="D0D5DB"/>
            </a:solidFill>
            <a:prstDash val="solid"/>
          </a:ln>
        </p:spPr>
      </p:sp>
      <p:sp>
        <p:nvSpPr>
          <p:cNvPr id="22" name="Text 19"/>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3" name="Text 20"/>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2 - OBJECTIVE</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What this internship evaluates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10881360" cy="1554480"/>
          </a:xfrm>
          <a:prstGeom prst="rect">
            <a:avLst/>
          </a:prstGeom>
          <a:solidFill>
            <a:srgbClr val="2C3338"/>
          </a:solidFill>
          <a:ln w="12700">
            <a:solidFill>
              <a:srgbClr val="D0D5DB"/>
            </a:solidFill>
            <a:prstDash val="solid"/>
          </a:ln>
        </p:spPr>
      </p:sp>
      <p:sp>
        <p:nvSpPr>
          <p:cNvPr id="6" name="Text 4"/>
          <p:cNvSpPr/>
          <p:nvPr/>
        </p:nvSpPr>
        <p:spPr>
          <a:xfrm>
            <a:off x="914400" y="1554480"/>
            <a:ext cx="1033272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Main objective</a:t>
            </a:r>
            <a:endParaRPr lang="en-US" sz="1200" dirty="0"/>
          </a:p>
        </p:txBody>
      </p:sp>
      <p:sp>
        <p:nvSpPr>
          <p:cNvPr id="7" name="Text 5"/>
          <p:cNvSpPr/>
          <p:nvPr/>
        </p:nvSpPr>
        <p:spPr>
          <a:xfrm>
            <a:off x="914400" y="1965960"/>
            <a:ext cx="10332720" cy="685800"/>
          </a:xfrm>
          <a:prstGeom prst="rect">
            <a:avLst/>
          </a:prstGeom>
          <a:noFill/>
          <a:ln/>
        </p:spPr>
        <p:txBody>
          <a:bodyPr wrap="square" lIns="0" tIns="0" rIns="0" bIns="0" rtlCol="0" anchor="ctr"/>
          <a:lstStyle/>
          <a:p>
            <a:pPr marL="0" indent="0">
              <a:buNone/>
            </a:pPr>
            <a:r>
              <a:rPr lang="en-US" sz="2000" dirty="0">
                <a:solidFill>
                  <a:srgbClr val="FFFFFF"/>
                </a:solidFill>
                <a:latin typeface="Georgia" pitchFamily="34" charset="0"/>
                <a:ea typeface="Georgia" pitchFamily="34" charset="-122"/>
                <a:cs typeface="Georgia" pitchFamily="34" charset="-120"/>
              </a:rPr>
              <a:t>Evaluate ST-EEGFormer on the ATR spatial-attention dataset and compare it with LaBraM on the same task.</a:t>
            </a:r>
            <a:endParaRPr lang="en-US" sz="2000" dirty="0"/>
          </a:p>
        </p:txBody>
      </p:sp>
      <p:sp>
        <p:nvSpPr>
          <p:cNvPr id="8" name="Shape 6"/>
          <p:cNvSpPr/>
          <p:nvPr/>
        </p:nvSpPr>
        <p:spPr>
          <a:xfrm>
            <a:off x="640080" y="3200400"/>
            <a:ext cx="5394960" cy="1234440"/>
          </a:xfrm>
          <a:prstGeom prst="rect">
            <a:avLst/>
          </a:prstGeom>
          <a:solidFill>
            <a:srgbClr val="FFFFFF"/>
          </a:solidFill>
          <a:ln w="12700">
            <a:solidFill>
              <a:srgbClr val="D0D5DB"/>
            </a:solidFill>
            <a:prstDash val="solid"/>
          </a:ln>
        </p:spPr>
      </p:sp>
      <p:sp>
        <p:nvSpPr>
          <p:cNvPr id="9" name="Text 7"/>
          <p:cNvSpPr/>
          <p:nvPr/>
        </p:nvSpPr>
        <p:spPr>
          <a:xfrm>
            <a:off x="914400" y="34290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MODEL</a:t>
            </a:r>
            <a:endParaRPr lang="en-US" sz="1100" dirty="0"/>
          </a:p>
        </p:txBody>
      </p:sp>
      <p:sp>
        <p:nvSpPr>
          <p:cNvPr id="10" name="Text 8"/>
          <p:cNvSpPr/>
          <p:nvPr/>
        </p:nvSpPr>
        <p:spPr>
          <a:xfrm>
            <a:off x="914400" y="37947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ST-EEGFormer-large (ViT, ~303M parameters, pretrained)</a:t>
            </a:r>
            <a:endParaRPr lang="en-US" sz="1500" dirty="0"/>
          </a:p>
        </p:txBody>
      </p:sp>
      <p:sp>
        <p:nvSpPr>
          <p:cNvPr id="11" name="Shape 9"/>
          <p:cNvSpPr/>
          <p:nvPr/>
        </p:nvSpPr>
        <p:spPr>
          <a:xfrm>
            <a:off x="6217920" y="3200400"/>
            <a:ext cx="5394960" cy="1234440"/>
          </a:xfrm>
          <a:prstGeom prst="rect">
            <a:avLst/>
          </a:prstGeom>
          <a:solidFill>
            <a:srgbClr val="FFFFFF"/>
          </a:solidFill>
          <a:ln w="12700">
            <a:solidFill>
              <a:srgbClr val="D0D5DB"/>
            </a:solidFill>
            <a:prstDash val="solid"/>
          </a:ln>
        </p:spPr>
      </p:sp>
      <p:sp>
        <p:nvSpPr>
          <p:cNvPr id="12" name="Text 10"/>
          <p:cNvSpPr/>
          <p:nvPr/>
        </p:nvSpPr>
        <p:spPr>
          <a:xfrm>
            <a:off x="6492240" y="34290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TASK</a:t>
            </a:r>
            <a:endParaRPr lang="en-US" sz="1100" dirty="0"/>
          </a:p>
        </p:txBody>
      </p:sp>
      <p:sp>
        <p:nvSpPr>
          <p:cNvPr id="13" name="Text 11"/>
          <p:cNvSpPr/>
          <p:nvPr/>
        </p:nvSpPr>
        <p:spPr>
          <a:xfrm>
            <a:off x="6492240" y="37947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Left vs right spatial attention (2 classes, chance = 50%)</a:t>
            </a:r>
            <a:endParaRPr lang="en-US" sz="1500" dirty="0"/>
          </a:p>
        </p:txBody>
      </p:sp>
      <p:sp>
        <p:nvSpPr>
          <p:cNvPr id="14" name="Shape 12"/>
          <p:cNvSpPr/>
          <p:nvPr/>
        </p:nvSpPr>
        <p:spPr>
          <a:xfrm>
            <a:off x="640080" y="4572000"/>
            <a:ext cx="5394960" cy="1234440"/>
          </a:xfrm>
          <a:prstGeom prst="rect">
            <a:avLst/>
          </a:prstGeom>
          <a:solidFill>
            <a:srgbClr val="FFFFFF"/>
          </a:solidFill>
          <a:ln w="12700">
            <a:solidFill>
              <a:srgbClr val="D0D5DB"/>
            </a:solidFill>
            <a:prstDash val="solid"/>
          </a:ln>
        </p:spPr>
      </p:sp>
      <p:sp>
        <p:nvSpPr>
          <p:cNvPr id="15" name="Text 13"/>
          <p:cNvSpPr/>
          <p:nvPr/>
        </p:nvSpPr>
        <p:spPr>
          <a:xfrm>
            <a:off x="914400" y="48006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PROTOCOLS</a:t>
            </a:r>
            <a:endParaRPr lang="en-US" sz="1100" dirty="0"/>
          </a:p>
        </p:txBody>
      </p:sp>
      <p:sp>
        <p:nvSpPr>
          <p:cNvPr id="16" name="Text 14"/>
          <p:cNvSpPr/>
          <p:nvPr/>
        </p:nvSpPr>
        <p:spPr>
          <a:xfrm>
            <a:off x="914400" y="51663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Population (completed) · LOSO (in progress)</a:t>
            </a:r>
            <a:endParaRPr lang="en-US" sz="1500" dirty="0"/>
          </a:p>
        </p:txBody>
      </p:sp>
      <p:sp>
        <p:nvSpPr>
          <p:cNvPr id="17" name="Shape 15"/>
          <p:cNvSpPr/>
          <p:nvPr/>
        </p:nvSpPr>
        <p:spPr>
          <a:xfrm>
            <a:off x="6217920" y="4572000"/>
            <a:ext cx="5394960" cy="1234440"/>
          </a:xfrm>
          <a:prstGeom prst="rect">
            <a:avLst/>
          </a:prstGeom>
          <a:solidFill>
            <a:srgbClr val="FFFFFF"/>
          </a:solidFill>
          <a:ln w="12700">
            <a:solidFill>
              <a:srgbClr val="D0D5DB"/>
            </a:solidFill>
            <a:prstDash val="solid"/>
          </a:ln>
        </p:spPr>
      </p:sp>
      <p:sp>
        <p:nvSpPr>
          <p:cNvPr id="18" name="Text 16"/>
          <p:cNvSpPr/>
          <p:nvPr/>
        </p:nvSpPr>
        <p:spPr>
          <a:xfrm>
            <a:off x="6492240" y="48006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REFERENCES</a:t>
            </a:r>
            <a:endParaRPr lang="en-US" sz="1100" dirty="0"/>
          </a:p>
        </p:txBody>
      </p:sp>
      <p:sp>
        <p:nvSpPr>
          <p:cNvPr id="19" name="Text 17"/>
          <p:cNvSpPr/>
          <p:nvPr/>
        </p:nvSpPr>
        <p:spPr>
          <a:xfrm>
            <a:off x="6492240" y="51663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LaBraM (Liz) · LDA classical baseline</a:t>
            </a:r>
            <a:endParaRPr lang="en-US" sz="1500" dirty="0"/>
          </a:p>
        </p:txBody>
      </p:sp>
      <p:sp>
        <p:nvSpPr>
          <p:cNvPr id="21" name="Shape 18"/>
          <p:cNvSpPr/>
          <p:nvPr/>
        </p:nvSpPr>
        <p:spPr>
          <a:xfrm>
            <a:off x="640080" y="6400800"/>
            <a:ext cx="10881360" cy="0"/>
          </a:xfrm>
          <a:prstGeom prst="line">
            <a:avLst/>
          </a:prstGeom>
          <a:noFill/>
          <a:ln w="9525">
            <a:solidFill>
              <a:srgbClr val="D0D5DB"/>
            </a:solidFill>
            <a:prstDash val="solid"/>
          </a:ln>
        </p:spPr>
      </p:sp>
      <p:sp>
        <p:nvSpPr>
          <p:cNvPr id="22" name="Text 19"/>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3" name="Text 20"/>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3 - RELATED WORK</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Key papers for this project</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25880"/>
            <a:ext cx="10881360" cy="1051560"/>
          </a:xfrm>
          <a:prstGeom prst="rect">
            <a:avLst/>
          </a:prstGeom>
          <a:solidFill>
            <a:srgbClr val="FFFFFF"/>
          </a:solidFill>
          <a:ln w="12700">
            <a:solidFill>
              <a:srgbClr val="D0D5DB"/>
            </a:solidFill>
            <a:prstDash val="solid"/>
          </a:ln>
        </p:spPr>
      </p:sp>
      <p:sp>
        <p:nvSpPr>
          <p:cNvPr id="6" name="Text 4"/>
          <p:cNvSpPr/>
          <p:nvPr/>
        </p:nvSpPr>
        <p:spPr>
          <a:xfrm>
            <a:off x="868680" y="1463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Yang et al., 2026</a:t>
            </a:r>
            <a:endParaRPr lang="en-US" sz="1200" dirty="0"/>
          </a:p>
        </p:txBody>
      </p:sp>
      <p:sp>
        <p:nvSpPr>
          <p:cNvPr id="7" name="Text 5"/>
          <p:cNvSpPr/>
          <p:nvPr/>
        </p:nvSpPr>
        <p:spPr>
          <a:xfrm>
            <a:off x="868680" y="1709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Are EEG Foundation Models Worth It?</a:t>
            </a:r>
            <a:endParaRPr lang="en-US" sz="1500" dirty="0"/>
          </a:p>
        </p:txBody>
      </p:sp>
      <p:sp>
        <p:nvSpPr>
          <p:cNvPr id="8" name="Text 6"/>
          <p:cNvSpPr/>
          <p:nvPr/>
        </p:nvSpPr>
        <p:spPr>
          <a:xfrm>
            <a:off x="868680" y="2011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Benchmark + Figure G.2 · why we evaluate ST-EEGFormer with fine-tuning protocols</a:t>
            </a:r>
            <a:endParaRPr lang="en-US" sz="1300" dirty="0"/>
          </a:p>
        </p:txBody>
      </p:sp>
      <p:sp>
        <p:nvSpPr>
          <p:cNvPr id="9" name="Shape 7"/>
          <p:cNvSpPr/>
          <p:nvPr/>
        </p:nvSpPr>
        <p:spPr>
          <a:xfrm>
            <a:off x="640080" y="2468880"/>
            <a:ext cx="10881360" cy="1051560"/>
          </a:xfrm>
          <a:prstGeom prst="rect">
            <a:avLst/>
          </a:prstGeom>
          <a:solidFill>
            <a:srgbClr val="FFFFFF"/>
          </a:solidFill>
          <a:ln w="12700">
            <a:solidFill>
              <a:srgbClr val="D0D5DB"/>
            </a:solidFill>
            <a:prstDash val="solid"/>
          </a:ln>
        </p:spPr>
      </p:sp>
      <p:sp>
        <p:nvSpPr>
          <p:cNvPr id="10" name="Text 8"/>
          <p:cNvSpPr/>
          <p:nvPr/>
        </p:nvSpPr>
        <p:spPr>
          <a:xfrm>
            <a:off x="868680" y="2606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Jiang et al., 2024</a:t>
            </a:r>
            <a:endParaRPr lang="en-US" sz="1200" dirty="0"/>
          </a:p>
        </p:txBody>
      </p:sp>
      <p:sp>
        <p:nvSpPr>
          <p:cNvPr id="11" name="Text 9"/>
          <p:cNvSpPr/>
          <p:nvPr/>
        </p:nvSpPr>
        <p:spPr>
          <a:xfrm>
            <a:off x="868680" y="2852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LaBraM — Large Brain Model</a:t>
            </a:r>
            <a:endParaRPr lang="en-US" sz="1500" dirty="0"/>
          </a:p>
        </p:txBody>
      </p:sp>
      <p:sp>
        <p:nvSpPr>
          <p:cNvPr id="12" name="Text 10"/>
          <p:cNvSpPr/>
          <p:nvPr/>
        </p:nvSpPr>
        <p:spPr>
          <a:xfrm>
            <a:off x="868680" y="3154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Liz's model · the comparison target on the same lab data</a:t>
            </a:r>
            <a:endParaRPr lang="en-US" sz="1300" dirty="0"/>
          </a:p>
        </p:txBody>
      </p:sp>
      <p:sp>
        <p:nvSpPr>
          <p:cNvPr id="13" name="Shape 11"/>
          <p:cNvSpPr/>
          <p:nvPr/>
        </p:nvSpPr>
        <p:spPr>
          <a:xfrm>
            <a:off x="640080" y="3611880"/>
            <a:ext cx="10881360" cy="1051560"/>
          </a:xfrm>
          <a:prstGeom prst="rect">
            <a:avLst/>
          </a:prstGeom>
          <a:solidFill>
            <a:srgbClr val="FFFFFF"/>
          </a:solidFill>
          <a:ln w="12700">
            <a:solidFill>
              <a:srgbClr val="D0D5DB"/>
            </a:solidFill>
            <a:prstDash val="solid"/>
          </a:ln>
        </p:spPr>
      </p:sp>
      <p:sp>
        <p:nvSpPr>
          <p:cNvPr id="14" name="Text 12"/>
          <p:cNvSpPr/>
          <p:nvPr/>
        </p:nvSpPr>
        <p:spPr>
          <a:xfrm>
            <a:off x="868680" y="3749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Morioka et al., 2014</a:t>
            </a:r>
            <a:endParaRPr lang="en-US" sz="1200" dirty="0"/>
          </a:p>
        </p:txBody>
      </p:sp>
      <p:sp>
        <p:nvSpPr>
          <p:cNvPr id="15" name="Text 13"/>
          <p:cNvSpPr/>
          <p:nvPr/>
        </p:nvSpPr>
        <p:spPr>
          <a:xfrm>
            <a:off x="868680" y="3995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Decoding spatial attention (EEG + NIRS prior)</a:t>
            </a:r>
            <a:endParaRPr lang="en-US" sz="1500" dirty="0"/>
          </a:p>
        </p:txBody>
      </p:sp>
      <p:sp>
        <p:nvSpPr>
          <p:cNvPr id="16" name="Text 14"/>
          <p:cNvSpPr/>
          <p:nvPr/>
        </p:nvSpPr>
        <p:spPr>
          <a:xfrm>
            <a:off x="868680" y="4297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Lab task paradigm · 8 s attention · left vs right</a:t>
            </a:r>
            <a:endParaRPr lang="en-US" sz="1300" dirty="0"/>
          </a:p>
        </p:txBody>
      </p:sp>
      <p:sp>
        <p:nvSpPr>
          <p:cNvPr id="17" name="Shape 15"/>
          <p:cNvSpPr/>
          <p:nvPr/>
        </p:nvSpPr>
        <p:spPr>
          <a:xfrm>
            <a:off x="640080" y="4754880"/>
            <a:ext cx="10881360" cy="1051560"/>
          </a:xfrm>
          <a:prstGeom prst="rect">
            <a:avLst/>
          </a:prstGeom>
          <a:solidFill>
            <a:srgbClr val="FFFFFF"/>
          </a:solidFill>
          <a:ln w="12700">
            <a:solidFill>
              <a:srgbClr val="D0D5DB"/>
            </a:solidFill>
            <a:prstDash val="solid"/>
          </a:ln>
        </p:spPr>
      </p:sp>
      <p:sp>
        <p:nvSpPr>
          <p:cNvPr id="18" name="Text 16"/>
          <p:cNvSpPr/>
          <p:nvPr/>
        </p:nvSpPr>
        <p:spPr>
          <a:xfrm>
            <a:off x="868680" y="4892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Critical review (Apr. 2026)</a:t>
            </a:r>
            <a:endParaRPr lang="en-US" sz="1200" dirty="0"/>
          </a:p>
        </p:txBody>
      </p:sp>
      <p:sp>
        <p:nvSpPr>
          <p:cNvPr id="19" name="Text 17"/>
          <p:cNvSpPr/>
          <p:nvPr/>
        </p:nvSpPr>
        <p:spPr>
          <a:xfrm>
            <a:off x="868680" y="5138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EEG Foundation Models: progress &amp; directions</a:t>
            </a:r>
            <a:endParaRPr lang="en-US" sz="1500" dirty="0"/>
          </a:p>
        </p:txBody>
      </p:sp>
      <p:sp>
        <p:nvSpPr>
          <p:cNvPr id="20" name="Text 18"/>
          <p:cNvSpPr/>
          <p:nvPr/>
        </p:nvSpPr>
        <p:spPr>
          <a:xfrm>
            <a:off x="868680" y="5440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Survey I presented to the lab in April · context for choosing ST-EEGFormer</a:t>
            </a:r>
            <a:endParaRPr lang="en-US" sz="1300" dirty="0"/>
          </a:p>
        </p:txBody>
      </p:sp>
      <p:sp>
        <p:nvSpPr>
          <p:cNvPr id="22" name="Shape 19"/>
          <p:cNvSpPr/>
          <p:nvPr/>
        </p:nvSpPr>
        <p:spPr>
          <a:xfrm>
            <a:off x="640080" y="6400800"/>
            <a:ext cx="10881360" cy="0"/>
          </a:xfrm>
          <a:prstGeom prst="line">
            <a:avLst/>
          </a:prstGeom>
          <a:noFill/>
          <a:ln w="9525">
            <a:solidFill>
              <a:srgbClr val="D0D5DB"/>
            </a:solidFill>
            <a:prstDash val="solid"/>
          </a:ln>
        </p:spPr>
      </p:sp>
      <p:sp>
        <p:nvSpPr>
          <p:cNvPr id="23" name="Text 20"/>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4" name="Text 21"/>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4 - 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Comparison setup in the laboratory</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3520440" cy="4434840"/>
          </a:xfrm>
          <a:prstGeom prst="rect">
            <a:avLst/>
          </a:prstGeom>
          <a:solidFill>
            <a:srgbClr val="FFFFFF"/>
          </a:solidFill>
          <a:ln w="12700">
            <a:solidFill>
              <a:srgbClr val="D0D5DB"/>
            </a:solidFill>
            <a:prstDash val="solid"/>
          </a:ln>
        </p:spPr>
      </p:sp>
      <p:sp>
        <p:nvSpPr>
          <p:cNvPr id="6" name="Shape 4"/>
          <p:cNvSpPr/>
          <p:nvPr/>
        </p:nvSpPr>
        <p:spPr>
          <a:xfrm>
            <a:off x="640080" y="1417320"/>
            <a:ext cx="3520440" cy="594360"/>
          </a:xfrm>
          <a:prstGeom prst="rect">
            <a:avLst/>
          </a:prstGeom>
          <a:solidFill>
            <a:srgbClr val="2C3338"/>
          </a:solidFill>
          <a:ln/>
        </p:spPr>
      </p:sp>
      <p:sp>
        <p:nvSpPr>
          <p:cNvPr id="7" name="Text 5"/>
          <p:cNvSpPr/>
          <p:nvPr/>
        </p:nvSpPr>
        <p:spPr>
          <a:xfrm>
            <a:off x="868680" y="1536192"/>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Maxime</a:t>
            </a:r>
            <a:endParaRPr lang="en-US" sz="1800" dirty="0"/>
          </a:p>
        </p:txBody>
      </p:sp>
      <p:sp>
        <p:nvSpPr>
          <p:cNvPr id="8" name="Text 6"/>
          <p:cNvSpPr/>
          <p:nvPr/>
        </p:nvSpPr>
        <p:spPr>
          <a:xfrm>
            <a:off x="868680" y="2286000"/>
            <a:ext cx="3108960" cy="3200400"/>
          </a:xfrm>
          <a:prstGeom prst="rect">
            <a:avLst/>
          </a:prstGeom>
          <a:noFill/>
          <a:ln/>
        </p:spPr>
        <p:txBody>
          <a:bodyPr wrap="square" lIns="0" tIns="0" rIns="0" bIns="0" rtlCol="0" anchor="ctr"/>
          <a:lstStyle/>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ST-EEGFormer</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EEG foundation model</a:t>
            </a:r>
            <a:endParaRPr lang="en-US" sz="1500" dirty="0"/>
          </a:p>
          <a:p>
            <a:pPr marL="0" indent="0">
              <a:spcAft>
                <a:spcPts val="800"/>
              </a:spcAft>
              <a:buNone/>
            </a:pP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Evaluation pipeline</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Population + LOSO</a:t>
            </a:r>
            <a:endParaRPr lang="en-US" sz="1500" dirty="0"/>
          </a:p>
        </p:txBody>
      </p:sp>
      <p:sp>
        <p:nvSpPr>
          <p:cNvPr id="9" name="Shape 7"/>
          <p:cNvSpPr/>
          <p:nvPr/>
        </p:nvSpPr>
        <p:spPr>
          <a:xfrm>
            <a:off x="4343400" y="1417320"/>
            <a:ext cx="3520440" cy="4434840"/>
          </a:xfrm>
          <a:prstGeom prst="rect">
            <a:avLst/>
          </a:prstGeom>
          <a:solidFill>
            <a:srgbClr val="FFFFFF"/>
          </a:solidFill>
          <a:ln w="12700">
            <a:solidFill>
              <a:srgbClr val="D0D5DB"/>
            </a:solidFill>
            <a:prstDash val="solid"/>
          </a:ln>
        </p:spPr>
      </p:sp>
      <p:sp>
        <p:nvSpPr>
          <p:cNvPr id="10" name="Shape 8"/>
          <p:cNvSpPr/>
          <p:nvPr/>
        </p:nvSpPr>
        <p:spPr>
          <a:xfrm>
            <a:off x="4343400" y="1417320"/>
            <a:ext cx="3520440" cy="594360"/>
          </a:xfrm>
          <a:prstGeom prst="rect">
            <a:avLst/>
          </a:prstGeom>
          <a:solidFill>
            <a:srgbClr val="3D454C"/>
          </a:solidFill>
          <a:ln/>
        </p:spPr>
      </p:sp>
      <p:sp>
        <p:nvSpPr>
          <p:cNvPr id="11" name="Text 9"/>
          <p:cNvSpPr/>
          <p:nvPr/>
        </p:nvSpPr>
        <p:spPr>
          <a:xfrm>
            <a:off x="4572000" y="1536192"/>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Liz</a:t>
            </a:r>
            <a:endParaRPr lang="en-US" sz="1800" dirty="0"/>
          </a:p>
        </p:txBody>
      </p:sp>
      <p:sp>
        <p:nvSpPr>
          <p:cNvPr id="12" name="Text 10"/>
          <p:cNvSpPr/>
          <p:nvPr/>
        </p:nvSpPr>
        <p:spPr>
          <a:xfrm>
            <a:off x="4572000" y="2286000"/>
            <a:ext cx="3108960" cy="3200400"/>
          </a:xfrm>
          <a:prstGeom prst="rect">
            <a:avLst/>
          </a:prstGeom>
          <a:noFill/>
          <a:ln/>
        </p:spPr>
        <p:txBody>
          <a:bodyPr wrap="square" lIns="0" tIns="0" rIns="0" bIns="0" rtlCol="0" anchor="ctr"/>
          <a:lstStyle/>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LaBraM</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Parallel FM evaluation</a:t>
            </a:r>
            <a:endParaRPr lang="en-US" sz="1500" dirty="0"/>
          </a:p>
          <a:p>
            <a:pPr marL="0" indent="0">
              <a:spcAft>
                <a:spcPts val="800"/>
              </a:spcAft>
              <a:buNone/>
            </a:pP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Reference preprocessing</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Population ~62% · LOSO ~62%</a:t>
            </a:r>
            <a:endParaRPr lang="en-US" sz="1500" dirty="0"/>
          </a:p>
        </p:txBody>
      </p:sp>
      <p:sp>
        <p:nvSpPr>
          <p:cNvPr id="13" name="Shape 11"/>
          <p:cNvSpPr/>
          <p:nvPr/>
        </p:nvSpPr>
        <p:spPr>
          <a:xfrm>
            <a:off x="8046720" y="1417320"/>
            <a:ext cx="3474720" cy="4434840"/>
          </a:xfrm>
          <a:prstGeom prst="rect">
            <a:avLst/>
          </a:prstGeom>
          <a:solidFill>
            <a:srgbClr val="2C3338"/>
          </a:solidFill>
          <a:ln w="12700">
            <a:solidFill>
              <a:srgbClr val="D0D5DB"/>
            </a:solidFill>
            <a:prstDash val="solid"/>
          </a:ln>
        </p:spPr>
      </p:sp>
      <p:sp>
        <p:nvSpPr>
          <p:cNvPr id="14" name="Text 12"/>
          <p:cNvSpPr/>
          <p:nvPr/>
        </p:nvSpPr>
        <p:spPr>
          <a:xfrm>
            <a:off x="8321040" y="1737360"/>
            <a:ext cx="3017520" cy="41148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Shared ground</a:t>
            </a:r>
            <a:endParaRPr lang="en-US" sz="1700" dirty="0"/>
          </a:p>
        </p:txBody>
      </p:sp>
      <p:sp>
        <p:nvSpPr>
          <p:cNvPr id="15" name="Text 13"/>
          <p:cNvSpPr/>
          <p:nvPr/>
        </p:nvSpPr>
        <p:spPr>
          <a:xfrm>
            <a:off x="8321040" y="2377440"/>
            <a:ext cx="3017520" cy="2926080"/>
          </a:xfrm>
          <a:prstGeom prst="rect">
            <a:avLst/>
          </a:prstGeom>
          <a:noFill/>
          <a:ln/>
        </p:spPr>
        <p:txBody>
          <a:bodyPr wrap="square" lIns="0" tIns="0" rIns="0" bIns="0" rtlCol="0" anchor="ctr"/>
          <a:lstStyle/>
          <a:p>
            <a:pPr marL="0" indent="0">
              <a:buNone/>
            </a:pPr>
            <a:r>
              <a:rPr lang="en-US" sz="1500" dirty="0">
                <a:solidFill>
                  <a:srgbClr val="C5CCD3"/>
                </a:solidFill>
                <a:latin typeface="Calibri" pitchFamily="34" charset="0"/>
                <a:ea typeface="Calibri" pitchFamily="34" charset="-122"/>
                <a:cs typeface="Calibri" pitchFamily="34" charset="-120"/>
              </a:rPr>
              <a:t>Same ATR spatial-attention data</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Same 43 subjects</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Aligned preprocessing</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Comparable protocols</a:t>
            </a:r>
            <a:endParaRPr lang="en-US" sz="1500" dirty="0"/>
          </a:p>
        </p:txBody>
      </p:sp>
      <p:sp>
        <p:nvSpPr>
          <p:cNvPr id="17" name="Shape 14"/>
          <p:cNvSpPr/>
          <p:nvPr/>
        </p:nvSpPr>
        <p:spPr>
          <a:xfrm>
            <a:off x="640080" y="6400800"/>
            <a:ext cx="10881360" cy="0"/>
          </a:xfrm>
          <a:prstGeom prst="line">
            <a:avLst/>
          </a:prstGeom>
          <a:noFill/>
          <a:ln w="9525">
            <a:solidFill>
              <a:srgbClr val="D0D5DB"/>
            </a:solidFill>
            <a:prstDash val="solid"/>
          </a:ln>
        </p:spPr>
      </p:sp>
      <p:sp>
        <p:nvSpPr>
          <p:cNvPr id="18" name="Text 15"/>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9" name="Text 16"/>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4 - 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Dataset and task</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3611880" cy="2011680"/>
          </a:xfrm>
          <a:prstGeom prst="rect">
            <a:avLst/>
          </a:prstGeom>
          <a:solidFill>
            <a:srgbClr val="FFFFFF"/>
          </a:solidFill>
          <a:ln w="12700">
            <a:solidFill>
              <a:srgbClr val="D0D5DB"/>
            </a:solidFill>
            <a:prstDash val="solid"/>
          </a:ln>
        </p:spPr>
      </p:sp>
      <p:sp>
        <p:nvSpPr>
          <p:cNvPr id="6" name="Text 4"/>
          <p:cNvSpPr/>
          <p:nvPr/>
        </p:nvSpPr>
        <p:spPr>
          <a:xfrm>
            <a:off x="91440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TASK</a:t>
            </a:r>
            <a:endParaRPr lang="en-US" sz="1200" dirty="0"/>
          </a:p>
        </p:txBody>
      </p:sp>
      <p:sp>
        <p:nvSpPr>
          <p:cNvPr id="7" name="Text 5"/>
          <p:cNvSpPr/>
          <p:nvPr/>
        </p:nvSpPr>
        <p:spPr>
          <a:xfrm>
            <a:off x="91440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Covert left vs right spatial attention</a:t>
            </a:r>
            <a:endParaRPr lang="en-US" sz="1700" dirty="0"/>
          </a:p>
        </p:txBody>
      </p:sp>
      <p:sp>
        <p:nvSpPr>
          <p:cNvPr id="8" name="Shape 6"/>
          <p:cNvSpPr/>
          <p:nvPr/>
        </p:nvSpPr>
        <p:spPr>
          <a:xfrm>
            <a:off x="4434840" y="1417320"/>
            <a:ext cx="3611880" cy="2011680"/>
          </a:xfrm>
          <a:prstGeom prst="rect">
            <a:avLst/>
          </a:prstGeom>
          <a:solidFill>
            <a:srgbClr val="FFFFFF"/>
          </a:solidFill>
          <a:ln w="12700">
            <a:solidFill>
              <a:srgbClr val="D0D5DB"/>
            </a:solidFill>
            <a:prstDash val="solid"/>
          </a:ln>
        </p:spPr>
      </p:sp>
      <p:sp>
        <p:nvSpPr>
          <p:cNvPr id="9" name="Text 7"/>
          <p:cNvSpPr/>
          <p:nvPr/>
        </p:nvSpPr>
        <p:spPr>
          <a:xfrm>
            <a:off x="470916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CHANCE LEVEL</a:t>
            </a:r>
            <a:endParaRPr lang="en-US" sz="1200" dirty="0"/>
          </a:p>
        </p:txBody>
      </p:sp>
      <p:sp>
        <p:nvSpPr>
          <p:cNvPr id="10" name="Text 8"/>
          <p:cNvSpPr/>
          <p:nvPr/>
        </p:nvSpPr>
        <p:spPr>
          <a:xfrm>
            <a:off x="470916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50% (binary classification)</a:t>
            </a:r>
            <a:endParaRPr lang="en-US" sz="1700" dirty="0"/>
          </a:p>
        </p:txBody>
      </p:sp>
      <p:sp>
        <p:nvSpPr>
          <p:cNvPr id="11" name="Shape 9"/>
          <p:cNvSpPr/>
          <p:nvPr/>
        </p:nvSpPr>
        <p:spPr>
          <a:xfrm>
            <a:off x="8229600" y="1417320"/>
            <a:ext cx="3611880" cy="2011680"/>
          </a:xfrm>
          <a:prstGeom prst="rect">
            <a:avLst/>
          </a:prstGeom>
          <a:solidFill>
            <a:srgbClr val="FFFFFF"/>
          </a:solidFill>
          <a:ln w="12700">
            <a:solidFill>
              <a:srgbClr val="D0D5DB"/>
            </a:solidFill>
            <a:prstDash val="solid"/>
          </a:ln>
        </p:spPr>
      </p:sp>
      <p:sp>
        <p:nvSpPr>
          <p:cNvPr id="12" name="Text 10"/>
          <p:cNvSpPr/>
          <p:nvPr/>
        </p:nvSpPr>
        <p:spPr>
          <a:xfrm>
            <a:off x="850392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SUBJECTS</a:t>
            </a:r>
            <a:endParaRPr lang="en-US" sz="1200" dirty="0"/>
          </a:p>
        </p:txBody>
      </p:sp>
      <p:sp>
        <p:nvSpPr>
          <p:cNvPr id="13" name="Text 11"/>
          <p:cNvSpPr/>
          <p:nvPr/>
        </p:nvSpPr>
        <p:spPr>
          <a:xfrm>
            <a:off x="850392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43</a:t>
            </a:r>
            <a:endParaRPr lang="en-US" sz="1700" dirty="0"/>
          </a:p>
        </p:txBody>
      </p:sp>
      <p:sp>
        <p:nvSpPr>
          <p:cNvPr id="14" name="Shape 12"/>
          <p:cNvSpPr/>
          <p:nvPr/>
        </p:nvSpPr>
        <p:spPr>
          <a:xfrm>
            <a:off x="640080" y="3611880"/>
            <a:ext cx="3611880" cy="2011680"/>
          </a:xfrm>
          <a:prstGeom prst="rect">
            <a:avLst/>
          </a:prstGeom>
          <a:solidFill>
            <a:srgbClr val="FFFFFF"/>
          </a:solidFill>
          <a:ln w="12700">
            <a:solidFill>
              <a:srgbClr val="D0D5DB"/>
            </a:solidFill>
            <a:prstDash val="solid"/>
          </a:ln>
        </p:spPr>
      </p:sp>
      <p:sp>
        <p:nvSpPr>
          <p:cNvPr id="15" name="Text 13"/>
          <p:cNvSpPr/>
          <p:nvPr/>
        </p:nvSpPr>
        <p:spPr>
          <a:xfrm>
            <a:off x="91440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ATTENTION EPOCH</a:t>
            </a:r>
            <a:endParaRPr lang="en-US" sz="1200" dirty="0"/>
          </a:p>
        </p:txBody>
      </p:sp>
      <p:sp>
        <p:nvSpPr>
          <p:cNvPr id="16" name="Text 14"/>
          <p:cNvSpPr/>
          <p:nvPr/>
        </p:nvSpPr>
        <p:spPr>
          <a:xfrm>
            <a:off x="91440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8 s (lab paradigm) @ 256 Hz</a:t>
            </a:r>
            <a:endParaRPr lang="en-US" sz="1700" dirty="0"/>
          </a:p>
        </p:txBody>
      </p:sp>
      <p:sp>
        <p:nvSpPr>
          <p:cNvPr id="17" name="Shape 15"/>
          <p:cNvSpPr/>
          <p:nvPr/>
        </p:nvSpPr>
        <p:spPr>
          <a:xfrm>
            <a:off x="4434840" y="3611880"/>
            <a:ext cx="3611880" cy="2011680"/>
          </a:xfrm>
          <a:prstGeom prst="rect">
            <a:avLst/>
          </a:prstGeom>
          <a:solidFill>
            <a:srgbClr val="FFFFFF"/>
          </a:solidFill>
          <a:ln w="12700">
            <a:solidFill>
              <a:srgbClr val="D0D5DB"/>
            </a:solidFill>
            <a:prstDash val="solid"/>
          </a:ln>
        </p:spPr>
      </p:sp>
      <p:sp>
        <p:nvSpPr>
          <p:cNvPr id="18" name="Text 16"/>
          <p:cNvSpPr/>
          <p:nvPr/>
        </p:nvSpPr>
        <p:spPr>
          <a:xfrm>
            <a:off x="470916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CHANNELS</a:t>
            </a:r>
            <a:endParaRPr lang="en-US" sz="1200" dirty="0"/>
          </a:p>
        </p:txBody>
      </p:sp>
      <p:sp>
        <p:nvSpPr>
          <p:cNvPr id="19" name="Text 17"/>
          <p:cNvSpPr/>
          <p:nvPr/>
        </p:nvSpPr>
        <p:spPr>
          <a:xfrm>
            <a:off x="470916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68 EEG → 64 for ViT (EOG excluded)</a:t>
            </a:r>
            <a:endParaRPr lang="en-US" sz="1700" dirty="0"/>
          </a:p>
        </p:txBody>
      </p:sp>
      <p:sp>
        <p:nvSpPr>
          <p:cNvPr id="20" name="Shape 18"/>
          <p:cNvSpPr/>
          <p:nvPr/>
        </p:nvSpPr>
        <p:spPr>
          <a:xfrm>
            <a:off x="8229600" y="3611880"/>
            <a:ext cx="3611880" cy="2011680"/>
          </a:xfrm>
          <a:prstGeom prst="rect">
            <a:avLst/>
          </a:prstGeom>
          <a:solidFill>
            <a:srgbClr val="FFFFFF"/>
          </a:solidFill>
          <a:ln w="12700">
            <a:solidFill>
              <a:srgbClr val="D0D5DB"/>
            </a:solidFill>
            <a:prstDash val="solid"/>
          </a:ln>
        </p:spPr>
      </p:sp>
      <p:sp>
        <p:nvSpPr>
          <p:cNvPr id="21" name="Text 19"/>
          <p:cNvSpPr/>
          <p:nvPr/>
        </p:nvSpPr>
        <p:spPr>
          <a:xfrm>
            <a:off x="850392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PARADIGM</a:t>
            </a:r>
            <a:endParaRPr lang="en-US" sz="1200" dirty="0"/>
          </a:p>
        </p:txBody>
      </p:sp>
      <p:sp>
        <p:nvSpPr>
          <p:cNvPr id="22" name="Text 20"/>
          <p:cNvSpPr/>
          <p:nvPr/>
        </p:nvSpPr>
        <p:spPr>
          <a:xfrm>
            <a:off x="850392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Morioka et al., 2014</a:t>
            </a:r>
            <a:endParaRPr lang="en-US" sz="1700" dirty="0"/>
          </a:p>
        </p:txBody>
      </p:sp>
      <p:sp>
        <p:nvSpPr>
          <p:cNvPr id="24" name="Shape 21"/>
          <p:cNvSpPr/>
          <p:nvPr/>
        </p:nvSpPr>
        <p:spPr>
          <a:xfrm>
            <a:off x="640080" y="6400800"/>
            <a:ext cx="10881360" cy="0"/>
          </a:xfrm>
          <a:prstGeom prst="line">
            <a:avLst/>
          </a:prstGeom>
          <a:noFill/>
          <a:ln w="9525">
            <a:solidFill>
              <a:srgbClr val="D0D5DB"/>
            </a:solidFill>
            <a:prstDash val="solid"/>
          </a:ln>
        </p:spPr>
      </p:sp>
      <p:sp>
        <p:nvSpPr>
          <p:cNvPr id="25" name="Text 2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6" name="Text 2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4 - 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Preprocessing and training protocol</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5394960" cy="4572000"/>
          </a:xfrm>
          <a:prstGeom prst="rect">
            <a:avLst/>
          </a:prstGeom>
          <a:solidFill>
            <a:srgbClr val="FFFFFF"/>
          </a:solidFill>
          <a:ln w="12700">
            <a:solidFill>
              <a:srgbClr val="D0D5DB"/>
            </a:solidFill>
            <a:prstDash val="solid"/>
          </a:ln>
        </p:spPr>
      </p:sp>
      <p:sp>
        <p:nvSpPr>
          <p:cNvPr id="6" name="Shape 4"/>
          <p:cNvSpPr/>
          <p:nvPr/>
        </p:nvSpPr>
        <p:spPr>
          <a:xfrm>
            <a:off x="640080" y="1371600"/>
            <a:ext cx="5394960" cy="548640"/>
          </a:xfrm>
          <a:prstGeom prst="rect">
            <a:avLst/>
          </a:prstGeom>
          <a:solidFill>
            <a:srgbClr val="2C3338"/>
          </a:solidFill>
          <a:ln/>
        </p:spPr>
      </p:sp>
      <p:sp>
        <p:nvSpPr>
          <p:cNvPr id="7" name="Text 5"/>
          <p:cNvSpPr/>
          <p:nvPr/>
        </p:nvSpPr>
        <p:spPr>
          <a:xfrm>
            <a:off x="868680" y="1463040"/>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Preprocessing (aligned with Liz)</a:t>
            </a:r>
            <a:endParaRPr lang="en-US" sz="1600" dirty="0"/>
          </a:p>
        </p:txBody>
      </p:sp>
      <p:sp>
        <p:nvSpPr>
          <p:cNvPr id="8" name="Text 6"/>
          <p:cNvSpPr/>
          <p:nvPr/>
        </p:nvSpPr>
        <p:spPr>
          <a:xfrm>
            <a:off x="868680" y="2194560"/>
            <a:ext cx="4937760" cy="3474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8-second attention windows, resampled to 256 Hz</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Average reference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Band-pass filtering and 60 Hz notch</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Baseline correction</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Full set: 43 subjects</a:t>
            </a:r>
            <a:endParaRPr lang="en-US" sz="1500" dirty="0"/>
          </a:p>
          <a:p>
            <a:pPr marL="0" indent="0">
              <a:spcAft>
                <a:spcPts val="800"/>
              </a:spcAft>
              <a:buNone/>
            </a:pPr>
            <a:endParaRPr lang="en-US" sz="1500" dirty="0"/>
          </a:p>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Validation with LDA baseline: 55.7%</a:t>
            </a:r>
            <a:endParaRPr lang="en-US" sz="1500" dirty="0"/>
          </a:p>
        </p:txBody>
      </p:sp>
      <p:sp>
        <p:nvSpPr>
          <p:cNvPr id="9" name="Shape 7"/>
          <p:cNvSpPr/>
          <p:nvPr/>
        </p:nvSpPr>
        <p:spPr>
          <a:xfrm>
            <a:off x="6263640" y="1371600"/>
            <a:ext cx="5257800" cy="4572000"/>
          </a:xfrm>
          <a:prstGeom prst="rect">
            <a:avLst/>
          </a:prstGeom>
          <a:solidFill>
            <a:srgbClr val="FFFFFF"/>
          </a:solidFill>
          <a:ln w="12700">
            <a:solidFill>
              <a:srgbClr val="D0D5DB"/>
            </a:solidFill>
            <a:prstDash val="solid"/>
          </a:ln>
        </p:spPr>
      </p:sp>
      <p:sp>
        <p:nvSpPr>
          <p:cNvPr id="10" name="Shape 8"/>
          <p:cNvSpPr/>
          <p:nvPr/>
        </p:nvSpPr>
        <p:spPr>
          <a:xfrm>
            <a:off x="6263640" y="1371600"/>
            <a:ext cx="5257800" cy="548640"/>
          </a:xfrm>
          <a:prstGeom prst="rect">
            <a:avLst/>
          </a:prstGeom>
          <a:solidFill>
            <a:srgbClr val="1F3A5F"/>
          </a:solidFill>
          <a:ln/>
        </p:spPr>
      </p:sp>
      <p:sp>
        <p:nvSpPr>
          <p:cNvPr id="11" name="Text 9"/>
          <p:cNvSpPr/>
          <p:nvPr/>
        </p:nvSpPr>
        <p:spPr>
          <a:xfrm>
            <a:off x="6492240" y="1463040"/>
            <a:ext cx="484632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Fine-tuning (ST-EEGFormer)</a:t>
            </a:r>
            <a:endParaRPr lang="en-US" sz="1600" dirty="0"/>
          </a:p>
        </p:txBody>
      </p:sp>
      <p:sp>
        <p:nvSpPr>
          <p:cNvPr id="12" name="Text 10"/>
          <p:cNvSpPr/>
          <p:nvPr/>
        </p:nvSpPr>
        <p:spPr>
          <a:xfrm>
            <a:off x="6492240" y="2194560"/>
            <a:ext cx="4846320" cy="3474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Pretrained ViT-large backbone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layer_decay = 1.0 (full backbone adapts)</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mix_up = 0.0</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Learning rate 3×10⁻⁴ · warmup 5 epochs</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50 training epochs · batch size 4</a:t>
            </a:r>
            <a:endParaRPr lang="en-US" sz="1500" dirty="0"/>
          </a:p>
          <a:p>
            <a:pPr marL="0" indent="0">
              <a:spcAft>
                <a:spcPts val="800"/>
              </a:spcAft>
              <a:buNone/>
            </a:pPr>
            <a:endParaRPr lang="en-US" sz="1500" dirty="0"/>
          </a:p>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Same recipe used for population and LOSO</a:t>
            </a:r>
            <a:endParaRPr lang="en-US" sz="1500" dirty="0"/>
          </a:p>
        </p:txBody>
      </p:sp>
      <p:sp>
        <p:nvSpPr>
          <p:cNvPr id="14" name="Shape 11"/>
          <p:cNvSpPr/>
          <p:nvPr/>
        </p:nvSpPr>
        <p:spPr>
          <a:xfrm>
            <a:off x="640080" y="6400800"/>
            <a:ext cx="10881360" cy="0"/>
          </a:xfrm>
          <a:prstGeom prst="line">
            <a:avLst/>
          </a:prstGeom>
          <a:noFill/>
          <a:ln w="9525">
            <a:solidFill>
              <a:srgbClr val="D0D5DB"/>
            </a:solidFill>
            <a:prstDash val="solid"/>
          </a:ln>
        </p:spPr>
      </p:sp>
      <p:sp>
        <p:nvSpPr>
          <p:cNvPr id="15" name="Text 1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6" name="Text 1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5 - RESULTS</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Population result — 43 subjects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1097280" y="4478154"/>
            <a:ext cx="10058400" cy="0"/>
          </a:xfrm>
          <a:prstGeom prst="line">
            <a:avLst/>
          </a:prstGeom>
          <a:noFill/>
          <a:ln w="12700">
            <a:solidFill>
              <a:srgbClr val="B0B8C1"/>
            </a:solidFill>
            <a:prstDash val="dash"/>
          </a:ln>
        </p:spPr>
      </p:sp>
      <p:sp>
        <p:nvSpPr>
          <p:cNvPr id="6" name="Text 4"/>
          <p:cNvSpPr/>
          <p:nvPr/>
        </p:nvSpPr>
        <p:spPr>
          <a:xfrm>
            <a:off x="1143000" y="4203834"/>
            <a:ext cx="1371600" cy="228600"/>
          </a:xfrm>
          <a:prstGeom prst="rect">
            <a:avLst/>
          </a:prstGeom>
          <a:noFill/>
          <a:ln/>
        </p:spPr>
        <p:txBody>
          <a:bodyPr wrap="square" lIns="0" tIns="0" rIns="0" bIns="0" rtlCol="0" anchor="ctr"/>
          <a:lstStyle/>
          <a:p>
            <a:pPr marL="0" indent="0">
              <a:buNone/>
            </a:pPr>
            <a:r>
              <a:rPr lang="en-US" sz="1000" dirty="0">
                <a:solidFill>
                  <a:srgbClr val="5C6570"/>
                </a:solidFill>
                <a:latin typeface="Calibri" pitchFamily="34" charset="0"/>
                <a:ea typeface="Calibri" pitchFamily="34" charset="-122"/>
                <a:cs typeface="Calibri" pitchFamily="34" charset="-120"/>
              </a:rPr>
              <a:t>chance 50%</a:t>
            </a:r>
            <a:endParaRPr lang="en-US" sz="1000" dirty="0"/>
          </a:p>
        </p:txBody>
      </p:sp>
      <p:sp>
        <p:nvSpPr>
          <p:cNvPr id="7" name="Shape 5"/>
          <p:cNvSpPr/>
          <p:nvPr/>
        </p:nvSpPr>
        <p:spPr>
          <a:xfrm>
            <a:off x="1463040" y="4478154"/>
            <a:ext cx="1554480" cy="962526"/>
          </a:xfrm>
          <a:prstGeom prst="rect">
            <a:avLst/>
          </a:prstGeom>
          <a:solidFill>
            <a:srgbClr val="9CA3AF"/>
          </a:solidFill>
          <a:ln/>
        </p:spPr>
      </p:sp>
      <p:sp>
        <p:nvSpPr>
          <p:cNvPr id="8" name="Text 6"/>
          <p:cNvSpPr/>
          <p:nvPr/>
        </p:nvSpPr>
        <p:spPr>
          <a:xfrm>
            <a:off x="1280160" y="4094106"/>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50.0%</a:t>
            </a:r>
            <a:endParaRPr lang="en-US" sz="1600" dirty="0"/>
          </a:p>
        </p:txBody>
      </p:sp>
      <p:sp>
        <p:nvSpPr>
          <p:cNvPr id="9" name="Text 7"/>
          <p:cNvSpPr/>
          <p:nvPr/>
        </p:nvSpPr>
        <p:spPr>
          <a:xfrm>
            <a:off x="123444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Chance</a:t>
            </a:r>
            <a:endParaRPr lang="en-US" sz="1200" dirty="0"/>
          </a:p>
        </p:txBody>
      </p:sp>
      <p:sp>
        <p:nvSpPr>
          <p:cNvPr id="10" name="Shape 8"/>
          <p:cNvSpPr/>
          <p:nvPr/>
        </p:nvSpPr>
        <p:spPr>
          <a:xfrm>
            <a:off x="4069080" y="3380874"/>
            <a:ext cx="1554480" cy="2059806"/>
          </a:xfrm>
          <a:prstGeom prst="rect">
            <a:avLst/>
          </a:prstGeom>
          <a:solidFill>
            <a:srgbClr val="6B7280"/>
          </a:solidFill>
          <a:ln/>
        </p:spPr>
      </p:sp>
      <p:sp>
        <p:nvSpPr>
          <p:cNvPr id="11" name="Text 9"/>
          <p:cNvSpPr/>
          <p:nvPr/>
        </p:nvSpPr>
        <p:spPr>
          <a:xfrm>
            <a:off x="3886200" y="2996826"/>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55.7%</a:t>
            </a:r>
            <a:endParaRPr lang="en-US" sz="1600" dirty="0"/>
          </a:p>
        </p:txBody>
      </p:sp>
      <p:sp>
        <p:nvSpPr>
          <p:cNvPr id="12" name="Text 10"/>
          <p:cNvSpPr/>
          <p:nvPr/>
        </p:nvSpPr>
        <p:spPr>
          <a:xfrm>
            <a:off x="384048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LDA</a:t>
            </a:r>
            <a:endParaRPr lang="en-US" sz="1200" dirty="0"/>
          </a:p>
        </p:txBody>
      </p:sp>
      <p:sp>
        <p:nvSpPr>
          <p:cNvPr id="13" name="Shape 11"/>
          <p:cNvSpPr/>
          <p:nvPr/>
        </p:nvSpPr>
        <p:spPr>
          <a:xfrm>
            <a:off x="6675120" y="2225842"/>
            <a:ext cx="1554480" cy="3214838"/>
          </a:xfrm>
          <a:prstGeom prst="rect">
            <a:avLst/>
          </a:prstGeom>
          <a:solidFill>
            <a:srgbClr val="1F3A5F"/>
          </a:solidFill>
          <a:ln/>
        </p:spPr>
      </p:sp>
      <p:sp>
        <p:nvSpPr>
          <p:cNvPr id="14" name="Text 12"/>
          <p:cNvSpPr/>
          <p:nvPr/>
        </p:nvSpPr>
        <p:spPr>
          <a:xfrm>
            <a:off x="6492240" y="1841794"/>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61.7%</a:t>
            </a:r>
            <a:endParaRPr lang="en-US" sz="1600" dirty="0"/>
          </a:p>
        </p:txBody>
      </p:sp>
      <p:sp>
        <p:nvSpPr>
          <p:cNvPr id="15" name="Text 13"/>
          <p:cNvSpPr/>
          <p:nvPr/>
        </p:nvSpPr>
        <p:spPr>
          <a:xfrm>
            <a:off x="6446520" y="5532120"/>
            <a:ext cx="2011680" cy="365760"/>
          </a:xfrm>
          <a:prstGeom prst="rect">
            <a:avLst/>
          </a:prstGeom>
          <a:noFill/>
          <a:ln/>
        </p:spPr>
        <p:txBody>
          <a:bodyPr wrap="square" lIns="0" tIns="0" rIns="0" bIns="0" rtlCol="0" anchor="ctr"/>
          <a:lstStyle/>
          <a:p>
            <a:pPr marL="0" indent="0" algn="ctr">
              <a:buNone/>
            </a:pPr>
            <a:r>
              <a:rPr lang="en-US" sz="1200" b="1" dirty="0">
                <a:solidFill>
                  <a:srgbClr val="1F3A5F"/>
                </a:solidFill>
                <a:latin typeface="Calibri" pitchFamily="34" charset="0"/>
                <a:ea typeface="Calibri" pitchFamily="34" charset="-122"/>
                <a:cs typeface="Calibri" pitchFamily="34" charset="-120"/>
              </a:rPr>
              <a:t>ST-EEGFormer</a:t>
            </a:r>
            <a:endParaRPr lang="en-US" sz="1200" dirty="0"/>
          </a:p>
        </p:txBody>
      </p:sp>
      <p:sp>
        <p:nvSpPr>
          <p:cNvPr id="16" name="Shape 14"/>
          <p:cNvSpPr/>
          <p:nvPr/>
        </p:nvSpPr>
        <p:spPr>
          <a:xfrm>
            <a:off x="9281160" y="2168091"/>
            <a:ext cx="1554480" cy="3272589"/>
          </a:xfrm>
          <a:prstGeom prst="rect">
            <a:avLst/>
          </a:prstGeom>
          <a:solidFill>
            <a:srgbClr val="4B5563"/>
          </a:solidFill>
          <a:ln/>
        </p:spPr>
      </p:sp>
      <p:sp>
        <p:nvSpPr>
          <p:cNvPr id="17" name="Text 15"/>
          <p:cNvSpPr/>
          <p:nvPr/>
        </p:nvSpPr>
        <p:spPr>
          <a:xfrm>
            <a:off x="9098280" y="1784043"/>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62.0%</a:t>
            </a:r>
            <a:endParaRPr lang="en-US" sz="1600" dirty="0"/>
          </a:p>
        </p:txBody>
      </p:sp>
      <p:sp>
        <p:nvSpPr>
          <p:cNvPr id="18" name="Text 16"/>
          <p:cNvSpPr/>
          <p:nvPr/>
        </p:nvSpPr>
        <p:spPr>
          <a:xfrm>
            <a:off x="905256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LaBraM (Liz)</a:t>
            </a:r>
            <a:endParaRPr lang="en-US" sz="1200" dirty="0"/>
          </a:p>
        </p:txBody>
      </p:sp>
      <p:sp>
        <p:nvSpPr>
          <p:cNvPr id="19" name="Shape 17"/>
          <p:cNvSpPr/>
          <p:nvPr/>
        </p:nvSpPr>
        <p:spPr>
          <a:xfrm>
            <a:off x="1097280" y="5440680"/>
            <a:ext cx="10058400" cy="0"/>
          </a:xfrm>
          <a:prstGeom prst="line">
            <a:avLst/>
          </a:prstGeom>
          <a:noFill/>
          <a:ln w="15875">
            <a:solidFill>
              <a:srgbClr val="D0D5DB"/>
            </a:solidFill>
            <a:prstDash val="solid"/>
          </a:ln>
        </p:spPr>
      </p:sp>
      <p:sp>
        <p:nvSpPr>
          <p:cNvPr id="20" name="Text 18"/>
          <p:cNvSpPr/>
          <p:nvPr/>
        </p:nvSpPr>
        <p:spPr>
          <a:xfrm>
            <a:off x="640080" y="5989320"/>
            <a:ext cx="10881360" cy="27432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ST-EEGFormer = 61.66% ≈ 61.7%   ·   comparable to LaBraM (~62%)   ·   above LDA (55.7%) and chance (50%)</a:t>
            </a:r>
            <a:endParaRPr lang="en-US" sz="1300" dirty="0"/>
          </a:p>
        </p:txBody>
      </p:sp>
      <p:sp>
        <p:nvSpPr>
          <p:cNvPr id="22" name="Shape 19"/>
          <p:cNvSpPr/>
          <p:nvPr/>
        </p:nvSpPr>
        <p:spPr>
          <a:xfrm>
            <a:off x="640080" y="6400800"/>
            <a:ext cx="10881360" cy="0"/>
          </a:xfrm>
          <a:prstGeom prst="line">
            <a:avLst/>
          </a:prstGeom>
          <a:noFill/>
          <a:ln w="9525">
            <a:solidFill>
              <a:srgbClr val="D0D5DB"/>
            </a:solidFill>
            <a:prstDash val="solid"/>
          </a:ln>
        </p:spPr>
      </p:sp>
      <p:sp>
        <p:nvSpPr>
          <p:cNvPr id="23" name="Text 20"/>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4" name="Text 21"/>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IN PROGRESS</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Next protocol: leave-one-subject-out (LOSO)</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6858000" cy="4572000"/>
          </a:xfrm>
          <a:prstGeom prst="rect">
            <a:avLst/>
          </a:prstGeom>
          <a:solidFill>
            <a:srgbClr val="FFFFFF"/>
          </a:solidFill>
          <a:ln w="12700">
            <a:solidFill>
              <a:srgbClr val="D0D5DB"/>
            </a:solidFill>
            <a:prstDash val="solid"/>
          </a:ln>
        </p:spPr>
      </p:sp>
      <p:sp>
        <p:nvSpPr>
          <p:cNvPr id="6" name="Text 4"/>
          <p:cNvSpPr/>
          <p:nvPr/>
        </p:nvSpPr>
        <p:spPr>
          <a:xfrm>
            <a:off x="914400" y="1600200"/>
            <a:ext cx="6400800" cy="36576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What LOSO evaluates</a:t>
            </a:r>
            <a:endParaRPr lang="en-US" sz="1700" dirty="0"/>
          </a:p>
        </p:txBody>
      </p:sp>
      <p:sp>
        <p:nvSpPr>
          <p:cNvPr id="7" name="Text 5"/>
          <p:cNvSpPr/>
          <p:nvPr/>
        </p:nvSpPr>
        <p:spPr>
          <a:xfrm>
            <a:off x="914400" y="2103120"/>
            <a:ext cx="6309360" cy="3566160"/>
          </a:xfrm>
          <a:prstGeom prst="rect">
            <a:avLst/>
          </a:prstGeom>
          <a:noFill/>
          <a:ln/>
        </p:spPr>
        <p:txBody>
          <a:bodyPr wrap="square" lIns="0" tIns="0" rIns="0" bIns="0" rtlCol="0" anchor="ctr"/>
          <a:lstStyle/>
          <a:p>
            <a:pPr marL="0" indent="0">
              <a:spcAft>
                <a:spcPts val="600"/>
              </a:spcAft>
              <a:buNone/>
            </a:pPr>
            <a:r>
              <a:rPr lang="en-US" sz="1500" b="1" dirty="0">
                <a:solidFill>
                  <a:srgbClr val="5C6570"/>
                </a:solidFill>
                <a:latin typeface="Calibri" pitchFamily="34" charset="0"/>
                <a:ea typeface="Calibri" pitchFamily="34" charset="-122"/>
                <a:cs typeface="Calibri" pitchFamily="34" charset="-120"/>
              </a:rPr>
              <a:t>For each of 43 subjects: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Train on the other 42 subjects (50 epochs)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Finetune on the held-out subject (30 epochs)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Evaluate — stricter test of subject transfer</a:t>
            </a:r>
            <a:endParaRPr lang="en-US" sz="1500" dirty="0"/>
          </a:p>
          <a:p>
            <a:pPr marL="0" indent="0">
              <a:spcAft>
                <a:spcPts val="600"/>
              </a:spcAft>
              <a:buNone/>
            </a:pPr>
            <a:endParaRPr lang="en-US" sz="1500" dirty="0"/>
          </a:p>
          <a:p>
            <a:pPr marL="0" indent="0">
              <a:spcAft>
                <a:spcPts val="600"/>
              </a:spcAft>
              <a:buNone/>
            </a:pPr>
            <a:r>
              <a:rPr lang="en-US" sz="1500" dirty="0">
                <a:solidFill>
                  <a:srgbClr val="5C6570"/>
                </a:solidFill>
                <a:latin typeface="Calibri" pitchFamily="34" charset="0"/>
                <a:ea typeface="Calibri" pitchFamily="34" charset="-122"/>
                <a:cs typeface="Calibri" pitchFamily="34" charset="-120"/>
              </a:rPr>
              <a:t>Liz (LaBraM, full 43): 61.8 ± 12.4%</a:t>
            </a:r>
            <a:endParaRPr lang="en-US" sz="1500" dirty="0"/>
          </a:p>
          <a:p>
            <a:pPr marL="0" indent="0">
              <a:spcAft>
                <a:spcPts val="600"/>
              </a:spcAft>
              <a:buNone/>
            </a:pPr>
            <a:r>
              <a:rPr lang="en-US" sz="1500" dirty="0">
                <a:solidFill>
                  <a:srgbClr val="5C6570"/>
                </a:solidFill>
                <a:latin typeface="Calibri" pitchFamily="34" charset="0"/>
                <a:ea typeface="Calibri" pitchFamily="34" charset="-122"/>
                <a:cs typeface="Calibri" pitchFamily="34" charset="-120"/>
              </a:rPr>
              <a:t>ST-EEGFormer LOSO: running — full mean when 43/43 done</a:t>
            </a:r>
            <a:endParaRPr lang="en-US" sz="1500" dirty="0"/>
          </a:p>
        </p:txBody>
      </p:sp>
      <p:sp>
        <p:nvSpPr>
          <p:cNvPr id="8" name="Shape 6"/>
          <p:cNvSpPr/>
          <p:nvPr/>
        </p:nvSpPr>
        <p:spPr>
          <a:xfrm>
            <a:off x="7726680" y="1371600"/>
            <a:ext cx="3794760" cy="4572000"/>
          </a:xfrm>
          <a:prstGeom prst="rect">
            <a:avLst/>
          </a:prstGeom>
          <a:solidFill>
            <a:srgbClr val="2C3338"/>
          </a:solidFill>
          <a:ln w="12700">
            <a:solidFill>
              <a:srgbClr val="D0D5DB"/>
            </a:solidFill>
            <a:prstDash val="solid"/>
          </a:ln>
        </p:spPr>
      </p:sp>
      <p:sp>
        <p:nvSpPr>
          <p:cNvPr id="9" name="Text 7"/>
          <p:cNvSpPr/>
          <p:nvPr/>
        </p:nvSpPr>
        <p:spPr>
          <a:xfrm>
            <a:off x="8001000" y="1691640"/>
            <a:ext cx="329184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STATUS</a:t>
            </a:r>
            <a:endParaRPr lang="en-US" sz="1200" dirty="0"/>
          </a:p>
        </p:txBody>
      </p:sp>
      <p:sp>
        <p:nvSpPr>
          <p:cNvPr id="10" name="Text 8"/>
          <p:cNvSpPr/>
          <p:nvPr/>
        </p:nvSpPr>
        <p:spPr>
          <a:xfrm>
            <a:off x="8001000" y="2103120"/>
            <a:ext cx="3291840" cy="4572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Running</a:t>
            </a:r>
            <a:endParaRPr lang="en-US" sz="2600" dirty="0"/>
          </a:p>
        </p:txBody>
      </p:sp>
      <p:sp>
        <p:nvSpPr>
          <p:cNvPr id="11" name="Text 9"/>
          <p:cNvSpPr/>
          <p:nvPr/>
        </p:nvSpPr>
        <p:spPr>
          <a:xfrm>
            <a:off x="8001000" y="2697480"/>
            <a:ext cx="3291840" cy="320040"/>
          </a:xfrm>
          <a:prstGeom prst="rect">
            <a:avLst/>
          </a:prstGeom>
          <a:noFill/>
          <a:ln/>
        </p:spPr>
        <p:txBody>
          <a:bodyPr wrap="square" lIns="0" tIns="0" rIns="0" bIns="0" rtlCol="0" anchor="ctr"/>
          <a:lstStyle/>
          <a:p>
            <a:pPr marL="0" indent="0">
              <a:buNone/>
            </a:pPr>
            <a:r>
              <a:rPr lang="en-US" sz="1500" dirty="0">
                <a:solidFill>
                  <a:srgbClr val="C5CCD3"/>
                </a:solidFill>
                <a:latin typeface="Calibri" pitchFamily="34" charset="0"/>
                <a:ea typeface="Calibri" pitchFamily="34" charset="-122"/>
                <a:cs typeface="Calibri" pitchFamily="34" charset="-120"/>
              </a:rPr>
              <a:t>No final mean yet</a:t>
            </a:r>
            <a:endParaRPr lang="en-US" sz="1500" dirty="0"/>
          </a:p>
        </p:txBody>
      </p:sp>
      <p:sp>
        <p:nvSpPr>
          <p:cNvPr id="12" name="Text 10"/>
          <p:cNvSpPr/>
          <p:nvPr/>
        </p:nvSpPr>
        <p:spPr>
          <a:xfrm>
            <a:off x="8001000" y="3246120"/>
            <a:ext cx="3291840" cy="2286000"/>
          </a:xfrm>
          <a:prstGeom prst="rect">
            <a:avLst/>
          </a:prstGeom>
          <a:noFill/>
          <a:ln/>
        </p:spPr>
        <p:txBody>
          <a:bodyPr wrap="square" lIns="0" tIns="0" rIns="0" bIns="0" rtlCol="0" anchor="ctr"/>
          <a:lstStyle/>
          <a:p>
            <a:pPr marL="0" indent="0">
              <a:spcAft>
                <a:spcPts val="800"/>
              </a:spcAft>
              <a:buNone/>
            </a:pPr>
            <a:r>
              <a:rPr lang="en-US" sz="1400" dirty="0">
                <a:solidFill>
                  <a:srgbClr val="B0B8C1"/>
                </a:solidFill>
                <a:latin typeface="Calibri" pitchFamily="34" charset="0"/>
                <a:ea typeface="Calibri" pitchFamily="34" charset="-122"/>
                <a:cs typeface="Calibri" pitchFamily="34" charset="-120"/>
              </a:rPr>
              <a:t>Same config as population</a:t>
            </a:r>
            <a:endParaRPr lang="en-US" sz="1400" dirty="0"/>
          </a:p>
          <a:p>
            <a:pPr marL="0" indent="0">
              <a:spcAft>
                <a:spcPts val="800"/>
              </a:spcAft>
              <a:buNone/>
            </a:pPr>
            <a:r>
              <a:rPr lang="en-US" sz="1400" dirty="0">
                <a:solidFill>
                  <a:srgbClr val="B0B8C1"/>
                </a:solidFill>
                <a:latin typeface="Calibri" pitchFamily="34" charset="0"/>
                <a:ea typeface="Calibri" pitchFamily="34" charset="-122"/>
                <a:cs typeface="Calibri" pitchFamily="34" charset="-120"/>
              </a:rPr>
              <a:t>43 folds (compute-heavy)</a:t>
            </a:r>
            <a:endParaRPr lang="en-US" sz="1400" dirty="0"/>
          </a:p>
          <a:p>
            <a:pPr marL="0" indent="0">
              <a:spcAft>
                <a:spcPts val="800"/>
              </a:spcAft>
              <a:buNone/>
            </a:pPr>
            <a:r>
              <a:rPr lang="en-US" sz="1400" dirty="0">
                <a:solidFill>
                  <a:srgbClr val="B0B8C1"/>
                </a:solidFill>
                <a:latin typeface="Calibri" pitchFamily="34" charset="0"/>
                <a:ea typeface="Calibri" pitchFamily="34" charset="-122"/>
                <a:cs typeface="Calibri" pitchFamily="34" charset="-120"/>
              </a:rPr>
              <a:t>Main claim today:</a:t>
            </a:r>
            <a:endParaRPr lang="en-US" sz="1400" dirty="0"/>
          </a:p>
          <a:p>
            <a:pPr marL="0" indent="0">
              <a:spcAft>
                <a:spcPts val="800"/>
              </a:spcAft>
              <a:buNone/>
            </a:pPr>
            <a:r>
              <a:rPr lang="en-US" sz="1400" b="1" dirty="0">
                <a:solidFill>
                  <a:srgbClr val="B0B8C1"/>
                </a:solidFill>
                <a:latin typeface="Calibri" pitchFamily="34" charset="0"/>
                <a:ea typeface="Calibri" pitchFamily="34" charset="-122"/>
                <a:cs typeface="Calibri" pitchFamily="34" charset="-120"/>
              </a:rPr>
              <a:t>population 61.7%</a:t>
            </a:r>
            <a:endParaRPr lang="en-US" sz="1400" dirty="0"/>
          </a:p>
        </p:txBody>
      </p:sp>
      <p:sp>
        <p:nvSpPr>
          <p:cNvPr id="14" name="Shape 11"/>
          <p:cNvSpPr/>
          <p:nvPr/>
        </p:nvSpPr>
        <p:spPr>
          <a:xfrm>
            <a:off x="640080" y="6400800"/>
            <a:ext cx="10881360" cy="0"/>
          </a:xfrm>
          <a:prstGeom prst="line">
            <a:avLst/>
          </a:prstGeom>
          <a:noFill/>
          <a:ln w="9525">
            <a:solidFill>
              <a:srgbClr val="D0D5DB"/>
            </a:solidFill>
            <a:prstDash val="solid"/>
          </a:ln>
        </p:spPr>
      </p:sp>
      <p:sp>
        <p:nvSpPr>
          <p:cNvPr id="15" name="Text 1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6" name="Text 1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OUTLOOK</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Next steps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1325880"/>
          </a:xfrm>
          <a:prstGeom prst="rect">
            <a:avLst/>
          </a:prstGeom>
          <a:solidFill>
            <a:srgbClr val="FFFFFF"/>
          </a:solidFill>
          <a:ln w="12700">
            <a:solidFill>
              <a:srgbClr val="D0D5DB"/>
            </a:solidFill>
            <a:prstDash val="solid"/>
          </a:ln>
        </p:spPr>
      </p:sp>
      <p:sp>
        <p:nvSpPr>
          <p:cNvPr id="6" name="Text 4"/>
          <p:cNvSpPr/>
          <p:nvPr/>
        </p:nvSpPr>
        <p:spPr>
          <a:xfrm>
            <a:off x="960120" y="178308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737360" y="164592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Finish LOSO</a:t>
            </a:r>
            <a:endParaRPr lang="en-US" sz="1800" dirty="0"/>
          </a:p>
        </p:txBody>
      </p:sp>
      <p:sp>
        <p:nvSpPr>
          <p:cNvPr id="8" name="Text 6"/>
          <p:cNvSpPr/>
          <p:nvPr/>
        </p:nvSpPr>
        <p:spPr>
          <a:xfrm>
            <a:off x="1737360" y="210312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Complete all 43 folds; report mean ± std versus LaBraM (61.8 ± 12.4%).</a:t>
            </a:r>
            <a:endParaRPr lang="en-US" sz="1500" dirty="0"/>
          </a:p>
        </p:txBody>
      </p:sp>
      <p:sp>
        <p:nvSpPr>
          <p:cNvPr id="9" name="Shape 7"/>
          <p:cNvSpPr/>
          <p:nvPr/>
        </p:nvSpPr>
        <p:spPr>
          <a:xfrm>
            <a:off x="640080" y="2880360"/>
            <a:ext cx="10881360" cy="1325880"/>
          </a:xfrm>
          <a:prstGeom prst="rect">
            <a:avLst/>
          </a:prstGeom>
          <a:solidFill>
            <a:srgbClr val="FFFFFF"/>
          </a:solidFill>
          <a:ln w="12700">
            <a:solidFill>
              <a:srgbClr val="D0D5DB"/>
            </a:solidFill>
            <a:prstDash val="solid"/>
          </a:ln>
        </p:spPr>
      </p:sp>
      <p:sp>
        <p:nvSpPr>
          <p:cNvPr id="10" name="Text 8"/>
          <p:cNvSpPr/>
          <p:nvPr/>
        </p:nvSpPr>
        <p:spPr>
          <a:xfrm>
            <a:off x="960120" y="324612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737360" y="310896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Optional lighter LOSO</a:t>
            </a:r>
            <a:endParaRPr lang="en-US" sz="1800" dirty="0"/>
          </a:p>
        </p:txBody>
      </p:sp>
      <p:sp>
        <p:nvSpPr>
          <p:cNvPr id="12" name="Text 10"/>
          <p:cNvSpPr/>
          <p:nvPr/>
        </p:nvSpPr>
        <p:spPr>
          <a:xfrm>
            <a:off x="1737360" y="356616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Liz-style freeze-backbone / fewer epochs — fairer wall-clock comparison.</a:t>
            </a:r>
            <a:endParaRPr lang="en-US" sz="1500" dirty="0"/>
          </a:p>
        </p:txBody>
      </p:sp>
      <p:sp>
        <p:nvSpPr>
          <p:cNvPr id="13" name="Shape 11"/>
          <p:cNvSpPr/>
          <p:nvPr/>
        </p:nvSpPr>
        <p:spPr>
          <a:xfrm>
            <a:off x="640080" y="4343400"/>
            <a:ext cx="10881360" cy="1325880"/>
          </a:xfrm>
          <a:prstGeom prst="rect">
            <a:avLst/>
          </a:prstGeom>
          <a:solidFill>
            <a:srgbClr val="FFFFFF"/>
          </a:solidFill>
          <a:ln w="12700">
            <a:solidFill>
              <a:srgbClr val="D0D5DB"/>
            </a:solidFill>
            <a:prstDash val="solid"/>
          </a:ln>
        </p:spPr>
      </p:sp>
      <p:sp>
        <p:nvSpPr>
          <p:cNvPr id="14" name="Text 12"/>
          <p:cNvSpPr/>
          <p:nvPr/>
        </p:nvSpPr>
        <p:spPr>
          <a:xfrm>
            <a:off x="960120" y="470916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737360" y="457200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Reproducible pipeline</a:t>
            </a:r>
            <a:endParaRPr lang="en-US" sz="1800" dirty="0"/>
          </a:p>
        </p:txBody>
      </p:sp>
      <p:sp>
        <p:nvSpPr>
          <p:cNvPr id="16" name="Text 14"/>
          <p:cNvSpPr/>
          <p:nvPr/>
        </p:nvSpPr>
        <p:spPr>
          <a:xfrm>
            <a:off x="1737360" y="502920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Commit preprocessing, dataset YAML, and the fine-tuning configuration.</a:t>
            </a:r>
            <a:endParaRPr lang="en-US" sz="15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3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737360"/>
            <a:ext cx="10515600" cy="6400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4" name="Text 2"/>
          <p:cNvSpPr/>
          <p:nvPr/>
        </p:nvSpPr>
        <p:spPr>
          <a:xfrm>
            <a:off x="777240" y="2514600"/>
            <a:ext cx="10515600" cy="365760"/>
          </a:xfrm>
          <a:prstGeom prst="rect">
            <a:avLst/>
          </a:prstGeom>
          <a:noFill/>
          <a:ln/>
        </p:spPr>
        <p:txBody>
          <a:bodyPr wrap="square" lIns="0" tIns="0" rIns="0" bIns="0" rtlCol="0" anchor="ctr"/>
          <a:lstStyle/>
          <a:p>
            <a:pPr marL="0" indent="0">
              <a:buNone/>
            </a:pPr>
            <a:r>
              <a:rPr lang="en-US" sz="1800" dirty="0">
                <a:solidFill>
                  <a:srgbClr val="B0B8C1"/>
                </a:solidFill>
                <a:latin typeface="Calibri" pitchFamily="34" charset="0"/>
                <a:ea typeface="Calibri" pitchFamily="34" charset="-122"/>
                <a:cs typeface="Calibri" pitchFamily="34" charset="-120"/>
              </a:rPr>
              <a:t>Questions welcome  ·  5 minutes</a:t>
            </a:r>
            <a:endParaRPr lang="en-US" sz="1800" dirty="0"/>
          </a:p>
        </p:txBody>
      </p:sp>
      <p:sp>
        <p:nvSpPr>
          <p:cNvPr id="5" name="Shape 3"/>
          <p:cNvSpPr/>
          <p:nvPr/>
        </p:nvSpPr>
        <p:spPr>
          <a:xfrm>
            <a:off x="777240" y="3291840"/>
            <a:ext cx="10607040" cy="1965960"/>
          </a:xfrm>
          <a:prstGeom prst="rect">
            <a:avLst/>
          </a:prstGeom>
          <a:solidFill>
            <a:srgbClr val="3D454C"/>
          </a:solidFill>
          <a:ln w="12700">
            <a:solidFill>
              <a:srgbClr val="D0D5DB"/>
            </a:solidFill>
            <a:prstDash val="solid"/>
          </a:ln>
        </p:spPr>
      </p:sp>
      <p:sp>
        <p:nvSpPr>
          <p:cNvPr id="6" name="Text 4"/>
          <p:cNvSpPr/>
          <p:nvPr/>
        </p:nvSpPr>
        <p:spPr>
          <a:xfrm>
            <a:off x="1051560" y="3520440"/>
            <a:ext cx="1005840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Summary</a:t>
            </a:r>
            <a:endParaRPr lang="en-US" sz="1200" dirty="0"/>
          </a:p>
        </p:txBody>
      </p:sp>
      <p:sp>
        <p:nvSpPr>
          <p:cNvPr id="7" name="Text 5"/>
          <p:cNvSpPr/>
          <p:nvPr/>
        </p:nvSpPr>
        <p:spPr>
          <a:xfrm>
            <a:off x="1051560" y="3931920"/>
            <a:ext cx="10058400" cy="1005840"/>
          </a:xfrm>
          <a:prstGeom prst="rect">
            <a:avLst/>
          </a:prstGeom>
          <a:noFill/>
          <a:ln/>
        </p:spPr>
        <p:txBody>
          <a:bodyPr wrap="square" lIns="0" tIns="0" rIns="0" bIns="0" rtlCol="0" anchor="ctr"/>
          <a:lstStyle/>
          <a:p>
            <a:pPr marL="0" indent="0">
              <a:buNone/>
            </a:pPr>
            <a:r>
              <a:rPr lang="en-US" sz="1600" dirty="0">
                <a:solidFill>
                  <a:srgbClr val="E5E7EB"/>
                </a:solidFill>
                <a:latin typeface="Calibri" pitchFamily="34" charset="0"/>
                <a:ea typeface="Calibri" pitchFamily="34" charset="-122"/>
                <a:cs typeface="Calibri" pitchFamily="34" charset="-120"/>
              </a:rPr>
              <a:t>Population: ST-EEGFormer 61.7% ≈ LaBraM ~62% (above LDA 55.7%). LOSO is the next protocol — full mean when 43 folds are done.</a:t>
            </a:r>
            <a:endParaRPr lang="en-US" sz="1600" dirty="0"/>
          </a:p>
        </p:txBody>
      </p:sp>
      <p:sp>
        <p:nvSpPr>
          <p:cNvPr id="8" name="Text 6"/>
          <p:cNvSpPr/>
          <p:nvPr/>
        </p:nvSpPr>
        <p:spPr>
          <a:xfrm>
            <a:off x="777240" y="5623560"/>
            <a:ext cx="10515600" cy="320040"/>
          </a:xfrm>
          <a:prstGeom prst="rect">
            <a:avLst/>
          </a:prstGeom>
          <a:noFill/>
          <a:ln/>
        </p:spPr>
        <p:txBody>
          <a:bodyPr wrap="square" lIns="0" tIns="0" rIns="0" bIns="0" rtlCol="0" anchor="ctr"/>
          <a:lstStyle/>
          <a:p>
            <a:pPr marL="0" indent="0">
              <a:buNone/>
            </a:pPr>
            <a:r>
              <a:rPr lang="en-US" sz="1300" dirty="0">
                <a:solidFill>
                  <a:srgbClr val="8A939C"/>
                </a:solidFill>
                <a:latin typeface="Calibri" pitchFamily="34" charset="0"/>
                <a:ea typeface="Calibri" pitchFamily="34" charset="-122"/>
                <a:cs typeface="Calibri" pitchFamily="34" charset="-120"/>
              </a:rPr>
              <a:t>Maxime Lacombe  ·  Ishii Lab  ·  maxime.lacombe@esme.fr</a:t>
            </a:r>
            <a:endParaRPr lang="en-US" sz="1300" dirty="0"/>
          </a:p>
        </p:txBody>
      </p:sp>
      <p:sp>
        <p:nvSpPr>
          <p:cNvPr id="10" name="Shape 7"/>
          <p:cNvSpPr/>
          <p:nvPr/>
        </p:nvSpPr>
        <p:spPr>
          <a:xfrm>
            <a:off x="640080" y="6400800"/>
            <a:ext cx="10881360" cy="0"/>
          </a:xfrm>
          <a:prstGeom prst="line">
            <a:avLst/>
          </a:prstGeom>
          <a:noFill/>
          <a:ln w="9525">
            <a:solidFill>
              <a:srgbClr val="4B5563"/>
            </a:solidFill>
            <a:prstDash val="solid"/>
          </a:ln>
        </p:spPr>
      </p:sp>
      <p:sp>
        <p:nvSpPr>
          <p:cNvPr id="11" name="Text 8"/>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Maxime Lacombe  ·  Ishii Lab  ·  23 July 2026</a:t>
            </a:r>
            <a:endParaRPr lang="en-US" sz="1100" dirty="0"/>
          </a:p>
        </p:txBody>
      </p:sp>
      <p:sp>
        <p:nvSpPr>
          <p:cNvPr id="12" name="Text 9"/>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9CA3A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2514</Words>
  <Application>Microsoft Office PowerPoint</Application>
  <PresentationFormat>Grand écran</PresentationFormat>
  <Paragraphs>209</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Seminar — ST-EEGFormer at Ishii Lab</dc:title>
  <dc:subject>Ishii Lab seminar · July 23, 2026 · 15 min + 5 min Q&amp;A</dc:subject>
  <dc:creator>Maxime Lacombe</dc:creator>
  <cp:lastModifiedBy>Maxime Lacombe</cp:lastModifiedBy>
  <cp:revision>1</cp:revision>
  <dcterms:created xsi:type="dcterms:W3CDTF">2026-07-22T06:19:16Z</dcterms:created>
  <dcterms:modified xsi:type="dcterms:W3CDTF">2026-07-22T06:31:19Z</dcterms:modified>
</cp:coreProperties>
</file>