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Test accuracy</c:v>
                </c:pt>
              </c:strCache>
            </c:strRef>
          </c:tx>
          <c:spPr>
            <a:solidFill>
              <a:srgbClr val="2EC4B6"/>
            </a:solidFill>
            <a:ln w="44450" cap="flat">
              <a:solidFill>
                <a:srgbClr val="2EC4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EC4B6"/>
              </a:solidFill>
              <a:ln w="9525" cap="flat">
                <a:solidFill>
                  <a:srgbClr val="2EC4B6"/>
                </a:solidFill>
                <a:prstDash val="solid"/>
                <a:round/>
              </a:ln>
              <a:effectLst/>
            </c:spPr>
          </c:marker>
          <c:cat>
            <c:multiLvlStrRef>
              <c:f>Sheet1!$A$2:$A$12</c:f>
              <c:multiLvlStrCache>
                <c:ptCount val="11"/>
                <c:lvl>
                  <c:pt idx="0">
                    <c:v>0</c:v>
                  </c:pt>
                  <c:pt idx="1">
                    <c:v>5</c:v>
                  </c:pt>
                  <c:pt idx="2">
                    <c:v>10</c:v>
                  </c:pt>
                  <c:pt idx="3">
                    <c:v>15</c:v>
                  </c:pt>
                  <c:pt idx="4">
                    <c:v>20</c:v>
                  </c:pt>
                  <c:pt idx="5">
                    <c:v>25</c:v>
                  </c:pt>
                  <c:pt idx="6">
                    <c:v>30</c:v>
                  </c:pt>
                  <c:pt idx="7">
                    <c:v>35</c:v>
                  </c:pt>
                  <c:pt idx="8">
                    <c:v>40</c:v>
                  </c:pt>
                  <c:pt idx="9">
                    <c:v>45</c:v>
                  </c:pt>
                  <c:pt idx="10">
                    <c:v>49</c:v>
                  </c:pt>
                </c:lvl>
              </c:multiLvlStrCache>
            </c:multiLvlStrRef>
          </c:cat>
          <c:val>
            <c:numRef>
              <c:f>Sheet1!$B$2:$B$12</c:f>
              <c:numCache>
                <c:formatCode>General</c:formatCode>
                <c:ptCount val="11"/>
                <c:pt idx="0">
                  <c:v>48.5</c:v>
                </c:pt>
                <c:pt idx="1">
                  <c:v>50</c:v>
                </c:pt>
                <c:pt idx="2">
                  <c:v>50</c:v>
                </c:pt>
                <c:pt idx="3">
                  <c:v>49.5</c:v>
                </c:pt>
                <c:pt idx="4">
                  <c:v>50</c:v>
                </c:pt>
                <c:pt idx="5">
                  <c:v>50</c:v>
                </c:pt>
                <c:pt idx="6">
                  <c:v>58.4</c:v>
                </c:pt>
                <c:pt idx="7">
                  <c:v>56.9</c:v>
                </c:pt>
                <c:pt idx="8">
                  <c:v>61.5</c:v>
                </c:pt>
                <c:pt idx="9">
                  <c:v>60.8</c:v>
                </c:pt>
                <c:pt idx="10">
                  <c:v>61.7</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b="0" i="0" u="none" strike="noStrike">
                    <a:solidFill>
                      <a:srgbClr val="64748B"/>
                    </a:solidFill>
                    <a:latin typeface="Arial"/>
                  </a:defRPr>
                </a:pPr>
                <a:r>
                  <a:rPr b="0" i="0" u="none" strike="noStrike">
                    <a:solidFill>
                      <a:srgbClr val="64748B"/>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65"/>
          <c:min val="4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majorUnit val="5"/>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I'll present my work applying ST-EEGFormer, an EEG foundation model, to the spatial attention task on our lab dataset. The short version: my first runs were stuck at chance level. I traced the problem to the data and training pipeline, fixed it, and ST-EEGFormer now matches LaBraM. Let me walk you through how I got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ST-EEGFormer is an EEG foundation model with a Vision-Transformer backbone, about 300 million parameters. It's pre-trained on large amounts of EEG, then fine-tuned for a specific task. This fits the benchmark from the paper 'Are EEG foundation models worth it?' by Yang et al. My job was the ST-EEGFormer side; Liz worked on LaBraM in parallel, so we can compare the two. I also use a simple LDA as a sanity-check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covert spatial attention: subjects attend either to the left or to the right while we record EEG, and the model must decode which side. It's a 2-class problem, so chance is 50 percent. The dataset has 43 subjects, each with 8 sessions of 24 blocks, and every block has an 8-second attention period plus a control period we use as baseline. This is the ATR NBP dataset from Morioka and colleagues,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I started, and it wasn't pretty. Everything was at chance: BCI at 25 percent, spatial attention around 50 percent for every protocol, and crucially even a simple LDA was at chance. When a huge model AND a simple baseline both fail, it's a strong signal the problem is in the pipeline, not in the model or the data itself. So I stopped tuning the model and started auditing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fix was preprocessing. Comparing with Liz's working LaBraM pipeline, I found my conversion was skipping every cleaning step: no filtering, no reference, no baseline. And it was using only 2 seconds of the 8-second window, with inconsistent sampling rates across files. After fixing all of that, the LDA jumped from 51 to 55.7 percent, and up to 71 percent on the best subjects. So the left-versus-right signal was there all along, we just weren't extracting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even with clean data, ST-EEGFormer still couldn't learn. It couldn't even fit its own training set. The default fine-tuning settings were the culprit. Layer-wise learning-rate decay of 0.75 basically froze the backbone, and mixup at 0.9 was blending left and right trials together, which destroys the signal on a 2-class task. I set layer decay to 1.0 so the whole model adapts, turned mixup off for clean targets, and shortened the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this is the payoff. On the population protocol with all 43 subjects, ST-EEGFormer reaches 61.7 percent. That's essentially tied with LaBraM at 62 percent, and clearly above both chance at 50 and the LDA baseline at 55.7. So once the pipeline is correct, the foundation model does deliver on this task, on par with LaBraM.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training curve tells the story. For the first 25 epochs it sits at 50 percent. During warmup it looks completely stuck, which is exactly what fooled me in the earlier runs. Then it takes off, climbing to about 62 percent and plateauing, with training accuracy reaching 70 percent. So the model was learnable all along, it just needed the right configuration to start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the preprocessing was the hidden bug, the fine-tuning configuration is what unblocked learning, and the result is that ST-EEGFormer is on par with LaBraM on our data. For next steps, the natural one is the leave-one-subject-out protocol for cross-subject generalization. I want to flag that this is a heavy compute job for this model, so I'd like to plan it with you, possibly a reduced version. Plus per-subject fine-tuning and committing the reproducible pipeline.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052560" y="640080"/>
            <a:ext cx="256032" cy="256032"/>
          </a:xfrm>
          <a:prstGeom prst="ellipse">
            <a:avLst/>
          </a:prstGeom>
          <a:solidFill>
            <a:srgbClr val="0E2A4D"/>
          </a:solidFill>
          <a:ln w="12700">
            <a:solidFill>
              <a:srgbClr val="1C7293"/>
            </a:solidFill>
            <a:prstDash val="solid"/>
          </a:ln>
        </p:spPr>
      </p:sp>
      <p:sp>
        <p:nvSpPr>
          <p:cNvPr id="3" name="Shape 1"/>
          <p:cNvSpPr/>
          <p:nvPr/>
        </p:nvSpPr>
        <p:spPr>
          <a:xfrm>
            <a:off x="9555480" y="640080"/>
            <a:ext cx="256032" cy="256032"/>
          </a:xfrm>
          <a:prstGeom prst="ellipse">
            <a:avLst/>
          </a:prstGeom>
          <a:solidFill>
            <a:srgbClr val="0E2A4D"/>
          </a:solidFill>
          <a:ln w="12700">
            <a:solidFill>
              <a:srgbClr val="1C7293"/>
            </a:solidFill>
            <a:prstDash val="solid"/>
          </a:ln>
        </p:spPr>
      </p:sp>
      <p:sp>
        <p:nvSpPr>
          <p:cNvPr id="4" name="Shape 2"/>
          <p:cNvSpPr/>
          <p:nvPr/>
        </p:nvSpPr>
        <p:spPr>
          <a:xfrm>
            <a:off x="10058400" y="640080"/>
            <a:ext cx="256032" cy="256032"/>
          </a:xfrm>
          <a:prstGeom prst="ellipse">
            <a:avLst/>
          </a:prstGeom>
          <a:solidFill>
            <a:srgbClr val="0E2A4D"/>
          </a:solidFill>
          <a:ln w="12700">
            <a:solidFill>
              <a:srgbClr val="1C7293"/>
            </a:solidFill>
            <a:prstDash val="solid"/>
          </a:ln>
        </p:spPr>
      </p:sp>
      <p:sp>
        <p:nvSpPr>
          <p:cNvPr id="5" name="Shape 3"/>
          <p:cNvSpPr/>
          <p:nvPr/>
        </p:nvSpPr>
        <p:spPr>
          <a:xfrm>
            <a:off x="10561320" y="640080"/>
            <a:ext cx="256032" cy="256032"/>
          </a:xfrm>
          <a:prstGeom prst="ellipse">
            <a:avLst/>
          </a:prstGeom>
          <a:solidFill>
            <a:srgbClr val="2EC4B6"/>
          </a:solidFill>
          <a:ln w="12700">
            <a:solidFill>
              <a:srgbClr val="1C7293"/>
            </a:solidFill>
            <a:prstDash val="solid"/>
          </a:ln>
        </p:spPr>
      </p:sp>
      <p:sp>
        <p:nvSpPr>
          <p:cNvPr id="6" name="Shape 4"/>
          <p:cNvSpPr/>
          <p:nvPr/>
        </p:nvSpPr>
        <p:spPr>
          <a:xfrm>
            <a:off x="11064240" y="640080"/>
            <a:ext cx="256032" cy="256032"/>
          </a:xfrm>
          <a:prstGeom prst="ellipse">
            <a:avLst/>
          </a:prstGeom>
          <a:solidFill>
            <a:srgbClr val="0E2A4D"/>
          </a:solidFill>
          <a:ln w="12700">
            <a:solidFill>
              <a:srgbClr val="1C7293"/>
            </a:solidFill>
            <a:prstDash val="solid"/>
          </a:ln>
        </p:spPr>
      </p:sp>
      <p:sp>
        <p:nvSpPr>
          <p:cNvPr id="7" name="Shape 5"/>
          <p:cNvSpPr/>
          <p:nvPr/>
        </p:nvSpPr>
        <p:spPr>
          <a:xfrm>
            <a:off x="11567160" y="640080"/>
            <a:ext cx="256032" cy="256032"/>
          </a:xfrm>
          <a:prstGeom prst="ellipse">
            <a:avLst/>
          </a:prstGeom>
          <a:solidFill>
            <a:srgbClr val="0E2A4D"/>
          </a:solidFill>
          <a:ln w="12700">
            <a:solidFill>
              <a:srgbClr val="1C7293"/>
            </a:solidFill>
            <a:prstDash val="solid"/>
          </a:ln>
        </p:spPr>
      </p:sp>
      <p:sp>
        <p:nvSpPr>
          <p:cNvPr id="8" name="Shape 6"/>
          <p:cNvSpPr/>
          <p:nvPr/>
        </p:nvSpPr>
        <p:spPr>
          <a:xfrm>
            <a:off x="0" y="5806440"/>
            <a:ext cx="12188952" cy="0"/>
          </a:xfrm>
          <a:prstGeom prst="line">
            <a:avLst/>
          </a:prstGeom>
          <a:noFill/>
          <a:ln w="12700">
            <a:solidFill>
              <a:srgbClr val="0E2A4D"/>
            </a:solidFill>
            <a:prstDash val="solid"/>
          </a:ln>
        </p:spPr>
      </p:sp>
      <p:sp>
        <p:nvSpPr>
          <p:cNvPr id="9" name="Text 7"/>
          <p:cNvSpPr/>
          <p:nvPr/>
        </p:nvSpPr>
        <p:spPr>
          <a:xfrm>
            <a:off x="822960" y="1554480"/>
            <a:ext cx="9144000" cy="36576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ISHII LAB · KYOTO / ATR</a:t>
            </a:r>
            <a:endParaRPr lang="en-US" sz="1400" dirty="0"/>
          </a:p>
        </p:txBody>
      </p:sp>
      <p:sp>
        <p:nvSpPr>
          <p:cNvPr id="10" name="Text 8"/>
          <p:cNvSpPr/>
          <p:nvPr/>
        </p:nvSpPr>
        <p:spPr>
          <a:xfrm>
            <a:off x="777240" y="1965960"/>
            <a:ext cx="10607040" cy="1737360"/>
          </a:xfrm>
          <a:prstGeom prst="rect">
            <a:avLst/>
          </a:prstGeom>
          <a:noFill/>
          <a:ln/>
        </p:spPr>
        <p:txBody>
          <a:bodyPr wrap="square" lIns="0" tIns="0" rIns="0" bIns="0" rtlCol="0" anchor="ctr"/>
          <a:lstStyle/>
          <a:p>
            <a:pPr indent="0" marL="0">
              <a:lnSpc>
                <a:spcPct val="100000"/>
              </a:lnSpc>
              <a:buNone/>
            </a:pPr>
            <a:r>
              <a:rPr lang="en-US" sz="4600" b="1" dirty="0">
                <a:solidFill>
                  <a:srgbClr val="FFFFFF"/>
                </a:solidFill>
                <a:latin typeface="Trebuchet MS" pitchFamily="34" charset="0"/>
                <a:ea typeface="Trebuchet MS" pitchFamily="34" charset="-122"/>
                <a:cs typeface="Trebuchet MS" pitchFamily="34" charset="-120"/>
              </a:rPr>
              <a:t>ST-EEGFormer on the</a:t>
            </a:r>
            <a:endParaRPr lang="en-US" sz="4600" dirty="0"/>
          </a:p>
          <a:p>
            <a:pPr indent="0" marL="0">
              <a:lnSpc>
                <a:spcPct val="100000"/>
              </a:lnSpc>
              <a:buNone/>
            </a:pPr>
            <a:r>
              <a:rPr lang="en-US" sz="4600" b="1" dirty="0">
                <a:solidFill>
                  <a:srgbClr val="FFFFFF"/>
                </a:solidFill>
                <a:latin typeface="Trebuchet MS" pitchFamily="34" charset="0"/>
                <a:ea typeface="Trebuchet MS" pitchFamily="34" charset="-122"/>
                <a:cs typeface="Trebuchet MS" pitchFamily="34" charset="-120"/>
              </a:rPr>
              <a:t>Spatial Attention Task</a:t>
            </a:r>
            <a:endParaRPr lang="en-US" sz="4600" dirty="0"/>
          </a:p>
        </p:txBody>
      </p:sp>
      <p:sp>
        <p:nvSpPr>
          <p:cNvPr id="11" name="Text 9"/>
          <p:cNvSpPr/>
          <p:nvPr/>
        </p:nvSpPr>
        <p:spPr>
          <a:xfrm>
            <a:off x="822960" y="3794760"/>
            <a:ext cx="10241280" cy="73152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Fixing the pipeline to reproduce the G.2 benchmark on the ATR lab dataset — and comparing with LaBraM</a:t>
            </a:r>
            <a:endParaRPr lang="en-US" sz="1800" dirty="0"/>
          </a:p>
        </p:txBody>
      </p:sp>
      <p:sp>
        <p:nvSpPr>
          <p:cNvPr id="12" name="Text 10"/>
          <p:cNvSpPr/>
          <p:nvPr/>
        </p:nvSpPr>
        <p:spPr>
          <a:xfrm>
            <a:off x="822960" y="5029200"/>
            <a:ext cx="100584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Maxime Lacombe</a:t>
            </a:r>
            <a:pPr indent="0" marL="0">
              <a:buNone/>
            </a:pPr>
            <a:r>
              <a:rPr lang="en-US" sz="1400" dirty="0">
                <a:solidFill>
                  <a:srgbClr val="94A3B8"/>
                </a:solidFill>
                <a:latin typeface="Calibri" pitchFamily="34" charset="0"/>
                <a:ea typeface="Calibri" pitchFamily="34" charset="-122"/>
                <a:cs typeface="Calibri" pitchFamily="34" charset="-120"/>
              </a:rPr>
              <a:t>   ·   EEG foundation models   ·   July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566928"/>
            <a:ext cx="201168" cy="201168"/>
          </a:xfrm>
          <a:prstGeom prst="ellipse">
            <a:avLst/>
          </a:prstGeom>
          <a:solidFill>
            <a:srgbClr val="2EC4B6"/>
          </a:solidFill>
          <a:ln/>
        </p:spPr>
      </p:sp>
      <p:sp>
        <p:nvSpPr>
          <p:cNvPr id="3" name="Text 1"/>
          <p:cNvSpPr/>
          <p:nvPr/>
        </p:nvSpPr>
        <p:spPr>
          <a:xfrm>
            <a:off x="868680" y="457200"/>
            <a:ext cx="100584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CONTEXT</a:t>
            </a:r>
            <a:endParaRPr lang="en-US" sz="1200" dirty="0"/>
          </a:p>
        </p:txBody>
      </p:sp>
      <p:sp>
        <p:nvSpPr>
          <p:cNvPr id="4" name="Text 2"/>
          <p:cNvSpPr/>
          <p:nvPr/>
        </p:nvSpPr>
        <p:spPr>
          <a:xfrm>
            <a:off x="841248" y="713232"/>
            <a:ext cx="10698480" cy="64008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model: ST-EEGFormer</a:t>
            </a:r>
            <a:endParaRPr lang="en-US" sz="3000" dirty="0"/>
          </a:p>
        </p:txBody>
      </p:sp>
      <p:sp>
        <p:nvSpPr>
          <p:cNvPr id="5" name="Text 3"/>
          <p:cNvSpPr/>
          <p:nvPr/>
        </p:nvSpPr>
        <p:spPr>
          <a:xfrm>
            <a:off x="868680" y="1737360"/>
            <a:ext cx="5852160" cy="3200400"/>
          </a:xfrm>
          <a:prstGeom prst="rect">
            <a:avLst/>
          </a:prstGeom>
          <a:noFill/>
          <a:ln/>
        </p:spPr>
        <p:txBody>
          <a:bodyPr wrap="square" lIns="0" tIns="0" rIns="0" bIns="0" rtlCol="0" anchor="t"/>
          <a:lstStyle/>
          <a:p>
            <a:pPr indent="0" marL="0">
              <a:spcAft>
                <a:spcPts val="800"/>
              </a:spcAft>
              <a:buNone/>
            </a:pPr>
            <a:r>
              <a:rPr lang="en-US" sz="1700" b="1" dirty="0">
                <a:solidFill>
                  <a:srgbClr val="1E293B"/>
                </a:solidFill>
              </a:rPr>
              <a:t>An EEG foundation model</a:t>
            </a:r>
            <a:endParaRPr lang="en-US" sz="1700" dirty="0"/>
          </a:p>
          <a:p>
            <a:pPr indent="0" marL="0">
              <a:spcAft>
                <a:spcPts val="800"/>
              </a:spcAft>
              <a:buNone/>
            </a:pPr>
            <a:r>
              <a:rPr lang="en-US" sz="1400" dirty="0">
                <a:solidFill>
                  <a:srgbClr val="64748B"/>
                </a:solidFill>
              </a:rPr>
              <a:t>Vision-Transformer backbone, pre-trained on large amounts of EEG, then fine-tuned for a specific decoding task.</a:t>
            </a:r>
            <a:endParaRPr lang="en-US" sz="1700" dirty="0"/>
          </a:p>
          <a:p>
            <a:pPr indent="0" marL="0">
              <a:spcAft>
                <a:spcPts val="800"/>
              </a:spcAft>
              <a:buNone/>
            </a:pPr>
            <a:r>
              <a:rPr lang="en-US" sz="800" dirty="0">
                <a:solidFill>
                  <a:srgbClr val="000000"/>
                </a:solidFill>
              </a:rPr>
              <a:t> </a:t>
            </a:r>
            <a:endParaRPr lang="en-US" sz="1700" dirty="0"/>
          </a:p>
          <a:p>
            <a:pPr indent="0" marL="0">
              <a:spcAft>
                <a:spcPts val="800"/>
              </a:spcAft>
              <a:buNone/>
            </a:pPr>
            <a:r>
              <a:rPr lang="en-US" sz="1500" b="1" dirty="0">
                <a:solidFill>
                  <a:srgbClr val="1E293B"/>
                </a:solidFill>
              </a:rPr>
              <a:t>The question (Yang et al., 2026):</a:t>
            </a:r>
            <a:endParaRPr lang="en-US" sz="1700" dirty="0"/>
          </a:p>
          <a:p>
            <a:pPr indent="0" marL="0">
              <a:spcAft>
                <a:spcPts val="800"/>
              </a:spcAft>
              <a:buNone/>
            </a:pPr>
            <a:r>
              <a:rPr lang="en-US" sz="1400" dirty="0">
                <a:solidFill>
                  <a:srgbClr val="64748B"/>
                </a:solidFill>
              </a:rPr>
              <a:t>“Are EEG foundation models worth it?” — do they beat simple decoders on real BCI tasks?</a:t>
            </a:r>
            <a:endParaRPr lang="en-US" sz="1700" dirty="0"/>
          </a:p>
        </p:txBody>
      </p:sp>
      <p:sp>
        <p:nvSpPr>
          <p:cNvPr id="6" name="Shape 4"/>
          <p:cNvSpPr/>
          <p:nvPr/>
        </p:nvSpPr>
        <p:spPr>
          <a:xfrm>
            <a:off x="7132320" y="1783080"/>
            <a:ext cx="4480560"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7" name="Text 5"/>
          <p:cNvSpPr/>
          <p:nvPr/>
        </p:nvSpPr>
        <p:spPr>
          <a:xfrm>
            <a:off x="7132320" y="1920240"/>
            <a:ext cx="4480560" cy="685800"/>
          </a:xfrm>
          <a:prstGeom prst="rect">
            <a:avLst/>
          </a:prstGeom>
          <a:noFill/>
          <a:ln/>
        </p:spPr>
        <p:txBody>
          <a:bodyPr wrap="square" lIns="0" tIns="0" rIns="0" bIns="0" rtlCol="0" anchor="ctr"/>
          <a:lstStyle/>
          <a:p>
            <a:pPr algn="ctr" indent="0" marL="0">
              <a:buNone/>
            </a:pPr>
            <a:r>
              <a:rPr lang="en-US" sz="4000" b="1" dirty="0">
                <a:solidFill>
                  <a:srgbClr val="0E5A8A"/>
                </a:solidFill>
                <a:latin typeface="Trebuchet MS" pitchFamily="34" charset="0"/>
                <a:ea typeface="Trebuchet MS" pitchFamily="34" charset="-122"/>
                <a:cs typeface="Trebuchet MS" pitchFamily="34" charset="-120"/>
              </a:rPr>
              <a:t>302M</a:t>
            </a:r>
            <a:endParaRPr lang="en-US" sz="4000" dirty="0"/>
          </a:p>
        </p:txBody>
      </p:sp>
      <p:sp>
        <p:nvSpPr>
          <p:cNvPr id="8" name="Text 6"/>
          <p:cNvSpPr/>
          <p:nvPr/>
        </p:nvSpPr>
        <p:spPr>
          <a:xfrm>
            <a:off x="7132320" y="2606040"/>
            <a:ext cx="4480560" cy="45720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trainable parameters (ViT-large)</a:t>
            </a:r>
            <a:endParaRPr lang="en-US" sz="1300" dirty="0"/>
          </a:p>
        </p:txBody>
      </p:sp>
      <p:sp>
        <p:nvSpPr>
          <p:cNvPr id="9" name="Shape 7"/>
          <p:cNvSpPr/>
          <p:nvPr/>
        </p:nvSpPr>
        <p:spPr>
          <a:xfrm>
            <a:off x="7132320" y="3383280"/>
            <a:ext cx="2148840" cy="146304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10" name="Text 8"/>
          <p:cNvSpPr/>
          <p:nvPr/>
        </p:nvSpPr>
        <p:spPr>
          <a:xfrm>
            <a:off x="7132320" y="3520440"/>
            <a:ext cx="2148840" cy="3200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Compared to</a:t>
            </a:r>
            <a:endParaRPr lang="en-US" sz="1200" dirty="0"/>
          </a:p>
        </p:txBody>
      </p:sp>
      <p:sp>
        <p:nvSpPr>
          <p:cNvPr id="11" name="Text 9"/>
          <p:cNvSpPr/>
          <p:nvPr/>
        </p:nvSpPr>
        <p:spPr>
          <a:xfrm>
            <a:off x="7132320" y="3840480"/>
            <a:ext cx="2148840" cy="548640"/>
          </a:xfrm>
          <a:prstGeom prst="rect">
            <a:avLst/>
          </a:prstGeom>
          <a:noFill/>
          <a:ln/>
        </p:spPr>
        <p:txBody>
          <a:bodyPr wrap="square" lIns="0" tIns="0" rIns="0" bIns="0" rtlCol="0" anchor="ctr"/>
          <a:lstStyle/>
          <a:p>
            <a:pPr algn="ctr" indent="0" marL="0">
              <a:buNone/>
            </a:pPr>
            <a:r>
              <a:rPr lang="en-US" sz="2400" b="1" dirty="0">
                <a:solidFill>
                  <a:srgbClr val="1C7293"/>
                </a:solidFill>
                <a:latin typeface="Trebuchet MS" pitchFamily="34" charset="0"/>
                <a:ea typeface="Trebuchet MS" pitchFamily="34" charset="-122"/>
                <a:cs typeface="Trebuchet MS" pitchFamily="34" charset="-120"/>
              </a:rPr>
              <a:t>LaBraM</a:t>
            </a:r>
            <a:endParaRPr lang="en-US" sz="2400" dirty="0"/>
          </a:p>
        </p:txBody>
      </p:sp>
      <p:sp>
        <p:nvSpPr>
          <p:cNvPr id="12" name="Text 10"/>
          <p:cNvSpPr/>
          <p:nvPr/>
        </p:nvSpPr>
        <p:spPr>
          <a:xfrm>
            <a:off x="7132320" y="4389120"/>
            <a:ext cx="2148840" cy="32004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(Liz — parallel track)</a:t>
            </a:r>
            <a:endParaRPr lang="en-US" sz="1100" dirty="0"/>
          </a:p>
        </p:txBody>
      </p:sp>
      <p:sp>
        <p:nvSpPr>
          <p:cNvPr id="13" name="Shape 11"/>
          <p:cNvSpPr/>
          <p:nvPr/>
        </p:nvSpPr>
        <p:spPr>
          <a:xfrm>
            <a:off x="9464040" y="3383280"/>
            <a:ext cx="2148840" cy="1463040"/>
          </a:xfrm>
          <a:prstGeom prst="roundRect">
            <a:avLst>
              <a:gd name="adj" fmla="val 5000"/>
            </a:avLst>
          </a:prstGeom>
          <a:solidFill>
            <a:srgbClr val="FFFFFF"/>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14" name="Text 12"/>
          <p:cNvSpPr/>
          <p:nvPr/>
        </p:nvSpPr>
        <p:spPr>
          <a:xfrm>
            <a:off x="9464040" y="3520440"/>
            <a:ext cx="2148840" cy="32004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Baseline</a:t>
            </a:r>
            <a:endParaRPr lang="en-US" sz="1200" dirty="0"/>
          </a:p>
        </p:txBody>
      </p:sp>
      <p:sp>
        <p:nvSpPr>
          <p:cNvPr id="15" name="Text 13"/>
          <p:cNvSpPr/>
          <p:nvPr/>
        </p:nvSpPr>
        <p:spPr>
          <a:xfrm>
            <a:off x="9464040" y="3840480"/>
            <a:ext cx="2148840" cy="548640"/>
          </a:xfrm>
          <a:prstGeom prst="rect">
            <a:avLst/>
          </a:prstGeom>
          <a:noFill/>
          <a:ln/>
        </p:spPr>
        <p:txBody>
          <a:bodyPr wrap="square" lIns="0" tIns="0" rIns="0" bIns="0" rtlCol="0" anchor="ctr"/>
          <a:lstStyle/>
          <a:p>
            <a:pPr algn="ctr" indent="0" marL="0">
              <a:buNone/>
            </a:pPr>
            <a:r>
              <a:rPr lang="en-US" sz="2400" b="1" dirty="0">
                <a:solidFill>
                  <a:srgbClr val="2EC4B6"/>
                </a:solidFill>
                <a:latin typeface="Trebuchet MS" pitchFamily="34" charset="0"/>
                <a:ea typeface="Trebuchet MS" pitchFamily="34" charset="-122"/>
                <a:cs typeface="Trebuchet MS" pitchFamily="34" charset="-120"/>
              </a:rPr>
              <a:t>LDA</a:t>
            </a:r>
            <a:endParaRPr lang="en-US" sz="2400" dirty="0"/>
          </a:p>
        </p:txBody>
      </p:sp>
      <p:sp>
        <p:nvSpPr>
          <p:cNvPr id="16" name="Text 14"/>
          <p:cNvSpPr/>
          <p:nvPr/>
        </p:nvSpPr>
        <p:spPr>
          <a:xfrm>
            <a:off x="9464040" y="4389120"/>
            <a:ext cx="2148840" cy="32004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simple linear decoder</a:t>
            </a:r>
            <a:endParaRPr lang="en-US" sz="1100" dirty="0"/>
          </a:p>
        </p:txBody>
      </p:sp>
      <p:sp>
        <p:nvSpPr>
          <p:cNvPr id="18" name="Text 15"/>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ST-EEGFormer · Spatial attention · Ishii Lab</a:t>
            </a:r>
            <a:endParaRPr lang="en-US" sz="900" dirty="0"/>
          </a:p>
        </p:txBody>
      </p:sp>
      <p:sp>
        <p:nvSpPr>
          <p:cNvPr id="19" name="Text 16"/>
          <p:cNvSpPr/>
          <p:nvPr/>
        </p:nvSpPr>
        <p:spPr>
          <a:xfrm>
            <a:off x="11338560" y="6419088"/>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566928"/>
            <a:ext cx="201168" cy="201168"/>
          </a:xfrm>
          <a:prstGeom prst="ellipse">
            <a:avLst/>
          </a:prstGeom>
          <a:solidFill>
            <a:srgbClr val="2EC4B6"/>
          </a:solidFill>
          <a:ln/>
        </p:spPr>
      </p:sp>
      <p:sp>
        <p:nvSpPr>
          <p:cNvPr id="3" name="Text 1"/>
          <p:cNvSpPr/>
          <p:nvPr/>
        </p:nvSpPr>
        <p:spPr>
          <a:xfrm>
            <a:off x="868680" y="457200"/>
            <a:ext cx="100584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DATASET</a:t>
            </a:r>
            <a:endParaRPr lang="en-US" sz="1200" dirty="0"/>
          </a:p>
        </p:txBody>
      </p:sp>
      <p:sp>
        <p:nvSpPr>
          <p:cNvPr id="4" name="Text 2"/>
          <p:cNvSpPr/>
          <p:nvPr/>
        </p:nvSpPr>
        <p:spPr>
          <a:xfrm>
            <a:off x="841248" y="713232"/>
            <a:ext cx="10698480" cy="64008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spatial attention task</a:t>
            </a:r>
            <a:endParaRPr lang="en-US" sz="3000" dirty="0"/>
          </a:p>
        </p:txBody>
      </p:sp>
      <p:sp>
        <p:nvSpPr>
          <p:cNvPr id="5" name="Text 3"/>
          <p:cNvSpPr/>
          <p:nvPr/>
        </p:nvSpPr>
        <p:spPr>
          <a:xfrm>
            <a:off x="868680" y="1783080"/>
            <a:ext cx="5669280" cy="2377440"/>
          </a:xfrm>
          <a:prstGeom prst="rect">
            <a:avLst/>
          </a:prstGeom>
          <a:noFill/>
          <a:ln/>
        </p:spPr>
        <p:txBody>
          <a:bodyPr wrap="square" lIns="0" tIns="0" rIns="0" bIns="0" rtlCol="0" anchor="t"/>
          <a:lstStyle/>
          <a:p>
            <a:pPr indent="0" marL="0">
              <a:spcAft>
                <a:spcPts val="800"/>
              </a:spcAft>
              <a:buNone/>
            </a:pPr>
            <a:r>
              <a:rPr lang="en-US" sz="1700" b="1" dirty="0">
                <a:solidFill>
                  <a:srgbClr val="1E293B"/>
                </a:solidFill>
              </a:rPr>
              <a:t>Covert attention: left vs right</a:t>
            </a:r>
            <a:endParaRPr lang="en-US" sz="1700" dirty="0"/>
          </a:p>
          <a:p>
            <a:pPr indent="0" marL="0">
              <a:spcAft>
                <a:spcPts val="800"/>
              </a:spcAft>
              <a:buNone/>
            </a:pPr>
            <a:r>
              <a:rPr lang="en-US" sz="1400" dirty="0">
                <a:solidFill>
                  <a:srgbClr val="64748B"/>
                </a:solidFill>
              </a:rPr>
              <a:t>Subjects attend to the left or right side while EEG is recorded. The model must decode which side from the brain signal.</a:t>
            </a:r>
            <a:endParaRPr lang="en-US" sz="1700" dirty="0"/>
          </a:p>
          <a:p>
            <a:pPr indent="0" marL="0">
              <a:spcAft>
                <a:spcPts val="800"/>
              </a:spcAft>
              <a:buNone/>
            </a:pPr>
            <a:r>
              <a:rPr lang="en-US" sz="800" dirty="0">
                <a:solidFill>
                  <a:srgbClr val="000000"/>
                </a:solidFill>
              </a:rPr>
              <a:t> </a:t>
            </a:r>
            <a:endParaRPr lang="en-US" sz="1700" dirty="0"/>
          </a:p>
          <a:p>
            <a:pPr indent="0" marL="0">
              <a:spcAft>
                <a:spcPts val="800"/>
              </a:spcAft>
              <a:buNone/>
            </a:pPr>
            <a:r>
              <a:rPr lang="en-US" sz="1300" i="1" dirty="0">
                <a:solidFill>
                  <a:srgbClr val="64748B"/>
                </a:solidFill>
              </a:rPr>
              <a:t>ATR NBP dataset (Morioka et al., 2014).</a:t>
            </a:r>
            <a:endParaRPr lang="en-US" sz="1700" dirty="0"/>
          </a:p>
        </p:txBody>
      </p:sp>
      <p:sp>
        <p:nvSpPr>
          <p:cNvPr id="6" name="Shape 4"/>
          <p:cNvSpPr/>
          <p:nvPr/>
        </p:nvSpPr>
        <p:spPr>
          <a:xfrm>
            <a:off x="6720840" y="1828800"/>
            <a:ext cx="169164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7" name="Text 5"/>
          <p:cNvSpPr/>
          <p:nvPr/>
        </p:nvSpPr>
        <p:spPr>
          <a:xfrm>
            <a:off x="6720840" y="1938528"/>
            <a:ext cx="1691640" cy="640080"/>
          </a:xfrm>
          <a:prstGeom prst="rect">
            <a:avLst/>
          </a:prstGeom>
          <a:noFill/>
          <a:ln/>
        </p:spPr>
        <p:txBody>
          <a:bodyPr wrap="square" lIns="0" tIns="0" rIns="0" bIns="0" rtlCol="0" anchor="ctr"/>
          <a:lstStyle/>
          <a:p>
            <a:pPr algn="ctr" indent="0" marL="0">
              <a:buNone/>
            </a:pPr>
            <a:r>
              <a:rPr lang="en-US" sz="3000" b="1" dirty="0">
                <a:solidFill>
                  <a:srgbClr val="0E5A8A"/>
                </a:solidFill>
                <a:latin typeface="Trebuchet MS" pitchFamily="34" charset="0"/>
                <a:ea typeface="Trebuchet MS" pitchFamily="34" charset="-122"/>
                <a:cs typeface="Trebuchet MS" pitchFamily="34" charset="-120"/>
              </a:rPr>
              <a:t>43</a:t>
            </a:r>
            <a:endParaRPr lang="en-US" sz="3000" dirty="0"/>
          </a:p>
        </p:txBody>
      </p:sp>
      <p:sp>
        <p:nvSpPr>
          <p:cNvPr id="8" name="Text 6"/>
          <p:cNvSpPr/>
          <p:nvPr/>
        </p:nvSpPr>
        <p:spPr>
          <a:xfrm>
            <a:off x="6812280" y="2578608"/>
            <a:ext cx="1508760" cy="50292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subjects</a:t>
            </a:r>
            <a:endParaRPr lang="en-US" sz="1100" dirty="0"/>
          </a:p>
        </p:txBody>
      </p:sp>
      <p:sp>
        <p:nvSpPr>
          <p:cNvPr id="9" name="Shape 7"/>
          <p:cNvSpPr/>
          <p:nvPr/>
        </p:nvSpPr>
        <p:spPr>
          <a:xfrm>
            <a:off x="8549640" y="1828800"/>
            <a:ext cx="169164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10" name="Text 8"/>
          <p:cNvSpPr/>
          <p:nvPr/>
        </p:nvSpPr>
        <p:spPr>
          <a:xfrm>
            <a:off x="8549640" y="1938528"/>
            <a:ext cx="1691640" cy="640080"/>
          </a:xfrm>
          <a:prstGeom prst="rect">
            <a:avLst/>
          </a:prstGeom>
          <a:noFill/>
          <a:ln/>
        </p:spPr>
        <p:txBody>
          <a:bodyPr wrap="square" lIns="0" tIns="0" rIns="0" bIns="0" rtlCol="0" anchor="ctr"/>
          <a:lstStyle/>
          <a:p>
            <a:pPr algn="ctr" indent="0" marL="0">
              <a:buNone/>
            </a:pPr>
            <a:r>
              <a:rPr lang="en-US" sz="3000" b="1" dirty="0">
                <a:solidFill>
                  <a:srgbClr val="1C7293"/>
                </a:solidFill>
                <a:latin typeface="Trebuchet MS" pitchFamily="34" charset="0"/>
                <a:ea typeface="Trebuchet MS" pitchFamily="34" charset="-122"/>
                <a:cs typeface="Trebuchet MS" pitchFamily="34" charset="-120"/>
              </a:rPr>
              <a:t>2</a:t>
            </a:r>
            <a:endParaRPr lang="en-US" sz="3000" dirty="0"/>
          </a:p>
        </p:txBody>
      </p:sp>
      <p:sp>
        <p:nvSpPr>
          <p:cNvPr id="11" name="Text 9"/>
          <p:cNvSpPr/>
          <p:nvPr/>
        </p:nvSpPr>
        <p:spPr>
          <a:xfrm>
            <a:off x="8641080" y="2578608"/>
            <a:ext cx="1508760" cy="50292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classes (chance 50%)</a:t>
            </a:r>
            <a:endParaRPr lang="en-US" sz="1100" dirty="0"/>
          </a:p>
        </p:txBody>
      </p:sp>
      <p:sp>
        <p:nvSpPr>
          <p:cNvPr id="12" name="Shape 10"/>
          <p:cNvSpPr/>
          <p:nvPr/>
        </p:nvSpPr>
        <p:spPr>
          <a:xfrm>
            <a:off x="10378440" y="1828800"/>
            <a:ext cx="1691640" cy="1371600"/>
          </a:xfrm>
          <a:prstGeom prst="roundRect">
            <a:avLst>
              <a:gd name="adj" fmla="val 5333"/>
            </a:avLst>
          </a:prstGeom>
          <a:solidFill>
            <a:srgbClr val="FFFFFF"/>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13" name="Text 11"/>
          <p:cNvSpPr/>
          <p:nvPr/>
        </p:nvSpPr>
        <p:spPr>
          <a:xfrm>
            <a:off x="10378440" y="1938528"/>
            <a:ext cx="1691640" cy="640080"/>
          </a:xfrm>
          <a:prstGeom prst="rect">
            <a:avLst/>
          </a:prstGeom>
          <a:noFill/>
          <a:ln/>
        </p:spPr>
        <p:txBody>
          <a:bodyPr wrap="square" lIns="0" tIns="0" rIns="0" bIns="0" rtlCol="0" anchor="ctr"/>
          <a:lstStyle/>
          <a:p>
            <a:pPr algn="ctr" indent="0" marL="0">
              <a:buNone/>
            </a:pPr>
            <a:r>
              <a:rPr lang="en-US" sz="3000" b="1" dirty="0">
                <a:solidFill>
                  <a:srgbClr val="2EC4B6"/>
                </a:solidFill>
                <a:latin typeface="Trebuchet MS" pitchFamily="34" charset="0"/>
                <a:ea typeface="Trebuchet MS" pitchFamily="34" charset="-122"/>
                <a:cs typeface="Trebuchet MS" pitchFamily="34" charset="-120"/>
              </a:rPr>
              <a:t>8 s</a:t>
            </a:r>
            <a:endParaRPr lang="en-US" sz="3000" dirty="0"/>
          </a:p>
        </p:txBody>
      </p:sp>
      <p:sp>
        <p:nvSpPr>
          <p:cNvPr id="14" name="Text 12"/>
          <p:cNvSpPr/>
          <p:nvPr/>
        </p:nvSpPr>
        <p:spPr>
          <a:xfrm>
            <a:off x="10469880" y="2578608"/>
            <a:ext cx="1508760" cy="50292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attention window</a:t>
            </a:r>
            <a:endParaRPr lang="en-US" sz="1100" dirty="0"/>
          </a:p>
        </p:txBody>
      </p:sp>
      <p:sp>
        <p:nvSpPr>
          <p:cNvPr id="15" name="Shape 13"/>
          <p:cNvSpPr/>
          <p:nvPr/>
        </p:nvSpPr>
        <p:spPr>
          <a:xfrm>
            <a:off x="868680" y="4434840"/>
            <a:ext cx="10744200" cy="1417320"/>
          </a:xfrm>
          <a:prstGeom prst="roundRect">
            <a:avLst>
              <a:gd name="adj" fmla="val 5161"/>
            </a:avLst>
          </a:prstGeom>
          <a:solidFill>
            <a:srgbClr val="0B1F3A"/>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16" name="Text 14"/>
          <p:cNvSpPr/>
          <p:nvPr/>
        </p:nvSpPr>
        <p:spPr>
          <a:xfrm>
            <a:off x="1097280" y="4572000"/>
            <a:ext cx="10058400" cy="274320"/>
          </a:xfrm>
          <a:prstGeom prst="rect">
            <a:avLst/>
          </a:prstGeom>
          <a:noFill/>
          <a:ln/>
        </p:spPr>
        <p:txBody>
          <a:bodyPr wrap="square" lIns="0" tIns="0" rIns="0" bIns="0" rtlCol="0" anchor="ctr"/>
          <a:lstStyle/>
          <a:p>
            <a:pPr indent="0" marL="0">
              <a:buNone/>
            </a:pPr>
            <a:r>
              <a:rPr lang="en-US" sz="1100" b="1" spc="200" kern="0" dirty="0">
                <a:solidFill>
                  <a:srgbClr val="2EC4B6"/>
                </a:solidFill>
                <a:latin typeface="Calibri" pitchFamily="34" charset="0"/>
                <a:ea typeface="Calibri" pitchFamily="34" charset="-122"/>
                <a:cs typeface="Calibri" pitchFamily="34" charset="-120"/>
              </a:rPr>
              <a:t>EXPERIMENT STRUCTURE</a:t>
            </a:r>
            <a:endParaRPr lang="en-US" sz="1100" dirty="0"/>
          </a:p>
        </p:txBody>
      </p:sp>
      <p:sp>
        <p:nvSpPr>
          <p:cNvPr id="17" name="Text 15"/>
          <p:cNvSpPr/>
          <p:nvPr/>
        </p:nvSpPr>
        <p:spPr>
          <a:xfrm>
            <a:off x="1097280" y="4937760"/>
            <a:ext cx="1033272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8 sessions</a:t>
            </a:r>
            <a:pPr indent="0" marL="0">
              <a:buNone/>
            </a:pPr>
            <a:r>
              <a:rPr lang="en-US" sz="1600" dirty="0">
                <a:solidFill>
                  <a:srgbClr val="94A3B8"/>
                </a:solidFill>
                <a:latin typeface="Calibri" pitchFamily="34" charset="0"/>
                <a:ea typeface="Calibri" pitchFamily="34" charset="-122"/>
                <a:cs typeface="Calibri" pitchFamily="34" charset="-120"/>
              </a:rPr>
              <a:t>  per subject   →   </a:t>
            </a:r>
            <a:pPr indent="0" marL="0">
              <a:buNone/>
            </a:pPr>
            <a:r>
              <a:rPr lang="en-US" sz="1600" b="1" dirty="0">
                <a:solidFill>
                  <a:srgbClr val="FFFFFF"/>
                </a:solidFill>
                <a:latin typeface="Calibri" pitchFamily="34" charset="0"/>
                <a:ea typeface="Calibri" pitchFamily="34" charset="-122"/>
                <a:cs typeface="Calibri" pitchFamily="34" charset="-120"/>
              </a:rPr>
              <a:t>24 blocks</a:t>
            </a:r>
            <a:pPr indent="0" marL="0">
              <a:buNone/>
            </a:pPr>
            <a:r>
              <a:rPr lang="en-US" sz="1600" dirty="0">
                <a:solidFill>
                  <a:srgbClr val="94A3B8"/>
                </a:solidFill>
                <a:latin typeface="Calibri" pitchFamily="34" charset="0"/>
                <a:ea typeface="Calibri" pitchFamily="34" charset="-122"/>
                <a:cs typeface="Calibri" pitchFamily="34" charset="-120"/>
              </a:rPr>
              <a:t>  per session   →   each block:  </a:t>
            </a:r>
            <a:pPr indent="0" marL="0">
              <a:buNone/>
            </a:pPr>
            <a:r>
              <a:rPr lang="en-US" sz="1600" b="1" dirty="0">
                <a:solidFill>
                  <a:srgbClr val="22D3EE"/>
                </a:solidFill>
                <a:latin typeface="Calibri" pitchFamily="34" charset="0"/>
                <a:ea typeface="Calibri" pitchFamily="34" charset="-122"/>
                <a:cs typeface="Calibri" pitchFamily="34" charset="-120"/>
              </a:rPr>
              <a:t>8 s attention</a:t>
            </a:r>
            <a:pPr indent="0" marL="0">
              <a:buNone/>
            </a:pPr>
            <a:r>
              <a:rPr lang="en-US" sz="1600" dirty="0">
                <a:solidFill>
                  <a:srgbClr val="94A3B8"/>
                </a:solidFill>
                <a:latin typeface="Calibri" pitchFamily="34" charset="0"/>
                <a:ea typeface="Calibri" pitchFamily="34" charset="-122"/>
                <a:cs typeface="Calibri" pitchFamily="34" charset="-120"/>
              </a:rPr>
              <a:t>  +  </a:t>
            </a:r>
            <a:pPr indent="0" marL="0">
              <a:buNone/>
            </a:pPr>
            <a:r>
              <a:rPr lang="en-US" sz="1600" b="1" dirty="0">
                <a:solidFill>
                  <a:srgbClr val="FFFFFF"/>
                </a:solidFill>
                <a:latin typeface="Calibri" pitchFamily="34" charset="0"/>
                <a:ea typeface="Calibri" pitchFamily="34" charset="-122"/>
                <a:cs typeface="Calibri" pitchFamily="34" charset="-120"/>
              </a:rPr>
              <a:t>4 s control (baseline)</a:t>
            </a:r>
            <a:endParaRPr lang="en-US" sz="1600" dirty="0"/>
          </a:p>
        </p:txBody>
      </p:sp>
      <p:sp>
        <p:nvSpPr>
          <p:cNvPr id="19" name="Text 16"/>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ST-EEGFormer · Spatial attention · Ishii Lab</a:t>
            </a:r>
            <a:endParaRPr lang="en-US" sz="900" dirty="0"/>
          </a:p>
        </p:txBody>
      </p:sp>
      <p:sp>
        <p:nvSpPr>
          <p:cNvPr id="20" name="Text 17"/>
          <p:cNvSpPr/>
          <p:nvPr/>
        </p:nvSpPr>
        <p:spPr>
          <a:xfrm>
            <a:off x="11338560" y="6419088"/>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566928"/>
            <a:ext cx="201168" cy="201168"/>
          </a:xfrm>
          <a:prstGeom prst="ellipse">
            <a:avLst/>
          </a:prstGeom>
          <a:solidFill>
            <a:srgbClr val="2EC4B6"/>
          </a:solidFill>
          <a:ln/>
        </p:spPr>
      </p:sp>
      <p:sp>
        <p:nvSpPr>
          <p:cNvPr id="3" name="Text 1"/>
          <p:cNvSpPr/>
          <p:nvPr/>
        </p:nvSpPr>
        <p:spPr>
          <a:xfrm>
            <a:off x="868680" y="457200"/>
            <a:ext cx="100584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PROBLEM</a:t>
            </a:r>
            <a:endParaRPr lang="en-US" sz="1200" dirty="0"/>
          </a:p>
        </p:txBody>
      </p:sp>
      <p:sp>
        <p:nvSpPr>
          <p:cNvPr id="4" name="Text 2"/>
          <p:cNvSpPr/>
          <p:nvPr/>
        </p:nvSpPr>
        <p:spPr>
          <a:xfrm>
            <a:off x="841248" y="713232"/>
            <a:ext cx="10698480" cy="64008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Starting point: everything at chance</a:t>
            </a:r>
            <a:endParaRPr lang="en-US" sz="3000" dirty="0"/>
          </a:p>
        </p:txBody>
      </p:sp>
      <p:sp>
        <p:nvSpPr>
          <p:cNvPr id="5" name="Text 3"/>
          <p:cNvSpPr/>
          <p:nvPr/>
        </p:nvSpPr>
        <p:spPr>
          <a:xfrm>
            <a:off x="868680" y="1600200"/>
            <a:ext cx="10607040" cy="640080"/>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First runs stayed at chance level everywhere — even a simple LDA. The signal seemed absent, but the cause was in the pipeline, not the data.</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68680" y="2423160"/>
          <a:ext cx="7498080" cy="914400"/>
        </p:xfrm>
        <a:graphic>
          <a:graphicData uri="http://schemas.openxmlformats.org/drawingml/2006/table">
            <a:tbl>
              <a:tblPr/>
              <a:tblGrid>
                <a:gridCol w="4206240"/>
                <a:gridCol w="1645920"/>
                <a:gridCol w="1645920"/>
              </a:tblGrid>
              <a:tr h="502920">
                <a:tc>
                  <a:txBody>
                    <a:bodyPr/>
                    <a:lstStyle/>
                    <a:p>
                      <a:pPr algn="l" indent="0" marL="0">
                        <a:buNone/>
                      </a:pPr>
                      <a:r>
                        <a:rPr lang="en-US" sz="1400" b="1" dirty="0">
                          <a:solidFill>
                            <a:srgbClr val="FFFFFF"/>
                          </a:solidFill>
                        </a:rPr>
                        <a:t>Setup</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C7293"/>
                    </a:solidFill>
                  </a:tcPr>
                </a:tc>
                <a:tc>
                  <a:txBody>
                    <a:bodyPr/>
                    <a:lstStyle/>
                    <a:p>
                      <a:pPr algn="l" indent="0" marL="0">
                        <a:buNone/>
                      </a:pPr>
                      <a:r>
                        <a:rPr lang="en-US" sz="1400" b="1" dirty="0">
                          <a:solidFill>
                            <a:srgbClr val="FFFFFF"/>
                          </a:solidFill>
                        </a:rPr>
                        <a:t>Result</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C7293"/>
                    </a:solidFill>
                  </a:tcPr>
                </a:tc>
                <a:tc>
                  <a:txBody>
                    <a:bodyPr/>
                    <a:lstStyle/>
                    <a:p>
                      <a:pPr algn="l" indent="0" marL="0">
                        <a:buNone/>
                      </a:pPr>
                      <a:r>
                        <a:rPr lang="en-US" sz="1400" b="1" dirty="0">
                          <a:solidFill>
                            <a:srgbClr val="FFFFFF"/>
                          </a:solidFill>
                        </a:rPr>
                        <a:t>Chance</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C7293"/>
                    </a:solidFill>
                  </a:tcPr>
                </a:tc>
              </a:tr>
              <a:tr h="502920">
                <a:tc>
                  <a:txBody>
                    <a:bodyPr/>
                    <a:lstStyle/>
                    <a:p>
                      <a:pPr indent="0" marL="0">
                        <a:buNone/>
                      </a:pPr>
                      <a:r>
                        <a:rPr lang="en-US" sz="1400" dirty="0">
                          <a:solidFill>
                            <a:srgbClr val="1E293B"/>
                          </a:solidFill>
                        </a:rPr>
                        <a:t>BCI-IV-2a (population / LOO)</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91C1C"/>
                          </a:solidFill>
                        </a:rPr>
                        <a:t>~25–26%</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4748B"/>
                          </a:solidFill>
                        </a:rPr>
                        <a:t>25%</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E293B"/>
                          </a:solidFill>
                        </a:rPr>
                        <a:t>Spatial attention — LOO</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91C1C"/>
                          </a:solidFill>
                        </a:rPr>
                        <a:t>49.5%</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4748B"/>
                          </a:solidFill>
                        </a:rPr>
                        <a:t>50%</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E293B"/>
                          </a:solidFill>
                        </a:rPr>
                        <a:t>Spatial attention — per-subject</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91C1C"/>
                          </a:solidFill>
                        </a:rPr>
                        <a:t>50.4%</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4748B"/>
                          </a:solidFill>
                        </a:rPr>
                        <a:t>50%</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1E293B"/>
                          </a:solidFill>
                        </a:rPr>
                        <a:t>Simple LDA baseline</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91C1C"/>
                          </a:solidFill>
                        </a:rPr>
                        <a:t>51.0%</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64748B"/>
                          </a:solidFill>
                        </a:rPr>
                        <a:t>50%</a:t>
                      </a:r>
                      <a:endParaRPr lang="en-US" sz="1400" dirty="0"/>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Shape 4"/>
          <p:cNvSpPr/>
          <p:nvPr/>
        </p:nvSpPr>
        <p:spPr>
          <a:xfrm>
            <a:off x="8732520" y="2423160"/>
            <a:ext cx="2880360" cy="2514600"/>
          </a:xfrm>
          <a:prstGeom prst="roundRect">
            <a:avLst>
              <a:gd name="adj" fmla="val 2909"/>
            </a:avLst>
          </a:prstGeom>
          <a:solidFill>
            <a:srgbClr val="0B1F3A"/>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8" name="Text 5"/>
          <p:cNvSpPr/>
          <p:nvPr/>
        </p:nvSpPr>
        <p:spPr>
          <a:xfrm>
            <a:off x="8823960" y="2788920"/>
            <a:ext cx="2697480" cy="457200"/>
          </a:xfrm>
          <a:prstGeom prst="rect">
            <a:avLst/>
          </a:prstGeom>
          <a:noFill/>
          <a:ln/>
        </p:spPr>
        <p:txBody>
          <a:bodyPr wrap="square" lIns="0" tIns="0" rIns="0" bIns="0" rtlCol="0" anchor="ctr"/>
          <a:lstStyle/>
          <a:p>
            <a:pPr algn="ctr" indent="0" marL="0">
              <a:buNone/>
            </a:pPr>
            <a:r>
              <a:rPr lang="en-US" sz="2200" b="1" dirty="0">
                <a:solidFill>
                  <a:srgbClr val="2EC4B6"/>
                </a:solidFill>
                <a:latin typeface="Trebuchet MS" pitchFamily="34" charset="0"/>
                <a:ea typeface="Trebuchet MS" pitchFamily="34" charset="-122"/>
                <a:cs typeface="Trebuchet MS" pitchFamily="34" charset="-120"/>
              </a:rPr>
              <a:t>Not learning</a:t>
            </a:r>
            <a:endParaRPr lang="en-US" sz="2200" dirty="0"/>
          </a:p>
        </p:txBody>
      </p:sp>
      <p:sp>
        <p:nvSpPr>
          <p:cNvPr id="9" name="Text 6"/>
          <p:cNvSpPr/>
          <p:nvPr/>
        </p:nvSpPr>
        <p:spPr>
          <a:xfrm>
            <a:off x="8961120" y="3291840"/>
            <a:ext cx="2423160" cy="1554480"/>
          </a:xfrm>
          <a:prstGeom prst="rect">
            <a:avLst/>
          </a:prstGeom>
          <a:noFill/>
          <a:ln/>
        </p:spPr>
        <p:txBody>
          <a:bodyPr wrap="square" lIns="0" tIns="0" rIns="0" bIns="0" rtlCol="0" anchor="t"/>
          <a:lstStyle/>
          <a:p>
            <a:pPr algn="ctr" indent="0" marL="0">
              <a:buNone/>
            </a:pPr>
            <a:r>
              <a:rPr lang="en-US" sz="1300" dirty="0">
                <a:solidFill>
                  <a:srgbClr val="CBD5E1"/>
                </a:solidFill>
                <a:latin typeface="Calibri" pitchFamily="34" charset="0"/>
                <a:ea typeface="Calibri" pitchFamily="34" charset="-122"/>
                <a:cs typeface="Calibri" pitchFamily="34" charset="-120"/>
              </a:rPr>
              <a:t>Same story across datasets and protocols. A big model failing everywhere pointed to a systematic pipeline issue.</a:t>
            </a:r>
            <a:endParaRPr lang="en-US" sz="1300" dirty="0"/>
          </a:p>
        </p:txBody>
      </p:sp>
      <p:sp>
        <p:nvSpPr>
          <p:cNvPr id="11" name="Text 7"/>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ST-EEGFormer · Spatial attention · Ishii Lab</a:t>
            </a:r>
            <a:endParaRPr lang="en-US" sz="900" dirty="0"/>
          </a:p>
        </p:txBody>
      </p:sp>
      <p:sp>
        <p:nvSpPr>
          <p:cNvPr id="12" name="Text 8"/>
          <p:cNvSpPr/>
          <p:nvPr/>
        </p:nvSpPr>
        <p:spPr>
          <a:xfrm>
            <a:off x="11338560" y="6419088"/>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566928"/>
            <a:ext cx="201168" cy="201168"/>
          </a:xfrm>
          <a:prstGeom prst="ellipse">
            <a:avLst/>
          </a:prstGeom>
          <a:solidFill>
            <a:srgbClr val="2EC4B6"/>
          </a:solidFill>
          <a:ln/>
        </p:spPr>
      </p:sp>
      <p:sp>
        <p:nvSpPr>
          <p:cNvPr id="3" name="Text 1"/>
          <p:cNvSpPr/>
          <p:nvPr/>
        </p:nvSpPr>
        <p:spPr>
          <a:xfrm>
            <a:off x="868680" y="457200"/>
            <a:ext cx="100584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DIAGNOSIS</a:t>
            </a:r>
            <a:endParaRPr lang="en-US" sz="1200" dirty="0"/>
          </a:p>
        </p:txBody>
      </p:sp>
      <p:sp>
        <p:nvSpPr>
          <p:cNvPr id="4" name="Text 2"/>
          <p:cNvSpPr/>
          <p:nvPr/>
        </p:nvSpPr>
        <p:spPr>
          <a:xfrm>
            <a:off x="841248" y="713232"/>
            <a:ext cx="10698480" cy="64008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Fix 1 — Preprocessing the EEG</a:t>
            </a:r>
            <a:endParaRPr lang="en-US" sz="3000" dirty="0"/>
          </a:p>
        </p:txBody>
      </p:sp>
      <p:sp>
        <p:nvSpPr>
          <p:cNvPr id="5" name="Text 3"/>
          <p:cNvSpPr/>
          <p:nvPr/>
        </p:nvSpPr>
        <p:spPr>
          <a:xfrm>
            <a:off x="868680" y="1600200"/>
            <a:ext cx="10607040" cy="594360"/>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Comparing with Liz's working LaBraM pipeline revealed the conversion was skipping every cleaning step and using only 2 s of the 8 s window.</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68680" y="2331720"/>
          <a:ext cx="7040880" cy="914400"/>
        </p:xfrm>
        <a:graphic>
          <a:graphicData uri="http://schemas.openxmlformats.org/drawingml/2006/table">
            <a:tbl>
              <a:tblPr/>
              <a:tblGrid>
                <a:gridCol w="2286000"/>
                <a:gridCol w="2194560"/>
                <a:gridCol w="256032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Step</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C729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Before (chance)</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C729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Corrected</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C7293"/>
                    </a:solidFill>
                  </a:tcPr>
                </a:tc>
              </a:tr>
              <a:tr h="45720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Epoch window</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2 s</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15803D"/>
                          </a:solidFill>
                          <a:latin typeface="Calibri" pitchFamily="34" charset="0"/>
                          <a:ea typeface="Calibri" pitchFamily="34" charset="-122"/>
                          <a:cs typeface="Calibri" pitchFamily="34" charset="-120"/>
                        </a:rPr>
                        <a:t>8 s (full attention)</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Band-pass filter</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0.1–75 Hz + 60 Hz notch</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Reference</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average reference</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Baseline</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control-period mean</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Sampling rate</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b="1" dirty="0">
                          <a:solidFill>
                            <a:srgbClr val="B91C1C"/>
                          </a:solidFill>
                          <a:latin typeface="Calibri" pitchFamily="34" charset="0"/>
                          <a:ea typeface="Calibri" pitchFamily="34" charset="-122"/>
                          <a:cs typeface="Calibri" pitchFamily="34" charset="-120"/>
                        </a:rPr>
                        <a:t>mixed 256/512</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1E293B"/>
                          </a:solidFill>
                          <a:latin typeface="Calibri" pitchFamily="34" charset="0"/>
                          <a:ea typeface="Calibri" pitchFamily="34" charset="-122"/>
                          <a:cs typeface="Calibri" pitchFamily="34" charset="-120"/>
                        </a:rPr>
                        <a:t>resampled to 256 Hz</a:t>
                      </a:r>
                      <a:endParaRPr lang="en-US" sz="1300" dirty="0">
                        <a:latin typeface="Calibri" charset="0"/>
                        <a:ea typeface="Calibri" charset="0"/>
                        <a:cs typeface="Calibri" charset="0"/>
                      </a:endParaRPr>
                    </a:p>
                  </a:txBody>
                  <a:tcPr marL="76200" marR="76200" marT="25400" marB="2540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Shape 4"/>
          <p:cNvSpPr/>
          <p:nvPr/>
        </p:nvSpPr>
        <p:spPr>
          <a:xfrm>
            <a:off x="8275320" y="2331720"/>
            <a:ext cx="3337560" cy="2788920"/>
          </a:xfrm>
          <a:prstGeom prst="roundRect">
            <a:avLst>
              <a:gd name="adj" fmla="val 2623"/>
            </a:avLst>
          </a:prstGeom>
          <a:solidFill>
            <a:srgbClr val="FFFFFF"/>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8" name="Shape 5"/>
          <p:cNvSpPr/>
          <p:nvPr/>
        </p:nvSpPr>
        <p:spPr>
          <a:xfrm>
            <a:off x="8275320" y="2331720"/>
            <a:ext cx="109728" cy="2788920"/>
          </a:xfrm>
          <a:prstGeom prst="rect">
            <a:avLst/>
          </a:prstGeom>
          <a:solidFill>
            <a:srgbClr val="2EC4B6"/>
          </a:solidFill>
          <a:ln/>
        </p:spPr>
      </p:sp>
      <p:sp>
        <p:nvSpPr>
          <p:cNvPr id="9" name="Text 6"/>
          <p:cNvSpPr/>
          <p:nvPr/>
        </p:nvSpPr>
        <p:spPr>
          <a:xfrm>
            <a:off x="8549640" y="2514600"/>
            <a:ext cx="2926080" cy="3657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LDA sanity check</a:t>
            </a:r>
            <a:endParaRPr lang="en-US" sz="1300" dirty="0"/>
          </a:p>
        </p:txBody>
      </p:sp>
      <p:sp>
        <p:nvSpPr>
          <p:cNvPr id="10" name="Text 7"/>
          <p:cNvSpPr/>
          <p:nvPr/>
        </p:nvSpPr>
        <p:spPr>
          <a:xfrm>
            <a:off x="8549640" y="2926080"/>
            <a:ext cx="2926080" cy="822960"/>
          </a:xfrm>
          <a:prstGeom prst="rect">
            <a:avLst/>
          </a:prstGeom>
          <a:noFill/>
          <a:ln/>
        </p:spPr>
        <p:txBody>
          <a:bodyPr wrap="square" lIns="0" tIns="0" rIns="0" bIns="0" rtlCol="0" anchor="ctr"/>
          <a:lstStyle/>
          <a:p>
            <a:pPr indent="0" marL="0">
              <a:buNone/>
            </a:pPr>
            <a:r>
              <a:rPr lang="en-US" sz="3000" b="1" dirty="0">
                <a:solidFill>
                  <a:srgbClr val="94A3B8"/>
                </a:solidFill>
                <a:latin typeface="Trebuchet MS" pitchFamily="34" charset="0"/>
                <a:ea typeface="Trebuchet MS" pitchFamily="34" charset="-122"/>
                <a:cs typeface="Trebuchet MS" pitchFamily="34" charset="-120"/>
              </a:rPr>
              <a:t>51%</a:t>
            </a:r>
            <a:pPr indent="0" marL="0">
              <a:buNone/>
            </a:pPr>
            <a:r>
              <a:rPr lang="en-US" sz="2200" dirty="0">
                <a:solidFill>
                  <a:srgbClr val="64748B"/>
                </a:solidFill>
                <a:latin typeface="Trebuchet MS" pitchFamily="34" charset="0"/>
                <a:ea typeface="Trebuchet MS" pitchFamily="34" charset="-122"/>
                <a:cs typeface="Trebuchet MS" pitchFamily="34" charset="-120"/>
              </a:rPr>
              <a:t>  →  </a:t>
            </a:r>
            <a:pPr indent="0" marL="0">
              <a:buNone/>
            </a:pPr>
            <a:r>
              <a:rPr lang="en-US" sz="4000" b="1" dirty="0">
                <a:solidFill>
                  <a:srgbClr val="2EC4B6"/>
                </a:solidFill>
                <a:latin typeface="Trebuchet MS" pitchFamily="34" charset="0"/>
                <a:ea typeface="Trebuchet MS" pitchFamily="34" charset="-122"/>
                <a:cs typeface="Trebuchet MS" pitchFamily="34" charset="-120"/>
              </a:rPr>
              <a:t>55.7%</a:t>
            </a:r>
            <a:endParaRPr lang="en-US" sz="3000" dirty="0"/>
          </a:p>
        </p:txBody>
      </p:sp>
      <p:sp>
        <p:nvSpPr>
          <p:cNvPr id="11" name="Text 8"/>
          <p:cNvSpPr/>
          <p:nvPr/>
        </p:nvSpPr>
        <p:spPr>
          <a:xfrm>
            <a:off x="8549640" y="3886200"/>
            <a:ext cx="2880360" cy="1005840"/>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Up to 71% on the best subjects — the left/right signal is back.</a:t>
            </a:r>
            <a:endParaRPr lang="en-US" sz="1400" dirty="0"/>
          </a:p>
        </p:txBody>
      </p:sp>
      <p:sp>
        <p:nvSpPr>
          <p:cNvPr id="13" name="Text 9"/>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ST-EEGFormer · Spatial attention · Ishii Lab</a:t>
            </a:r>
            <a:endParaRPr lang="en-US" sz="900" dirty="0"/>
          </a:p>
        </p:txBody>
      </p:sp>
      <p:sp>
        <p:nvSpPr>
          <p:cNvPr id="14" name="Text 10"/>
          <p:cNvSpPr/>
          <p:nvPr/>
        </p:nvSpPr>
        <p:spPr>
          <a:xfrm>
            <a:off x="11338560" y="6419088"/>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566928"/>
            <a:ext cx="201168" cy="201168"/>
          </a:xfrm>
          <a:prstGeom prst="ellipse">
            <a:avLst/>
          </a:prstGeom>
          <a:solidFill>
            <a:srgbClr val="2EC4B6"/>
          </a:solidFill>
          <a:ln/>
        </p:spPr>
      </p:sp>
      <p:sp>
        <p:nvSpPr>
          <p:cNvPr id="3" name="Text 1"/>
          <p:cNvSpPr/>
          <p:nvPr/>
        </p:nvSpPr>
        <p:spPr>
          <a:xfrm>
            <a:off x="868680" y="457200"/>
            <a:ext cx="100584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DIAGNOSIS</a:t>
            </a:r>
            <a:endParaRPr lang="en-US" sz="1200" dirty="0"/>
          </a:p>
        </p:txBody>
      </p:sp>
      <p:sp>
        <p:nvSpPr>
          <p:cNvPr id="4" name="Text 2"/>
          <p:cNvSpPr/>
          <p:nvPr/>
        </p:nvSpPr>
        <p:spPr>
          <a:xfrm>
            <a:off x="841248" y="713232"/>
            <a:ext cx="10698480" cy="64008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Fix 2 — Fine-tuning configuration</a:t>
            </a:r>
            <a:endParaRPr lang="en-US" sz="3000" dirty="0"/>
          </a:p>
        </p:txBody>
      </p:sp>
      <p:sp>
        <p:nvSpPr>
          <p:cNvPr id="5" name="Text 3"/>
          <p:cNvSpPr/>
          <p:nvPr/>
        </p:nvSpPr>
        <p:spPr>
          <a:xfrm>
            <a:off x="868680" y="1600200"/>
            <a:ext cx="10607040" cy="640080"/>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With clean data the LDA worked, but ST-EEGFormer still could not even fit its training set. The default fine-tuning settings were throttling the model.</a:t>
            </a:r>
            <a:endParaRPr lang="en-US" sz="1500" dirty="0"/>
          </a:p>
        </p:txBody>
      </p:sp>
      <p:sp>
        <p:nvSpPr>
          <p:cNvPr id="6" name="Shape 4"/>
          <p:cNvSpPr/>
          <p:nvPr/>
        </p:nvSpPr>
        <p:spPr>
          <a:xfrm>
            <a:off x="868680" y="2423160"/>
            <a:ext cx="10744200" cy="960120"/>
          </a:xfrm>
          <a:prstGeom prst="roundRect">
            <a:avLst>
              <a:gd name="adj" fmla="val 7619"/>
            </a:avLst>
          </a:prstGeom>
          <a:solidFill>
            <a:srgbClr val="FFFFFF"/>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7" name="Text 5"/>
          <p:cNvSpPr/>
          <p:nvPr/>
        </p:nvSpPr>
        <p:spPr>
          <a:xfrm>
            <a:off x="1097280" y="2423160"/>
            <a:ext cx="3017520" cy="960120"/>
          </a:xfrm>
          <a:prstGeom prst="rect">
            <a:avLst/>
          </a:prstGeom>
          <a:noFill/>
          <a:ln/>
        </p:spPr>
        <p:txBody>
          <a:bodyPr wrap="square" lIns="0" tIns="0" rIns="0" bIns="0" rtlCol="0" anchor="ctr"/>
          <a:lstStyle/>
          <a:p>
            <a:pPr indent="0" marL="0">
              <a:buNone/>
            </a:pPr>
            <a:r>
              <a:rPr lang="en-US" sz="1600" b="1" dirty="0">
                <a:solidFill>
                  <a:srgbClr val="1E293B"/>
                </a:solidFill>
                <a:latin typeface="Trebuchet MS" pitchFamily="34" charset="0"/>
                <a:ea typeface="Trebuchet MS" pitchFamily="34" charset="-122"/>
                <a:cs typeface="Trebuchet MS" pitchFamily="34" charset="-120"/>
              </a:rPr>
              <a:t>Layer-wise LR decay</a:t>
            </a:r>
            <a:endParaRPr lang="en-US" sz="1600" dirty="0"/>
          </a:p>
        </p:txBody>
      </p:sp>
      <p:sp>
        <p:nvSpPr>
          <p:cNvPr id="8" name="Text 6"/>
          <p:cNvSpPr/>
          <p:nvPr/>
        </p:nvSpPr>
        <p:spPr>
          <a:xfrm>
            <a:off x="4114800" y="2532888"/>
            <a:ext cx="3657600" cy="73152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Before   </a:t>
            </a:r>
            <a:pPr indent="0" marL="0">
              <a:buNone/>
            </a:pPr>
            <a:r>
              <a:rPr lang="en-US" sz="1300" dirty="0">
                <a:solidFill>
                  <a:srgbClr val="B91C1C"/>
                </a:solidFill>
                <a:latin typeface="Calibri" pitchFamily="34" charset="0"/>
                <a:ea typeface="Calibri" pitchFamily="34" charset="-122"/>
                <a:cs typeface="Calibri" pitchFamily="34" charset="-120"/>
              </a:rPr>
              <a:t>0.75 — backbone barely moves</a:t>
            </a:r>
            <a:endParaRPr lang="en-US" sz="1100" dirty="0"/>
          </a:p>
        </p:txBody>
      </p:sp>
      <p:sp>
        <p:nvSpPr>
          <p:cNvPr id="9" name="Shape 7"/>
          <p:cNvSpPr/>
          <p:nvPr/>
        </p:nvSpPr>
        <p:spPr>
          <a:xfrm>
            <a:off x="7863840" y="2606040"/>
            <a:ext cx="0" cy="594360"/>
          </a:xfrm>
          <a:prstGeom prst="line">
            <a:avLst/>
          </a:prstGeom>
          <a:noFill/>
          <a:ln w="12700">
            <a:solidFill>
              <a:srgbClr val="E2E8F0"/>
            </a:solidFill>
            <a:prstDash val="solid"/>
          </a:ln>
        </p:spPr>
      </p:sp>
      <p:sp>
        <p:nvSpPr>
          <p:cNvPr id="10" name="Text 8"/>
          <p:cNvSpPr/>
          <p:nvPr/>
        </p:nvSpPr>
        <p:spPr>
          <a:xfrm>
            <a:off x="8138160" y="2532888"/>
            <a:ext cx="3291840" cy="73152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Fixed   </a:t>
            </a:r>
            <a:pPr indent="0" marL="0">
              <a:buNone/>
            </a:pPr>
            <a:r>
              <a:rPr lang="en-US" sz="1300" b="1" dirty="0">
                <a:solidFill>
                  <a:srgbClr val="15803D"/>
                </a:solidFill>
                <a:latin typeface="Calibri" pitchFamily="34" charset="0"/>
                <a:ea typeface="Calibri" pitchFamily="34" charset="-122"/>
                <a:cs typeface="Calibri" pitchFamily="34" charset="-120"/>
              </a:rPr>
              <a:t>1.0 — whole model adapts</a:t>
            </a:r>
            <a:endParaRPr lang="en-US" sz="1100" dirty="0"/>
          </a:p>
        </p:txBody>
      </p:sp>
      <p:sp>
        <p:nvSpPr>
          <p:cNvPr id="11" name="Shape 9"/>
          <p:cNvSpPr/>
          <p:nvPr/>
        </p:nvSpPr>
        <p:spPr>
          <a:xfrm>
            <a:off x="868680" y="3520440"/>
            <a:ext cx="10744200" cy="960120"/>
          </a:xfrm>
          <a:prstGeom prst="roundRect">
            <a:avLst>
              <a:gd name="adj" fmla="val 7619"/>
            </a:avLst>
          </a:prstGeom>
          <a:solidFill>
            <a:srgbClr val="FFFFFF"/>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12" name="Text 10"/>
          <p:cNvSpPr/>
          <p:nvPr/>
        </p:nvSpPr>
        <p:spPr>
          <a:xfrm>
            <a:off x="1097280" y="3520440"/>
            <a:ext cx="3017520" cy="960120"/>
          </a:xfrm>
          <a:prstGeom prst="rect">
            <a:avLst/>
          </a:prstGeom>
          <a:noFill/>
          <a:ln/>
        </p:spPr>
        <p:txBody>
          <a:bodyPr wrap="square" lIns="0" tIns="0" rIns="0" bIns="0" rtlCol="0" anchor="ctr"/>
          <a:lstStyle/>
          <a:p>
            <a:pPr indent="0" marL="0">
              <a:buNone/>
            </a:pPr>
            <a:r>
              <a:rPr lang="en-US" sz="1600" b="1" dirty="0">
                <a:solidFill>
                  <a:srgbClr val="1E293B"/>
                </a:solidFill>
                <a:latin typeface="Trebuchet MS" pitchFamily="34" charset="0"/>
                <a:ea typeface="Trebuchet MS" pitchFamily="34" charset="-122"/>
                <a:cs typeface="Trebuchet MS" pitchFamily="34" charset="-120"/>
              </a:rPr>
              <a:t>Mixup</a:t>
            </a:r>
            <a:endParaRPr lang="en-US" sz="1600" dirty="0"/>
          </a:p>
        </p:txBody>
      </p:sp>
      <p:sp>
        <p:nvSpPr>
          <p:cNvPr id="13" name="Text 11"/>
          <p:cNvSpPr/>
          <p:nvPr/>
        </p:nvSpPr>
        <p:spPr>
          <a:xfrm>
            <a:off x="4114800" y="3630168"/>
            <a:ext cx="3657600" cy="73152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Before   </a:t>
            </a:r>
            <a:pPr indent="0" marL="0">
              <a:buNone/>
            </a:pPr>
            <a:r>
              <a:rPr lang="en-US" sz="1300" dirty="0">
                <a:solidFill>
                  <a:srgbClr val="B91C1C"/>
                </a:solidFill>
                <a:latin typeface="Calibri" pitchFamily="34" charset="0"/>
                <a:ea typeface="Calibri" pitchFamily="34" charset="-122"/>
                <a:cs typeface="Calibri" pitchFamily="34" charset="-120"/>
              </a:rPr>
              <a:t>0.9 — blends L/R, kills 2-class signal</a:t>
            </a:r>
            <a:endParaRPr lang="en-US" sz="1100" dirty="0"/>
          </a:p>
        </p:txBody>
      </p:sp>
      <p:sp>
        <p:nvSpPr>
          <p:cNvPr id="14" name="Shape 12"/>
          <p:cNvSpPr/>
          <p:nvPr/>
        </p:nvSpPr>
        <p:spPr>
          <a:xfrm>
            <a:off x="7863840" y="3703320"/>
            <a:ext cx="0" cy="594360"/>
          </a:xfrm>
          <a:prstGeom prst="line">
            <a:avLst/>
          </a:prstGeom>
          <a:noFill/>
          <a:ln w="12700">
            <a:solidFill>
              <a:srgbClr val="E2E8F0"/>
            </a:solidFill>
            <a:prstDash val="solid"/>
          </a:ln>
        </p:spPr>
      </p:sp>
      <p:sp>
        <p:nvSpPr>
          <p:cNvPr id="15" name="Text 13"/>
          <p:cNvSpPr/>
          <p:nvPr/>
        </p:nvSpPr>
        <p:spPr>
          <a:xfrm>
            <a:off x="8138160" y="3630168"/>
            <a:ext cx="3291840" cy="73152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Fixed   </a:t>
            </a:r>
            <a:pPr indent="0" marL="0">
              <a:buNone/>
            </a:pPr>
            <a:r>
              <a:rPr lang="en-US" sz="1300" b="1" dirty="0">
                <a:solidFill>
                  <a:srgbClr val="15803D"/>
                </a:solidFill>
                <a:latin typeface="Calibri" pitchFamily="34" charset="0"/>
                <a:ea typeface="Calibri" pitchFamily="34" charset="-122"/>
                <a:cs typeface="Calibri" pitchFamily="34" charset="-120"/>
              </a:rPr>
              <a:t>0.0 — clean targets</a:t>
            </a:r>
            <a:endParaRPr lang="en-US" sz="1100" dirty="0"/>
          </a:p>
        </p:txBody>
      </p:sp>
      <p:sp>
        <p:nvSpPr>
          <p:cNvPr id="16" name="Shape 14"/>
          <p:cNvSpPr/>
          <p:nvPr/>
        </p:nvSpPr>
        <p:spPr>
          <a:xfrm>
            <a:off x="868680" y="4617720"/>
            <a:ext cx="10744200" cy="960120"/>
          </a:xfrm>
          <a:prstGeom prst="roundRect">
            <a:avLst>
              <a:gd name="adj" fmla="val 7619"/>
            </a:avLst>
          </a:prstGeom>
          <a:solidFill>
            <a:srgbClr val="FFFFFF"/>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17" name="Text 15"/>
          <p:cNvSpPr/>
          <p:nvPr/>
        </p:nvSpPr>
        <p:spPr>
          <a:xfrm>
            <a:off x="1097280" y="4617720"/>
            <a:ext cx="3017520" cy="960120"/>
          </a:xfrm>
          <a:prstGeom prst="rect">
            <a:avLst/>
          </a:prstGeom>
          <a:noFill/>
          <a:ln/>
        </p:spPr>
        <p:txBody>
          <a:bodyPr wrap="square" lIns="0" tIns="0" rIns="0" bIns="0" rtlCol="0" anchor="ctr"/>
          <a:lstStyle/>
          <a:p>
            <a:pPr indent="0" marL="0">
              <a:buNone/>
            </a:pPr>
            <a:r>
              <a:rPr lang="en-US" sz="1600" b="1" dirty="0">
                <a:solidFill>
                  <a:srgbClr val="1E293B"/>
                </a:solidFill>
                <a:latin typeface="Trebuchet MS" pitchFamily="34" charset="0"/>
                <a:ea typeface="Trebuchet MS" pitchFamily="34" charset="-122"/>
                <a:cs typeface="Trebuchet MS" pitchFamily="34" charset="-120"/>
              </a:rPr>
              <a:t>Warmup</a:t>
            </a:r>
            <a:endParaRPr lang="en-US" sz="1600" dirty="0"/>
          </a:p>
        </p:txBody>
      </p:sp>
      <p:sp>
        <p:nvSpPr>
          <p:cNvPr id="18" name="Text 16"/>
          <p:cNvSpPr/>
          <p:nvPr/>
        </p:nvSpPr>
        <p:spPr>
          <a:xfrm>
            <a:off x="4114800" y="4727448"/>
            <a:ext cx="3657600" cy="731520"/>
          </a:xfrm>
          <a:prstGeom prst="rect">
            <a:avLst/>
          </a:prstGeom>
          <a:noFill/>
          <a:ln/>
        </p:spPr>
        <p:txBody>
          <a:bodyPr wrap="square" lIns="0" tIns="0" rIns="0" bIns="0"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Before   </a:t>
            </a:r>
            <a:pPr indent="0" marL="0">
              <a:buNone/>
            </a:pPr>
            <a:r>
              <a:rPr lang="en-US" sz="1300" dirty="0">
                <a:solidFill>
                  <a:srgbClr val="B91C1C"/>
                </a:solidFill>
                <a:latin typeface="Calibri" pitchFamily="34" charset="0"/>
                <a:ea typeface="Calibri" pitchFamily="34" charset="-122"/>
                <a:cs typeface="Calibri" pitchFamily="34" charset="-120"/>
              </a:rPr>
              <a:t>10 / 30 epochs</a:t>
            </a:r>
            <a:endParaRPr lang="en-US" sz="1100" dirty="0"/>
          </a:p>
        </p:txBody>
      </p:sp>
      <p:sp>
        <p:nvSpPr>
          <p:cNvPr id="19" name="Shape 17"/>
          <p:cNvSpPr/>
          <p:nvPr/>
        </p:nvSpPr>
        <p:spPr>
          <a:xfrm>
            <a:off x="7863840" y="4800600"/>
            <a:ext cx="0" cy="594360"/>
          </a:xfrm>
          <a:prstGeom prst="line">
            <a:avLst/>
          </a:prstGeom>
          <a:noFill/>
          <a:ln w="12700">
            <a:solidFill>
              <a:srgbClr val="E2E8F0"/>
            </a:solidFill>
            <a:prstDash val="solid"/>
          </a:ln>
        </p:spPr>
      </p:sp>
      <p:sp>
        <p:nvSpPr>
          <p:cNvPr id="20" name="Text 18"/>
          <p:cNvSpPr/>
          <p:nvPr/>
        </p:nvSpPr>
        <p:spPr>
          <a:xfrm>
            <a:off x="8138160" y="4727448"/>
            <a:ext cx="3291840" cy="731520"/>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Fixed   </a:t>
            </a:r>
            <a:pPr indent="0" marL="0">
              <a:buNone/>
            </a:pPr>
            <a:r>
              <a:rPr lang="en-US" sz="1300" b="1" dirty="0">
                <a:solidFill>
                  <a:srgbClr val="15803D"/>
                </a:solidFill>
                <a:latin typeface="Calibri" pitchFamily="34" charset="0"/>
                <a:ea typeface="Calibri" pitchFamily="34" charset="-122"/>
                <a:cs typeface="Calibri" pitchFamily="34" charset="-120"/>
              </a:rPr>
              <a:t>5 / 50 epochs</a:t>
            </a:r>
            <a:endParaRPr lang="en-US" sz="1100" dirty="0"/>
          </a:p>
        </p:txBody>
      </p:sp>
      <p:sp>
        <p:nvSpPr>
          <p:cNvPr id="21" name="Text 19"/>
          <p:cNvSpPr/>
          <p:nvPr/>
        </p:nvSpPr>
        <p:spPr>
          <a:xfrm>
            <a:off x="868680" y="5806440"/>
            <a:ext cx="10058400" cy="365760"/>
          </a:xfrm>
          <a:prstGeom prst="rect">
            <a:avLst/>
          </a:prstGeom>
          <a:noFill/>
          <a:ln/>
        </p:spPr>
        <p:txBody>
          <a:bodyPr wrap="square" lIns="0" tIns="0" rIns="0" bIns="0" rtlCol="0" anchor="ctr"/>
          <a:lstStyle/>
          <a:p>
            <a:pPr indent="0" marL="0">
              <a:buNone/>
            </a:pPr>
            <a:r>
              <a:rPr lang="en-US" sz="1400" i="1" dirty="0">
                <a:solidFill>
                  <a:srgbClr val="1C7293"/>
                </a:solidFill>
                <a:latin typeface="Calibri" pitchFamily="34" charset="0"/>
                <a:ea typeface="Calibri" pitchFamily="34" charset="-122"/>
                <a:cs typeface="Calibri" pitchFamily="34" charset="-120"/>
              </a:rPr>
              <a:t>Result: the model finally learns (see next slide).</a:t>
            </a:r>
            <a:endParaRPr lang="en-US" sz="1400" dirty="0"/>
          </a:p>
        </p:txBody>
      </p:sp>
      <p:sp>
        <p:nvSpPr>
          <p:cNvPr id="23" name="Text 20"/>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ST-EEGFormer · Spatial attention · Ishii Lab</a:t>
            </a:r>
            <a:endParaRPr lang="en-US" sz="900" dirty="0"/>
          </a:p>
        </p:txBody>
      </p:sp>
      <p:sp>
        <p:nvSpPr>
          <p:cNvPr id="24" name="Text 21"/>
          <p:cNvSpPr/>
          <p:nvPr/>
        </p:nvSpPr>
        <p:spPr>
          <a:xfrm>
            <a:off x="11338560" y="6419088"/>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566928"/>
            <a:ext cx="201168" cy="201168"/>
          </a:xfrm>
          <a:prstGeom prst="ellipse">
            <a:avLst/>
          </a:prstGeom>
          <a:solidFill>
            <a:srgbClr val="2EC4B6"/>
          </a:solidFill>
          <a:ln/>
        </p:spPr>
      </p:sp>
      <p:sp>
        <p:nvSpPr>
          <p:cNvPr id="3" name="Text 1"/>
          <p:cNvSpPr/>
          <p:nvPr/>
        </p:nvSpPr>
        <p:spPr>
          <a:xfrm>
            <a:off x="868680" y="457200"/>
            <a:ext cx="100584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PAYOFF</a:t>
            </a:r>
            <a:endParaRPr lang="en-US" sz="1200" dirty="0"/>
          </a:p>
        </p:txBody>
      </p:sp>
      <p:sp>
        <p:nvSpPr>
          <p:cNvPr id="4" name="Text 2"/>
          <p:cNvSpPr/>
          <p:nvPr/>
        </p:nvSpPr>
        <p:spPr>
          <a:xfrm>
            <a:off x="841248" y="713232"/>
            <a:ext cx="10698480" cy="64008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Result — Population (43 subjects)</a:t>
            </a:r>
            <a:endParaRPr lang="en-US" sz="3000" dirty="0"/>
          </a:p>
        </p:txBody>
      </p:sp>
      <p:sp>
        <p:nvSpPr>
          <p:cNvPr id="5" name="Shape 3"/>
          <p:cNvSpPr/>
          <p:nvPr/>
        </p:nvSpPr>
        <p:spPr>
          <a:xfrm>
            <a:off x="1097280" y="4709160"/>
            <a:ext cx="10241280" cy="0"/>
          </a:xfrm>
          <a:prstGeom prst="line">
            <a:avLst/>
          </a:prstGeom>
          <a:noFill/>
          <a:ln w="12700">
            <a:solidFill>
              <a:srgbClr val="94A3B8"/>
            </a:solidFill>
            <a:prstDash val="dash"/>
          </a:ln>
        </p:spPr>
      </p:sp>
      <p:sp>
        <p:nvSpPr>
          <p:cNvPr id="6" name="Text 4"/>
          <p:cNvSpPr/>
          <p:nvPr/>
        </p:nvSpPr>
        <p:spPr>
          <a:xfrm>
            <a:off x="1143000" y="4398264"/>
            <a:ext cx="1463040" cy="228600"/>
          </a:xfrm>
          <a:prstGeom prst="rect">
            <a:avLst/>
          </a:prstGeom>
          <a:noFill/>
          <a:ln/>
        </p:spPr>
        <p:txBody>
          <a:bodyPr wrap="square" lIns="0" tIns="0" rIns="0" bIns="0" rtlCol="0" anchor="ctr"/>
          <a:lstStyle/>
          <a:p>
            <a:pPr algn="l" indent="0" marL="0">
              <a:buNone/>
            </a:pPr>
            <a:r>
              <a:rPr lang="en-US" sz="1000" dirty="0">
                <a:solidFill>
                  <a:srgbClr val="64748B"/>
                </a:solidFill>
                <a:latin typeface="Calibri" pitchFamily="34" charset="0"/>
                <a:ea typeface="Calibri" pitchFamily="34" charset="-122"/>
                <a:cs typeface="Calibri" pitchFamily="34" charset="-120"/>
              </a:rPr>
              <a:t>chance 50%</a:t>
            </a:r>
            <a:endParaRPr lang="en-US" sz="1000" dirty="0"/>
          </a:p>
        </p:txBody>
      </p:sp>
      <p:sp>
        <p:nvSpPr>
          <p:cNvPr id="7" name="Shape 5"/>
          <p:cNvSpPr/>
          <p:nvPr/>
        </p:nvSpPr>
        <p:spPr>
          <a:xfrm>
            <a:off x="1463040" y="4709160"/>
            <a:ext cx="1554480" cy="914400"/>
          </a:xfrm>
          <a:prstGeom prst="rect">
            <a:avLst/>
          </a:prstGeom>
          <a:solidFill>
            <a:srgbClr val="94A3B8"/>
          </a:solidFill>
          <a:ln/>
          <a:effectLst>
            <a:outerShdw sx="100000" sy="100000" kx="0" ky="0" algn="bl" rotWithShape="0" blurRad="101600" dist="38100" dir="8100000">
              <a:srgbClr val="0B1F3A">
                <a:alpha val="18000"/>
              </a:srgbClr>
            </a:outerShdw>
          </a:effectLst>
        </p:spPr>
      </p:sp>
      <p:sp>
        <p:nvSpPr>
          <p:cNvPr id="8" name="Text 6"/>
          <p:cNvSpPr/>
          <p:nvPr/>
        </p:nvSpPr>
        <p:spPr>
          <a:xfrm>
            <a:off x="1188720" y="4251960"/>
            <a:ext cx="2103120" cy="411480"/>
          </a:xfrm>
          <a:prstGeom prst="rect">
            <a:avLst/>
          </a:prstGeom>
          <a:noFill/>
          <a:ln/>
        </p:spPr>
        <p:txBody>
          <a:bodyPr wrap="square" lIns="0" tIns="0" rIns="0" bIns="0" rtlCol="0" anchor="ctr"/>
          <a:lstStyle/>
          <a:p>
            <a:pPr algn="ctr" indent="0" marL="0">
              <a:buNone/>
            </a:pPr>
            <a:r>
              <a:rPr lang="en-US" sz="1800" b="1" dirty="0">
                <a:solidFill>
                  <a:srgbClr val="1E293B"/>
                </a:solidFill>
                <a:latin typeface="Trebuchet MS" pitchFamily="34" charset="0"/>
                <a:ea typeface="Trebuchet MS" pitchFamily="34" charset="-122"/>
                <a:cs typeface="Trebuchet MS" pitchFamily="34" charset="-120"/>
              </a:rPr>
              <a:t>50%</a:t>
            </a:r>
            <a:endParaRPr lang="en-US" sz="1800" dirty="0"/>
          </a:p>
        </p:txBody>
      </p:sp>
      <p:sp>
        <p:nvSpPr>
          <p:cNvPr id="9" name="Text 7"/>
          <p:cNvSpPr/>
          <p:nvPr/>
        </p:nvSpPr>
        <p:spPr>
          <a:xfrm>
            <a:off x="1143000" y="5715000"/>
            <a:ext cx="2194560" cy="54864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Chance</a:t>
            </a:r>
            <a:endParaRPr lang="en-US" sz="1300" dirty="0"/>
          </a:p>
        </p:txBody>
      </p:sp>
      <p:sp>
        <p:nvSpPr>
          <p:cNvPr id="10" name="Shape 8"/>
          <p:cNvSpPr/>
          <p:nvPr/>
        </p:nvSpPr>
        <p:spPr>
          <a:xfrm>
            <a:off x="4069080" y="3666744"/>
            <a:ext cx="1554480" cy="1956816"/>
          </a:xfrm>
          <a:prstGeom prst="rect">
            <a:avLst/>
          </a:prstGeom>
          <a:solidFill>
            <a:srgbClr val="1C7293"/>
          </a:solidFill>
          <a:ln/>
          <a:effectLst>
            <a:outerShdw sx="100000" sy="100000" kx="0" ky="0" algn="bl" rotWithShape="0" blurRad="101600" dist="38100" dir="8100000">
              <a:srgbClr val="0B1F3A">
                <a:alpha val="18000"/>
              </a:srgbClr>
            </a:outerShdw>
          </a:effectLst>
        </p:spPr>
      </p:sp>
      <p:sp>
        <p:nvSpPr>
          <p:cNvPr id="11" name="Text 9"/>
          <p:cNvSpPr/>
          <p:nvPr/>
        </p:nvSpPr>
        <p:spPr>
          <a:xfrm>
            <a:off x="3794760" y="3209544"/>
            <a:ext cx="2103120" cy="411480"/>
          </a:xfrm>
          <a:prstGeom prst="rect">
            <a:avLst/>
          </a:prstGeom>
          <a:noFill/>
          <a:ln/>
        </p:spPr>
        <p:txBody>
          <a:bodyPr wrap="square" lIns="0" tIns="0" rIns="0" bIns="0" rtlCol="0" anchor="ctr"/>
          <a:lstStyle/>
          <a:p>
            <a:pPr algn="ctr" indent="0" marL="0">
              <a:buNone/>
            </a:pPr>
            <a:r>
              <a:rPr lang="en-US" sz="1800" b="1" dirty="0">
                <a:solidFill>
                  <a:srgbClr val="1E293B"/>
                </a:solidFill>
                <a:latin typeface="Trebuchet MS" pitchFamily="34" charset="0"/>
                <a:ea typeface="Trebuchet MS" pitchFamily="34" charset="-122"/>
                <a:cs typeface="Trebuchet MS" pitchFamily="34" charset="-120"/>
              </a:rPr>
              <a:t>55.7%</a:t>
            </a:r>
            <a:endParaRPr lang="en-US" sz="1800" dirty="0"/>
          </a:p>
        </p:txBody>
      </p:sp>
      <p:sp>
        <p:nvSpPr>
          <p:cNvPr id="12" name="Text 10"/>
          <p:cNvSpPr/>
          <p:nvPr/>
        </p:nvSpPr>
        <p:spPr>
          <a:xfrm>
            <a:off x="3749040" y="5715000"/>
            <a:ext cx="2194560" cy="54864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LDA</a:t>
            </a:r>
            <a:endParaRPr lang="en-US" sz="1300" dirty="0"/>
          </a:p>
        </p:txBody>
      </p:sp>
      <p:sp>
        <p:nvSpPr>
          <p:cNvPr id="13" name="Shape 11"/>
          <p:cNvSpPr/>
          <p:nvPr/>
        </p:nvSpPr>
        <p:spPr>
          <a:xfrm>
            <a:off x="6565392" y="2467051"/>
            <a:ext cx="1773936" cy="3156509"/>
          </a:xfrm>
          <a:prstGeom prst="rect">
            <a:avLst/>
          </a:prstGeom>
          <a:solidFill>
            <a:srgbClr val="D1FAE5"/>
          </a:solidFill>
          <a:ln/>
        </p:spPr>
      </p:sp>
      <p:sp>
        <p:nvSpPr>
          <p:cNvPr id="14" name="Shape 12"/>
          <p:cNvSpPr/>
          <p:nvPr/>
        </p:nvSpPr>
        <p:spPr>
          <a:xfrm>
            <a:off x="6675120" y="2576779"/>
            <a:ext cx="1554480" cy="3046781"/>
          </a:xfrm>
          <a:prstGeom prst="rect">
            <a:avLst/>
          </a:prstGeom>
          <a:solidFill>
            <a:srgbClr val="2EC4B6"/>
          </a:solidFill>
          <a:ln/>
          <a:effectLst>
            <a:outerShdw sx="100000" sy="100000" kx="0" ky="0" algn="bl" rotWithShape="0" blurRad="101600" dist="38100" dir="8100000">
              <a:srgbClr val="0B1F3A">
                <a:alpha val="18000"/>
              </a:srgbClr>
            </a:outerShdw>
          </a:effectLst>
        </p:spPr>
      </p:sp>
      <p:sp>
        <p:nvSpPr>
          <p:cNvPr id="15" name="Text 13"/>
          <p:cNvSpPr/>
          <p:nvPr/>
        </p:nvSpPr>
        <p:spPr>
          <a:xfrm>
            <a:off x="6400800" y="2119579"/>
            <a:ext cx="2103120" cy="411480"/>
          </a:xfrm>
          <a:prstGeom prst="rect">
            <a:avLst/>
          </a:prstGeom>
          <a:noFill/>
          <a:ln/>
        </p:spPr>
        <p:txBody>
          <a:bodyPr wrap="square" lIns="0" tIns="0" rIns="0" bIns="0" rtlCol="0" anchor="ctr"/>
          <a:lstStyle/>
          <a:p>
            <a:pPr algn="ctr" indent="0" marL="0">
              <a:buNone/>
            </a:pPr>
            <a:r>
              <a:rPr lang="en-US" sz="1800" b="1" dirty="0">
                <a:solidFill>
                  <a:srgbClr val="0F766E"/>
                </a:solidFill>
                <a:latin typeface="Trebuchet MS" pitchFamily="34" charset="0"/>
                <a:ea typeface="Trebuchet MS" pitchFamily="34" charset="-122"/>
                <a:cs typeface="Trebuchet MS" pitchFamily="34" charset="-120"/>
              </a:rPr>
              <a:t>61.7%</a:t>
            </a:r>
            <a:endParaRPr lang="en-US" sz="1800" dirty="0"/>
          </a:p>
        </p:txBody>
      </p:sp>
      <p:sp>
        <p:nvSpPr>
          <p:cNvPr id="16" name="Text 14"/>
          <p:cNvSpPr/>
          <p:nvPr/>
        </p:nvSpPr>
        <p:spPr>
          <a:xfrm>
            <a:off x="6355080" y="5715000"/>
            <a:ext cx="2194560" cy="548640"/>
          </a:xfrm>
          <a:prstGeom prst="rect">
            <a:avLst/>
          </a:prstGeom>
          <a:noFill/>
          <a:ln/>
        </p:spPr>
        <p:txBody>
          <a:bodyPr wrap="square" lIns="0" tIns="0" rIns="0" bIns="0" rtlCol="0" anchor="ctr"/>
          <a:lstStyle/>
          <a:p>
            <a:pPr algn="ctr" indent="0" marL="0">
              <a:buNone/>
            </a:pPr>
            <a:r>
              <a:rPr lang="en-US" sz="1300" b="1" dirty="0">
                <a:solidFill>
                  <a:srgbClr val="0F766E"/>
                </a:solidFill>
                <a:latin typeface="Calibri" pitchFamily="34" charset="0"/>
                <a:ea typeface="Calibri" pitchFamily="34" charset="-122"/>
                <a:cs typeface="Calibri" pitchFamily="34" charset="-120"/>
              </a:rPr>
              <a:t>ST-EEGFormer</a:t>
            </a:r>
            <a:endParaRPr lang="en-US" sz="1300" dirty="0"/>
          </a:p>
        </p:txBody>
      </p:sp>
      <p:sp>
        <p:nvSpPr>
          <p:cNvPr id="17" name="Shape 15"/>
          <p:cNvSpPr/>
          <p:nvPr/>
        </p:nvSpPr>
        <p:spPr>
          <a:xfrm>
            <a:off x="9281160" y="2514600"/>
            <a:ext cx="1554480" cy="3108960"/>
          </a:xfrm>
          <a:prstGeom prst="rect">
            <a:avLst/>
          </a:prstGeom>
          <a:solidFill>
            <a:srgbClr val="0E5A8A"/>
          </a:solidFill>
          <a:ln/>
          <a:effectLst>
            <a:outerShdw sx="100000" sy="100000" kx="0" ky="0" algn="bl" rotWithShape="0" blurRad="101600" dist="38100" dir="8100000">
              <a:srgbClr val="0B1F3A">
                <a:alpha val="18000"/>
              </a:srgbClr>
            </a:outerShdw>
          </a:effectLst>
        </p:spPr>
      </p:sp>
      <p:sp>
        <p:nvSpPr>
          <p:cNvPr id="18" name="Text 16"/>
          <p:cNvSpPr/>
          <p:nvPr/>
        </p:nvSpPr>
        <p:spPr>
          <a:xfrm>
            <a:off x="9006840" y="2057400"/>
            <a:ext cx="2103120" cy="411480"/>
          </a:xfrm>
          <a:prstGeom prst="rect">
            <a:avLst/>
          </a:prstGeom>
          <a:noFill/>
          <a:ln/>
        </p:spPr>
        <p:txBody>
          <a:bodyPr wrap="square" lIns="0" tIns="0" rIns="0" bIns="0" rtlCol="0" anchor="ctr"/>
          <a:lstStyle/>
          <a:p>
            <a:pPr algn="ctr" indent="0" marL="0">
              <a:buNone/>
            </a:pPr>
            <a:r>
              <a:rPr lang="en-US" sz="1800" b="1" dirty="0">
                <a:solidFill>
                  <a:srgbClr val="1E293B"/>
                </a:solidFill>
                <a:latin typeface="Trebuchet MS" pitchFamily="34" charset="0"/>
                <a:ea typeface="Trebuchet MS" pitchFamily="34" charset="-122"/>
                <a:cs typeface="Trebuchet MS" pitchFamily="34" charset="-120"/>
              </a:rPr>
              <a:t>62%</a:t>
            </a:r>
            <a:endParaRPr lang="en-US" sz="1800" dirty="0"/>
          </a:p>
        </p:txBody>
      </p:sp>
      <p:sp>
        <p:nvSpPr>
          <p:cNvPr id="19" name="Text 17"/>
          <p:cNvSpPr/>
          <p:nvPr/>
        </p:nvSpPr>
        <p:spPr>
          <a:xfrm>
            <a:off x="8961120" y="5715000"/>
            <a:ext cx="2194560" cy="548640"/>
          </a:xfrm>
          <a:prstGeom prst="rect">
            <a:avLst/>
          </a:prstGeom>
          <a:noFill/>
          <a:ln/>
        </p:spPr>
        <p:txBody>
          <a:bodyPr wrap="square" lIns="0" tIns="0" rIns="0" bIns="0"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LaBraM (Liz)</a:t>
            </a:r>
            <a:endParaRPr lang="en-US" sz="1300" dirty="0"/>
          </a:p>
        </p:txBody>
      </p:sp>
      <p:sp>
        <p:nvSpPr>
          <p:cNvPr id="20" name="Shape 18"/>
          <p:cNvSpPr/>
          <p:nvPr/>
        </p:nvSpPr>
        <p:spPr>
          <a:xfrm>
            <a:off x="1097280" y="5623560"/>
            <a:ext cx="10241280" cy="0"/>
          </a:xfrm>
          <a:prstGeom prst="line">
            <a:avLst/>
          </a:prstGeom>
          <a:noFill/>
          <a:ln w="19050">
            <a:solidFill>
              <a:srgbClr val="CBD5E1"/>
            </a:solidFill>
            <a:prstDash val="solid"/>
          </a:ln>
        </p:spPr>
      </p:sp>
      <p:sp>
        <p:nvSpPr>
          <p:cNvPr id="21" name="Text 19"/>
          <p:cNvSpPr/>
          <p:nvPr/>
        </p:nvSpPr>
        <p:spPr>
          <a:xfrm>
            <a:off x="868680" y="6263640"/>
            <a:ext cx="10698480" cy="365760"/>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ST-EEGFormer reaches </a:t>
            </a:r>
            <a:pPr algn="ctr" indent="0" marL="0">
              <a:buNone/>
            </a:pPr>
            <a:r>
              <a:rPr lang="en-US" sz="1400" b="1" dirty="0">
                <a:solidFill>
                  <a:srgbClr val="0F766E"/>
                </a:solidFill>
                <a:latin typeface="Calibri" pitchFamily="34" charset="0"/>
                <a:ea typeface="Calibri" pitchFamily="34" charset="-122"/>
                <a:cs typeface="Calibri" pitchFamily="34" charset="-120"/>
              </a:rPr>
              <a:t>61.7%</a:t>
            </a:r>
            <a:pPr algn="ctr" indent="0" marL="0">
              <a:buNone/>
            </a:pPr>
            <a:r>
              <a:rPr lang="en-US" sz="1400" dirty="0">
                <a:solidFill>
                  <a:srgbClr val="1E293B"/>
                </a:solidFill>
                <a:latin typeface="Calibri" pitchFamily="34" charset="0"/>
                <a:ea typeface="Calibri" pitchFamily="34" charset="-122"/>
                <a:cs typeface="Calibri" pitchFamily="34" charset="-120"/>
              </a:rPr>
              <a:t> — on par with LaBraM, well above chance and the LDA baseline.</a:t>
            </a:r>
            <a:endParaRPr lang="en-US" sz="1400" dirty="0"/>
          </a:p>
        </p:txBody>
      </p:sp>
      <p:sp>
        <p:nvSpPr>
          <p:cNvPr id="23" name="Text 20"/>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ST-EEGFormer · Spatial attention · Ishii Lab</a:t>
            </a:r>
            <a:endParaRPr lang="en-US" sz="900" dirty="0"/>
          </a:p>
        </p:txBody>
      </p:sp>
      <p:sp>
        <p:nvSpPr>
          <p:cNvPr id="24" name="Text 21"/>
          <p:cNvSpPr/>
          <p:nvPr/>
        </p:nvSpPr>
        <p:spPr>
          <a:xfrm>
            <a:off x="11338560" y="6419088"/>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566928" y="566928"/>
            <a:ext cx="201168" cy="201168"/>
          </a:xfrm>
          <a:prstGeom prst="ellipse">
            <a:avLst/>
          </a:prstGeom>
          <a:solidFill>
            <a:srgbClr val="2EC4B6"/>
          </a:solidFill>
          <a:ln/>
        </p:spPr>
      </p:sp>
      <p:sp>
        <p:nvSpPr>
          <p:cNvPr id="3" name="Text 1"/>
          <p:cNvSpPr/>
          <p:nvPr/>
        </p:nvSpPr>
        <p:spPr>
          <a:xfrm>
            <a:off x="868680" y="457200"/>
            <a:ext cx="10058400" cy="27432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TRAINING DYNAMICS</a:t>
            </a:r>
            <a:endParaRPr lang="en-US" sz="1200" dirty="0"/>
          </a:p>
        </p:txBody>
      </p:sp>
      <p:sp>
        <p:nvSpPr>
          <p:cNvPr id="4" name="Text 2"/>
          <p:cNvSpPr/>
          <p:nvPr/>
        </p:nvSpPr>
        <p:spPr>
          <a:xfrm>
            <a:off x="841248" y="713232"/>
            <a:ext cx="10698480" cy="640080"/>
          </a:xfrm>
          <a:prstGeom prst="rect">
            <a:avLst/>
          </a:prstGeom>
          <a:noFill/>
          <a:ln/>
        </p:spPr>
        <p:txBody>
          <a:bodyPr wrap="square" lIns="0" tIns="0" rIns="0" bIns="0" rtlCol="0" anchor="ctr"/>
          <a:lstStyle/>
          <a:p>
            <a:pPr indent="0" marL="0">
              <a:buNone/>
            </a:pPr>
            <a:r>
              <a:rPr lang="en-US" sz="3000" b="1" dirty="0">
                <a:solidFill>
                  <a:srgbClr val="1E293B"/>
                </a:solidFill>
                <a:latin typeface="Trebuchet MS" pitchFamily="34" charset="0"/>
                <a:ea typeface="Trebuchet MS" pitchFamily="34" charset="-122"/>
                <a:cs typeface="Trebuchet MS" pitchFamily="34" charset="-120"/>
              </a:rPr>
              <a:t>The model learns once unblocked</a:t>
            </a:r>
            <a:endParaRPr lang="en-US" sz="3000" dirty="0"/>
          </a:p>
        </p:txBody>
      </p:sp>
      <p:graphicFrame>
        <p:nvGraphicFramePr>
          <p:cNvPr id="5" name="Chart 0" descr=""/>
          <p:cNvGraphicFramePr/>
          <p:nvPr/>
        </p:nvGraphicFramePr>
        <p:xfrm>
          <a:off x="868680" y="1783080"/>
          <a:ext cx="777240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915400" y="1783080"/>
            <a:ext cx="2697480" cy="1965960"/>
          </a:xfrm>
          <a:prstGeom prst="roundRect">
            <a:avLst>
              <a:gd name="adj" fmla="val 3721"/>
            </a:avLst>
          </a:prstGeom>
          <a:solidFill>
            <a:srgbClr val="FFFFFF"/>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7" name="Shape 4"/>
          <p:cNvSpPr/>
          <p:nvPr/>
        </p:nvSpPr>
        <p:spPr>
          <a:xfrm>
            <a:off x="8915400" y="1783080"/>
            <a:ext cx="109728" cy="1965960"/>
          </a:xfrm>
          <a:prstGeom prst="rect">
            <a:avLst/>
          </a:prstGeom>
          <a:solidFill>
            <a:srgbClr val="94A3B8"/>
          </a:solidFill>
          <a:ln/>
        </p:spPr>
      </p:sp>
      <p:sp>
        <p:nvSpPr>
          <p:cNvPr id="8" name="Text 5"/>
          <p:cNvSpPr/>
          <p:nvPr/>
        </p:nvSpPr>
        <p:spPr>
          <a:xfrm>
            <a:off x="9144000" y="1965960"/>
            <a:ext cx="2377440" cy="365760"/>
          </a:xfrm>
          <a:prstGeom prst="rect">
            <a:avLst/>
          </a:prstGeom>
          <a:noFill/>
          <a:ln/>
        </p:spPr>
        <p:txBody>
          <a:bodyPr wrap="square" lIns="0" tIns="0" rIns="0" bIns="0" rtlCol="0" anchor="ctr"/>
          <a:lstStyle/>
          <a:p>
            <a:pPr indent="0" marL="0">
              <a:buNone/>
            </a:pPr>
            <a:r>
              <a:rPr lang="en-US" sz="1600" b="1" dirty="0">
                <a:solidFill>
                  <a:srgbClr val="1E293B"/>
                </a:solidFill>
                <a:latin typeface="Trebuchet MS" pitchFamily="34" charset="0"/>
                <a:ea typeface="Trebuchet MS" pitchFamily="34" charset="-122"/>
                <a:cs typeface="Trebuchet MS" pitchFamily="34" charset="-120"/>
              </a:rPr>
              <a:t>Epochs 0–25</a:t>
            </a:r>
            <a:endParaRPr lang="en-US" sz="1600" dirty="0"/>
          </a:p>
        </p:txBody>
      </p:sp>
      <p:sp>
        <p:nvSpPr>
          <p:cNvPr id="9" name="Text 6"/>
          <p:cNvSpPr/>
          <p:nvPr/>
        </p:nvSpPr>
        <p:spPr>
          <a:xfrm>
            <a:off x="9144000" y="2377440"/>
            <a:ext cx="2331720" cy="12801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Flat at ~50% during warmup — looks stuck, but it is ramping up.</a:t>
            </a:r>
            <a:endParaRPr lang="en-US" sz="1300" dirty="0"/>
          </a:p>
        </p:txBody>
      </p:sp>
      <p:sp>
        <p:nvSpPr>
          <p:cNvPr id="10" name="Shape 7"/>
          <p:cNvSpPr/>
          <p:nvPr/>
        </p:nvSpPr>
        <p:spPr>
          <a:xfrm>
            <a:off x="8915400" y="4023360"/>
            <a:ext cx="2697480" cy="1965960"/>
          </a:xfrm>
          <a:prstGeom prst="roundRect">
            <a:avLst>
              <a:gd name="adj" fmla="val 3721"/>
            </a:avLst>
          </a:prstGeom>
          <a:solidFill>
            <a:srgbClr val="0B1F3A"/>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11" name="Shape 8"/>
          <p:cNvSpPr/>
          <p:nvPr/>
        </p:nvSpPr>
        <p:spPr>
          <a:xfrm>
            <a:off x="8915400" y="4023360"/>
            <a:ext cx="109728" cy="1965960"/>
          </a:xfrm>
          <a:prstGeom prst="rect">
            <a:avLst/>
          </a:prstGeom>
          <a:solidFill>
            <a:srgbClr val="2EC4B6"/>
          </a:solidFill>
          <a:ln/>
        </p:spPr>
      </p:sp>
      <p:sp>
        <p:nvSpPr>
          <p:cNvPr id="12" name="Text 9"/>
          <p:cNvSpPr/>
          <p:nvPr/>
        </p:nvSpPr>
        <p:spPr>
          <a:xfrm>
            <a:off x="9144000" y="4206240"/>
            <a:ext cx="237744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Epochs 30–49</a:t>
            </a:r>
            <a:endParaRPr lang="en-US" sz="1600" dirty="0"/>
          </a:p>
        </p:txBody>
      </p:sp>
      <p:sp>
        <p:nvSpPr>
          <p:cNvPr id="13" name="Text 10"/>
          <p:cNvSpPr/>
          <p:nvPr/>
        </p:nvSpPr>
        <p:spPr>
          <a:xfrm>
            <a:off x="9144000" y="4617720"/>
            <a:ext cx="2331720" cy="128016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Test accuracy climbs to 61.7% and plateaus. Train reaches 70%.</a:t>
            </a:r>
            <a:endParaRPr lang="en-US" sz="1300" dirty="0"/>
          </a:p>
        </p:txBody>
      </p:sp>
      <p:sp>
        <p:nvSpPr>
          <p:cNvPr id="15" name="Text 11"/>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ST-EEGFormer · Spatial attention · Ishii Lab</a:t>
            </a:r>
            <a:endParaRPr lang="en-US" sz="900" dirty="0"/>
          </a:p>
        </p:txBody>
      </p:sp>
      <p:sp>
        <p:nvSpPr>
          <p:cNvPr id="16" name="Text 12"/>
          <p:cNvSpPr/>
          <p:nvPr/>
        </p:nvSpPr>
        <p:spPr>
          <a:xfrm>
            <a:off x="11338560" y="6419088"/>
            <a:ext cx="36576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66928" y="566928"/>
            <a:ext cx="201168" cy="201168"/>
          </a:xfrm>
          <a:prstGeom prst="ellipse">
            <a:avLst/>
          </a:prstGeom>
          <a:solidFill>
            <a:srgbClr val="2EC4B6"/>
          </a:solidFill>
          <a:ln/>
        </p:spPr>
      </p:sp>
      <p:sp>
        <p:nvSpPr>
          <p:cNvPr id="3" name="Text 1"/>
          <p:cNvSpPr/>
          <p:nvPr/>
        </p:nvSpPr>
        <p:spPr>
          <a:xfrm>
            <a:off x="868680" y="457200"/>
            <a:ext cx="10058400" cy="274320"/>
          </a:xfrm>
          <a:prstGeom prst="rect">
            <a:avLst/>
          </a:prstGeom>
          <a:noFill/>
          <a:ln/>
        </p:spPr>
        <p:txBody>
          <a:bodyPr wrap="square" lIns="0" tIns="0" rIns="0" bIns="0" rtlCol="0" anchor="ctr"/>
          <a:lstStyle/>
          <a:p>
            <a:pPr indent="0" marL="0">
              <a:buNone/>
            </a:pPr>
            <a:r>
              <a:rPr lang="en-US" sz="1200" b="1" spc="200" kern="0" dirty="0">
                <a:solidFill>
                  <a:srgbClr val="2EC4B6"/>
                </a:solidFill>
                <a:latin typeface="Calibri" pitchFamily="34" charset="0"/>
                <a:ea typeface="Calibri" pitchFamily="34" charset="-122"/>
                <a:cs typeface="Calibri" pitchFamily="34" charset="-120"/>
              </a:rPr>
              <a:t>TAKEAWAYS</a:t>
            </a:r>
            <a:endParaRPr lang="en-US" sz="1200" dirty="0"/>
          </a:p>
        </p:txBody>
      </p:sp>
      <p:sp>
        <p:nvSpPr>
          <p:cNvPr id="4" name="Text 2"/>
          <p:cNvSpPr/>
          <p:nvPr/>
        </p:nvSpPr>
        <p:spPr>
          <a:xfrm>
            <a:off x="841248" y="713232"/>
            <a:ext cx="10698480" cy="640080"/>
          </a:xfrm>
          <a:prstGeom prst="rect">
            <a:avLst/>
          </a:prstGeom>
          <a:noFill/>
          <a:ln/>
        </p:spPr>
        <p:txBody>
          <a:bodyPr wrap="square" lIns="0" tIns="0" rIns="0" bIns="0"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What we learned &amp; what's next</a:t>
            </a:r>
            <a:endParaRPr lang="en-US" sz="3000" dirty="0"/>
          </a:p>
        </p:txBody>
      </p:sp>
      <p:sp>
        <p:nvSpPr>
          <p:cNvPr id="5" name="Shape 3"/>
          <p:cNvSpPr/>
          <p:nvPr/>
        </p:nvSpPr>
        <p:spPr>
          <a:xfrm>
            <a:off x="868680" y="1691640"/>
            <a:ext cx="777240" cy="777240"/>
          </a:xfrm>
          <a:prstGeom prst="ellipse">
            <a:avLst/>
          </a:prstGeom>
          <a:solidFill>
            <a:srgbClr val="0E2A4D"/>
          </a:solidFill>
          <a:ln w="19050">
            <a:solidFill>
              <a:srgbClr val="2EC4B6"/>
            </a:solidFill>
            <a:prstDash val="solid"/>
          </a:ln>
        </p:spPr>
      </p:sp>
      <p:sp>
        <p:nvSpPr>
          <p:cNvPr id="6" name="Text 4"/>
          <p:cNvSpPr/>
          <p:nvPr/>
        </p:nvSpPr>
        <p:spPr>
          <a:xfrm>
            <a:off x="868680" y="1691640"/>
            <a:ext cx="777240" cy="777240"/>
          </a:xfrm>
          <a:prstGeom prst="rect">
            <a:avLst/>
          </a:prstGeom>
          <a:noFill/>
          <a:ln/>
        </p:spPr>
        <p:txBody>
          <a:bodyPr wrap="square" lIns="0" tIns="0" rIns="0" bIns="0" rtlCol="0" anchor="ctr"/>
          <a:lstStyle/>
          <a:p>
            <a:pPr algn="ctr" indent="0" marL="0">
              <a:buNone/>
            </a:pPr>
            <a:r>
              <a:rPr lang="en-US" sz="2000" b="1" dirty="0">
                <a:solidFill>
                  <a:srgbClr val="2EC4B6"/>
                </a:solidFill>
                <a:latin typeface="Trebuchet MS" pitchFamily="34" charset="0"/>
                <a:ea typeface="Trebuchet MS" pitchFamily="34" charset="-122"/>
                <a:cs typeface="Trebuchet MS" pitchFamily="34" charset="-120"/>
              </a:rPr>
              <a:t>01</a:t>
            </a:r>
            <a:endParaRPr lang="en-US" sz="2000" dirty="0"/>
          </a:p>
        </p:txBody>
      </p:sp>
      <p:sp>
        <p:nvSpPr>
          <p:cNvPr id="7" name="Text 5"/>
          <p:cNvSpPr/>
          <p:nvPr/>
        </p:nvSpPr>
        <p:spPr>
          <a:xfrm>
            <a:off x="1874520" y="1709928"/>
            <a:ext cx="6583680" cy="45720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Preprocessing was the hidden bug</a:t>
            </a:r>
            <a:endParaRPr lang="en-US" sz="1800" dirty="0"/>
          </a:p>
        </p:txBody>
      </p:sp>
      <p:sp>
        <p:nvSpPr>
          <p:cNvPr id="8" name="Text 6"/>
          <p:cNvSpPr/>
          <p:nvPr/>
        </p:nvSpPr>
        <p:spPr>
          <a:xfrm>
            <a:off x="1874520" y="2130552"/>
            <a:ext cx="6675120" cy="50292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Filtering, reference, baseline and an 8 s window — a simple LDA proves the signal is there (55.7%).</a:t>
            </a:r>
            <a:endParaRPr lang="en-US" sz="1300" dirty="0"/>
          </a:p>
        </p:txBody>
      </p:sp>
      <p:sp>
        <p:nvSpPr>
          <p:cNvPr id="9" name="Shape 7"/>
          <p:cNvSpPr/>
          <p:nvPr/>
        </p:nvSpPr>
        <p:spPr>
          <a:xfrm>
            <a:off x="868680" y="2770632"/>
            <a:ext cx="777240" cy="777240"/>
          </a:xfrm>
          <a:prstGeom prst="ellipse">
            <a:avLst/>
          </a:prstGeom>
          <a:solidFill>
            <a:srgbClr val="0E2A4D"/>
          </a:solidFill>
          <a:ln w="19050">
            <a:solidFill>
              <a:srgbClr val="2EC4B6"/>
            </a:solidFill>
            <a:prstDash val="solid"/>
          </a:ln>
        </p:spPr>
      </p:sp>
      <p:sp>
        <p:nvSpPr>
          <p:cNvPr id="10" name="Text 8"/>
          <p:cNvSpPr/>
          <p:nvPr/>
        </p:nvSpPr>
        <p:spPr>
          <a:xfrm>
            <a:off x="868680" y="2770632"/>
            <a:ext cx="777240" cy="777240"/>
          </a:xfrm>
          <a:prstGeom prst="rect">
            <a:avLst/>
          </a:prstGeom>
          <a:noFill/>
          <a:ln/>
        </p:spPr>
        <p:txBody>
          <a:bodyPr wrap="square" lIns="0" tIns="0" rIns="0" bIns="0" rtlCol="0" anchor="ctr"/>
          <a:lstStyle/>
          <a:p>
            <a:pPr algn="ctr" indent="0" marL="0">
              <a:buNone/>
            </a:pPr>
            <a:r>
              <a:rPr lang="en-US" sz="2000" b="1" dirty="0">
                <a:solidFill>
                  <a:srgbClr val="2EC4B6"/>
                </a:solidFill>
                <a:latin typeface="Trebuchet MS" pitchFamily="34" charset="0"/>
                <a:ea typeface="Trebuchet MS" pitchFamily="34" charset="-122"/>
                <a:cs typeface="Trebuchet MS" pitchFamily="34" charset="-120"/>
              </a:rPr>
              <a:t>02</a:t>
            </a:r>
            <a:endParaRPr lang="en-US" sz="2000" dirty="0"/>
          </a:p>
        </p:txBody>
      </p:sp>
      <p:sp>
        <p:nvSpPr>
          <p:cNvPr id="11" name="Text 9"/>
          <p:cNvSpPr/>
          <p:nvPr/>
        </p:nvSpPr>
        <p:spPr>
          <a:xfrm>
            <a:off x="1874520" y="2788920"/>
            <a:ext cx="6583680" cy="45720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Fine-tuning config unblocked the model</a:t>
            </a:r>
            <a:endParaRPr lang="en-US" sz="1800" dirty="0"/>
          </a:p>
        </p:txBody>
      </p:sp>
      <p:sp>
        <p:nvSpPr>
          <p:cNvPr id="12" name="Text 10"/>
          <p:cNvSpPr/>
          <p:nvPr/>
        </p:nvSpPr>
        <p:spPr>
          <a:xfrm>
            <a:off x="1874520" y="3209544"/>
            <a:ext cx="6675120" cy="50292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Removing layer-decay + mixup let ST-EEGFormer actually fit and learn the task.</a:t>
            </a:r>
            <a:endParaRPr lang="en-US" sz="1300" dirty="0"/>
          </a:p>
        </p:txBody>
      </p:sp>
      <p:sp>
        <p:nvSpPr>
          <p:cNvPr id="13" name="Shape 11"/>
          <p:cNvSpPr/>
          <p:nvPr/>
        </p:nvSpPr>
        <p:spPr>
          <a:xfrm>
            <a:off x="868680" y="3849624"/>
            <a:ext cx="777240" cy="777240"/>
          </a:xfrm>
          <a:prstGeom prst="ellipse">
            <a:avLst/>
          </a:prstGeom>
          <a:solidFill>
            <a:srgbClr val="0E2A4D"/>
          </a:solidFill>
          <a:ln w="19050">
            <a:solidFill>
              <a:srgbClr val="2EC4B6"/>
            </a:solidFill>
            <a:prstDash val="solid"/>
          </a:ln>
        </p:spPr>
      </p:sp>
      <p:sp>
        <p:nvSpPr>
          <p:cNvPr id="14" name="Text 12"/>
          <p:cNvSpPr/>
          <p:nvPr/>
        </p:nvSpPr>
        <p:spPr>
          <a:xfrm>
            <a:off x="868680" y="3849624"/>
            <a:ext cx="777240" cy="777240"/>
          </a:xfrm>
          <a:prstGeom prst="rect">
            <a:avLst/>
          </a:prstGeom>
          <a:noFill/>
          <a:ln/>
        </p:spPr>
        <p:txBody>
          <a:bodyPr wrap="square" lIns="0" tIns="0" rIns="0" bIns="0" rtlCol="0" anchor="ctr"/>
          <a:lstStyle/>
          <a:p>
            <a:pPr algn="ctr" indent="0" marL="0">
              <a:buNone/>
            </a:pPr>
            <a:r>
              <a:rPr lang="en-US" sz="2000" b="1" dirty="0">
                <a:solidFill>
                  <a:srgbClr val="2EC4B6"/>
                </a:solidFill>
                <a:latin typeface="Trebuchet MS" pitchFamily="34" charset="0"/>
                <a:ea typeface="Trebuchet MS" pitchFamily="34" charset="-122"/>
                <a:cs typeface="Trebuchet MS" pitchFamily="34" charset="-120"/>
              </a:rPr>
              <a:t>03</a:t>
            </a:r>
            <a:endParaRPr lang="en-US" sz="2000" dirty="0"/>
          </a:p>
        </p:txBody>
      </p:sp>
      <p:sp>
        <p:nvSpPr>
          <p:cNvPr id="15" name="Text 13"/>
          <p:cNvSpPr/>
          <p:nvPr/>
        </p:nvSpPr>
        <p:spPr>
          <a:xfrm>
            <a:off x="1874520" y="3867912"/>
            <a:ext cx="6583680" cy="457200"/>
          </a:xfrm>
          <a:prstGeom prst="rect">
            <a:avLst/>
          </a:prstGeom>
          <a:noFill/>
          <a:ln/>
        </p:spPr>
        <p:txBody>
          <a:bodyPr wrap="square" lIns="0" tIns="0" rIns="0" bIns="0" rtlCol="0" anchor="ctr"/>
          <a:lstStyle/>
          <a:p>
            <a:pPr indent="0" marL="0">
              <a:buNone/>
            </a:pPr>
            <a:r>
              <a:rPr lang="en-US" sz="1800" b="1" dirty="0">
                <a:solidFill>
                  <a:srgbClr val="FFFFFF"/>
                </a:solidFill>
                <a:latin typeface="Trebuchet MS" pitchFamily="34" charset="0"/>
                <a:ea typeface="Trebuchet MS" pitchFamily="34" charset="-122"/>
                <a:cs typeface="Trebuchet MS" pitchFamily="34" charset="-120"/>
              </a:rPr>
              <a:t>ST-EEGFormer ≈ LaBraM on lab data</a:t>
            </a:r>
            <a:endParaRPr lang="en-US" sz="1800" dirty="0"/>
          </a:p>
        </p:txBody>
      </p:sp>
      <p:sp>
        <p:nvSpPr>
          <p:cNvPr id="16" name="Text 14"/>
          <p:cNvSpPr/>
          <p:nvPr/>
        </p:nvSpPr>
        <p:spPr>
          <a:xfrm>
            <a:off x="1874520" y="4288536"/>
            <a:ext cx="6675120" cy="50292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61.7% population accuracy, on par with LaBraM (62%) and far above chance (50%).</a:t>
            </a:r>
            <a:endParaRPr lang="en-US" sz="1300" dirty="0"/>
          </a:p>
        </p:txBody>
      </p:sp>
      <p:sp>
        <p:nvSpPr>
          <p:cNvPr id="17" name="Shape 15"/>
          <p:cNvSpPr/>
          <p:nvPr/>
        </p:nvSpPr>
        <p:spPr>
          <a:xfrm>
            <a:off x="8823960" y="1691640"/>
            <a:ext cx="2788920" cy="3246120"/>
          </a:xfrm>
          <a:prstGeom prst="roundRect">
            <a:avLst>
              <a:gd name="adj" fmla="val 2623"/>
            </a:avLst>
          </a:prstGeom>
          <a:solidFill>
            <a:srgbClr val="0E2A4D"/>
          </a:solidFill>
          <a:ln w="12700">
            <a:solidFill>
              <a:srgbClr val="E2E8F0"/>
            </a:solidFill>
            <a:prstDash val="solid"/>
          </a:ln>
          <a:effectLst>
            <a:outerShdw sx="100000" sy="100000" kx="0" ky="0" algn="bl" rotWithShape="0" blurRad="101600" dist="38100" dir="8100000">
              <a:srgbClr val="0B1F3A">
                <a:alpha val="18000"/>
              </a:srgbClr>
            </a:outerShdw>
          </a:effectLst>
        </p:spPr>
      </p:sp>
      <p:sp>
        <p:nvSpPr>
          <p:cNvPr id="18" name="Text 16"/>
          <p:cNvSpPr/>
          <p:nvPr/>
        </p:nvSpPr>
        <p:spPr>
          <a:xfrm>
            <a:off x="9052560" y="1874520"/>
            <a:ext cx="2468880" cy="274320"/>
          </a:xfrm>
          <a:prstGeom prst="rect">
            <a:avLst/>
          </a:prstGeom>
          <a:noFill/>
          <a:ln/>
        </p:spPr>
        <p:txBody>
          <a:bodyPr wrap="square" lIns="0" tIns="0" rIns="0" bIns="0" rtlCol="0" anchor="ctr"/>
          <a:lstStyle/>
          <a:p>
            <a:pPr indent="0" marL="0">
              <a:buNone/>
            </a:pPr>
            <a:r>
              <a:rPr lang="en-US" sz="1200" b="1" spc="200" kern="0" dirty="0">
                <a:solidFill>
                  <a:srgbClr val="2EC4B6"/>
                </a:solidFill>
                <a:latin typeface="Calibri" pitchFamily="34" charset="0"/>
                <a:ea typeface="Calibri" pitchFamily="34" charset="-122"/>
                <a:cs typeface="Calibri" pitchFamily="34" charset="-120"/>
              </a:rPr>
              <a:t>NEXT STEPS</a:t>
            </a:r>
            <a:endParaRPr lang="en-US" sz="1200" dirty="0"/>
          </a:p>
        </p:txBody>
      </p:sp>
      <p:sp>
        <p:nvSpPr>
          <p:cNvPr id="19" name="Text 17"/>
          <p:cNvSpPr/>
          <p:nvPr/>
        </p:nvSpPr>
        <p:spPr>
          <a:xfrm>
            <a:off x="9052560" y="2286000"/>
            <a:ext cx="2423160" cy="256032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LOSO protocol (leave-one-subject-out)</a:t>
            </a:r>
            <a:endParaRPr lang="en-US" sz="1350" dirty="0"/>
          </a:p>
          <a:p>
            <a:pPr marL="342900" indent="-342900">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Per-subject fine-tuning</a:t>
            </a:r>
            <a:endParaRPr lang="en-US" sz="1350" dirty="0"/>
          </a:p>
          <a:p>
            <a:pPr marL="342900" indent="-342900">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Commit reproducible pipeline</a:t>
            </a:r>
            <a:endParaRPr lang="en-US" sz="1350" dirty="0"/>
          </a:p>
          <a:p>
            <a:pPr marL="342900" indent="-342900">
              <a:spcAft>
                <a:spcPts val="1000"/>
              </a:spcAft>
              <a:buSzPct val="100000"/>
              <a:buChar char="•"/>
            </a:pPr>
            <a:r>
              <a:rPr lang="en-US" sz="1350" dirty="0">
                <a:solidFill>
                  <a:srgbClr val="FFFFFF"/>
                </a:solidFill>
                <a:latin typeface="Calibri" pitchFamily="34" charset="0"/>
                <a:ea typeface="Calibri" pitchFamily="34" charset="-122"/>
                <a:cs typeface="Calibri" pitchFamily="34" charset="-120"/>
              </a:rPr>
              <a:t>Full ST-EEGFormer vs LaBraM table</a:t>
            </a:r>
            <a:endParaRPr lang="en-US" sz="1350" dirty="0"/>
          </a:p>
        </p:txBody>
      </p:sp>
      <p:sp>
        <p:nvSpPr>
          <p:cNvPr id="20" name="Text 18"/>
          <p:cNvSpPr/>
          <p:nvPr/>
        </p:nvSpPr>
        <p:spPr>
          <a:xfrm>
            <a:off x="868680" y="6309360"/>
            <a:ext cx="10058400" cy="32004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Maxime Lacombe · Ishii Lab · July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ST-EEGFormer — Spatial Attention</dc:title>
  <dc:subject>PptxGenJS Presentation</dc:subject>
  <dc:creator>Maxime Lacombe</dc:creator>
  <cp:lastModifiedBy>Maxime Lacombe</cp:lastModifiedBy>
  <cp:revision>1</cp:revision>
  <dcterms:created xsi:type="dcterms:W3CDTF">2026-07-07T05:01:44Z</dcterms:created>
  <dcterms:modified xsi:type="dcterms:W3CDTF">2026-07-07T05:01:44Z</dcterms:modified>
</cp:coreProperties>
</file>