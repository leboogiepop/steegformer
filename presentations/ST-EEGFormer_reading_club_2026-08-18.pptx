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This session is the EEG half of the paper-reading club.
On 23 July I already presented the internship result: population 61.7 percent, matching LaBraM. Today I will not redo that talk. Today I explain how ST-EEGFormer works, because Ishii-sensei asked for the internals: attention, self-supervised learning, loss, decoder, dataset, and training time.
Ishii-sensei will present LaBraM. Tomorrow is calcium imaging: CalM and POCO.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points are exactly what was requested on 13 August.
Input: raw or tokens. Backbone: architecture. Attention: channels versus time. Self-supervised learning: MAE. Downstream: decoder and evaluation. Compute: how long training takes.
I will go through them in this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recap only. The internship already showed that ST-EEGFormer matches LaBraM on population training at 61.7 percent.
LOSO is still running. I will not report a partial mean.
Today is about the internals, so I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stages. Pretrain is a masked autoencoder on raw EEG. Finetune is classification with a linear head.
Important for the calcium discussion: this is not next-neuron prediction. CalM and CAPT are autoregressive. ST-EEGFormer is MAE — mask and reconstruct. Bidirectional, not causal.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Correction from last time. ST-EEGFormer does not use a discrete tokenizer. It cuts the raw signal into non-overlapping temporal patches and projects them with a linear layer. No codebook.
LaBraM is the discrete VQ model. Mapping: ST-EEGFormer is CAPT-style, LaBraM is CalM-style.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the large Vision Transformer: patch size 16, embedding 1024, 24 layers, 16 heads, about 303 million parameters.
Each channel is cut into temporal patches. Each patch becomes a token. We add a channel embedding so the model knows which electrode it is, and a temporal positional encoding.
Then all tokens from all channels and all time patches are concatenated into one sequence. That is important for the next slide on attention.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main technical answer.
Does ST-EEGFormer do inter-channel attention? Yes. Because all channel-time patches sit in one sequence, self-attention can mix channels and time together.
It is not CalM’s dual-axis design. CalM has a neural axis and a temporal axis separately, and the temporal axis is causal. We have one standard ViT attention, bidirectional.
If we want to import next-neuron prediction from CalM, that would be a new objective — we do not have it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Pretraining is Masked Autoencoder, same idea as MAE in vision.
We hide 75 percent of the patches. The encoder sees only the visible ones. The decoder puts mask tokens back and tries to reconstruct the raw waveform of the hidden patches.
The decoder predicts the actual sample values in the patch, not a codebook index. That is why I say it is continuous, like CAPT, not discrete like CalM.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losses.
Pretrain: mean squared error on the hidden raw patches only.
Finetune: we throw away the MAE decoder. We keep the encoder and add a linear head for left versus right. SoftTarget cross-entropy. The whole backbone is allowed to adapt, layer decay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lab dataset as the July seminar. Forty-three subjects, eight-second attention windows at 256 hertz, 64 channels.
Evaluation is classification accuracy. Population is done. LOSO is the generalization protocol still running.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 Each leave-one-subject-out fold is a full retrain. From the logs, about 19 minutes per epoch, 50 epochs, so about 16 hours per fold, roughly one fold per day.
I will give the latest COMPLETED count from the lab.
If we need many more experiments — from-scratch, chimera ideas — then A100 or a smaller backbone is the discussion Ishii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the joint discussion, not a promise of new experiments this week.
We already sit on the continuous / CAPT side. We do not have CalM’s next-neuron prediction or dual-axis attention. Those are possible imports.
Miyamoto’s identity-invariance is another import: on EEG that would mean weakening channel identity.
Ishii also said EEG simulation of decodable signals is hard. So data augmentation is an open question, not a ready tool like the calcium kernel.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ST-EEGFormer works on raw time-series patches, pretrained with MAE, then a linear classifier. Attention is joint over channel and time tokens. Population 61.7 percent. LOSO still running.
I am happy to take questions, and then Ishii-sensei will present LaBraM.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C333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F3A5F"/>
          </a:solidFill>
          <a:ln/>
        </p:spPr>
      </p:sp>
      <p:sp>
        <p:nvSpPr>
          <p:cNvPr id="3" name="Text 1"/>
          <p:cNvSpPr/>
          <p:nvPr/>
        </p:nvSpPr>
        <p:spPr>
          <a:xfrm>
            <a:off x="777240" y="1417320"/>
            <a:ext cx="10515600" cy="292608"/>
          </a:xfrm>
          <a:prstGeom prst="rect">
            <a:avLst/>
          </a:prstGeom>
          <a:noFill/>
          <a:ln/>
        </p:spPr>
        <p:txBody>
          <a:bodyPr wrap="square" lIns="0" tIns="0" rIns="0" bIns="0" rtlCol="0" anchor="ctr"/>
          <a:lstStyle/>
          <a:p>
            <a:pPr indent="0" marL="0">
              <a:buNone/>
            </a:pPr>
            <a:r>
              <a:rPr lang="en-US" sz="1300" b="1" spc="150" kern="0" dirty="0">
                <a:solidFill>
                  <a:srgbClr val="B0B8C1"/>
                </a:solidFill>
                <a:latin typeface="Calibri" pitchFamily="34" charset="0"/>
                <a:ea typeface="Calibri" pitchFamily="34" charset="-122"/>
                <a:cs typeface="Calibri" pitchFamily="34" charset="-120"/>
              </a:rPr>
              <a:t>PAPER READING CLUB  ·  EEG FOUNDATION MODELS</a:t>
            </a:r>
            <a:endParaRPr lang="en-US" sz="1300" dirty="0"/>
          </a:p>
        </p:txBody>
      </p:sp>
      <p:sp>
        <p:nvSpPr>
          <p:cNvPr id="4" name="Text 2"/>
          <p:cNvSpPr/>
          <p:nvPr/>
        </p:nvSpPr>
        <p:spPr>
          <a:xfrm>
            <a:off x="777240" y="1874520"/>
            <a:ext cx="10515600" cy="640080"/>
          </a:xfrm>
          <a:prstGeom prst="rect">
            <a:avLst/>
          </a:prstGeom>
          <a:noFill/>
          <a:ln/>
        </p:spPr>
        <p:txBody>
          <a:bodyPr wrap="square" lIns="0" tIns="0" rIns="0" bIns="0" rtlCol="0" anchor="ctr"/>
          <a:lstStyle/>
          <a:p>
            <a:pPr indent="0" marL="0">
              <a:buNone/>
            </a:pPr>
            <a:r>
              <a:rPr lang="en-US" sz="3600" b="1" dirty="0">
                <a:solidFill>
                  <a:srgbClr val="FFFFFF"/>
                </a:solidFill>
                <a:latin typeface="Georgia" pitchFamily="34" charset="0"/>
                <a:ea typeface="Georgia" pitchFamily="34" charset="-122"/>
                <a:cs typeface="Georgia" pitchFamily="34" charset="-120"/>
              </a:rPr>
              <a:t>ST-EEGFormer internals</a:t>
            </a:r>
            <a:endParaRPr lang="en-US" sz="3600" dirty="0"/>
          </a:p>
        </p:txBody>
      </p:sp>
      <p:sp>
        <p:nvSpPr>
          <p:cNvPr id="5" name="Text 3"/>
          <p:cNvSpPr/>
          <p:nvPr/>
        </p:nvSpPr>
        <p:spPr>
          <a:xfrm>
            <a:off x="777240" y="2606040"/>
            <a:ext cx="10515600" cy="365760"/>
          </a:xfrm>
          <a:prstGeom prst="rect">
            <a:avLst/>
          </a:prstGeom>
          <a:noFill/>
          <a:ln/>
        </p:spPr>
        <p:txBody>
          <a:bodyPr wrap="square" lIns="0" tIns="0" rIns="0" bIns="0" rtlCol="0" anchor="ctr"/>
          <a:lstStyle/>
          <a:p>
            <a:pPr indent="0" marL="0">
              <a:buNone/>
            </a:pPr>
            <a:r>
              <a:rPr lang="en-US" sz="1600" dirty="0">
                <a:solidFill>
                  <a:srgbClr val="A8B0B8"/>
                </a:solidFill>
                <a:latin typeface="Calibri" pitchFamily="34" charset="0"/>
                <a:ea typeface="Calibri" pitchFamily="34" charset="-122"/>
                <a:cs typeface="Calibri" pitchFamily="34" charset="-120"/>
              </a:rPr>
              <a:t>Architecture, attention, self-supervised objective, decoder, data, compute</a:t>
            </a:r>
            <a:endParaRPr lang="en-US" sz="1600" dirty="0"/>
          </a:p>
        </p:txBody>
      </p:sp>
      <p:sp>
        <p:nvSpPr>
          <p:cNvPr id="6" name="Text 4"/>
          <p:cNvSpPr/>
          <p:nvPr/>
        </p:nvSpPr>
        <p:spPr>
          <a:xfrm>
            <a:off x="777240" y="3246120"/>
            <a:ext cx="10515600" cy="640080"/>
          </a:xfrm>
          <a:prstGeom prst="rect">
            <a:avLst/>
          </a:prstGeom>
          <a:noFill/>
          <a:ln/>
        </p:spPr>
        <p:txBody>
          <a:bodyPr wrap="square" lIns="0" tIns="0" rIns="0" bIns="0" rtlCol="0" anchor="ctr"/>
          <a:lstStyle/>
          <a:p>
            <a:pPr indent="0" marL="0">
              <a:buNone/>
            </a:pPr>
            <a:r>
              <a:rPr lang="en-US" sz="1500" dirty="0">
                <a:solidFill>
                  <a:srgbClr val="C5CCD3"/>
                </a:solidFill>
                <a:latin typeface="Calibri" pitchFamily="34" charset="0"/>
                <a:ea typeface="Calibri" pitchFamily="34" charset="-122"/>
                <a:cs typeface="Calibri" pitchFamily="34" charset="-120"/>
              </a:rPr>
              <a:t>Maxime Lacombe  ·  18 August 2026 (afternoon Zoom)</a:t>
            </a:r>
            <a:endParaRPr lang="en-US" sz="1500" dirty="0"/>
          </a:p>
          <a:p>
            <a:pPr indent="0" marL="0">
              <a:buNone/>
            </a:pPr>
            <a:r>
              <a:rPr lang="en-US" sz="1500" dirty="0">
                <a:solidFill>
                  <a:srgbClr val="C5CCD3"/>
                </a:solidFill>
                <a:latin typeface="Calibri" pitchFamily="34" charset="0"/>
                <a:ea typeface="Calibri" pitchFamily="34" charset="-122"/>
                <a:cs typeface="Calibri" pitchFamily="34" charset="-120"/>
              </a:rPr>
              <a:t>Ishii presents LaBraM  ·  19 August = CalM / POCO</a:t>
            </a:r>
            <a:endParaRPr lang="en-US" sz="1500" dirty="0"/>
          </a:p>
        </p:txBody>
      </p:sp>
      <p:sp>
        <p:nvSpPr>
          <p:cNvPr id="7" name="Text 5"/>
          <p:cNvSpPr/>
          <p:nvPr/>
        </p:nvSpPr>
        <p:spPr>
          <a:xfrm>
            <a:off x="777240" y="5394960"/>
            <a:ext cx="10515600" cy="320040"/>
          </a:xfrm>
          <a:prstGeom prst="rect">
            <a:avLst/>
          </a:prstGeom>
          <a:noFill/>
          <a:ln/>
        </p:spPr>
        <p:txBody>
          <a:bodyPr wrap="square" lIns="0" tIns="0" rIns="0" bIns="0" rtlCol="0" anchor="ctr"/>
          <a:lstStyle/>
          <a:p>
            <a:pPr indent="0" marL="0">
              <a:buNone/>
            </a:pPr>
            <a:r>
              <a:rPr lang="en-US" sz="1300" dirty="0">
                <a:solidFill>
                  <a:srgbClr val="8A939C"/>
                </a:solidFill>
                <a:latin typeface="Calibri" pitchFamily="34" charset="0"/>
                <a:ea typeface="Calibri" pitchFamily="34" charset="-122"/>
                <a:cs typeface="Calibri" pitchFamily="34" charset="-120"/>
              </a:rPr>
              <a:t>Reuse of 23 July seminar facts  ·  new focus = how the model works</a:t>
            </a:r>
            <a:endParaRPr lang="en-US" sz="1300" dirty="0"/>
          </a:p>
        </p:txBody>
      </p:sp>
      <p:sp>
        <p:nvSpPr>
          <p:cNvPr id="9" name="Shape 6"/>
          <p:cNvSpPr/>
          <p:nvPr/>
        </p:nvSpPr>
        <p:spPr>
          <a:xfrm>
            <a:off x="640080" y="6400800"/>
            <a:ext cx="10881360" cy="0"/>
          </a:xfrm>
          <a:prstGeom prst="line">
            <a:avLst/>
          </a:prstGeom>
          <a:noFill/>
          <a:ln w="9525">
            <a:solidFill>
              <a:srgbClr val="4B5563"/>
            </a:solidFill>
            <a:prstDash val="solid"/>
          </a:ln>
        </p:spPr>
      </p:sp>
      <p:sp>
        <p:nvSpPr>
          <p:cNvPr id="10" name="Text 7"/>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9CA3AF"/>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11" name="Text 8"/>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9CA3AF"/>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OUTLINE</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What this talk answers</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sp>
        <p:nvSpPr>
          <p:cNvPr id="5" name="Shape 3"/>
          <p:cNvSpPr/>
          <p:nvPr/>
        </p:nvSpPr>
        <p:spPr>
          <a:xfrm>
            <a:off x="640080" y="1280160"/>
            <a:ext cx="5394960" cy="1371600"/>
          </a:xfrm>
          <a:prstGeom prst="rect">
            <a:avLst/>
          </a:prstGeom>
          <a:solidFill>
            <a:srgbClr val="FFFFFF"/>
          </a:solidFill>
          <a:ln w="12700">
            <a:solidFill>
              <a:srgbClr val="D0D5DB"/>
            </a:solidFill>
            <a:prstDash val="solid"/>
          </a:ln>
        </p:spPr>
      </p:sp>
      <p:sp>
        <p:nvSpPr>
          <p:cNvPr id="6" name="Text 4"/>
          <p:cNvSpPr/>
          <p:nvPr/>
        </p:nvSpPr>
        <p:spPr>
          <a:xfrm>
            <a:off x="868680" y="1600200"/>
            <a:ext cx="502920" cy="640080"/>
          </a:xfrm>
          <a:prstGeom prst="rect">
            <a:avLst/>
          </a:prstGeom>
          <a:noFill/>
          <a:ln/>
        </p:spPr>
        <p:txBody>
          <a:bodyPr wrap="square" lIns="0" tIns="0" rIns="0" bIns="0" rtlCol="0" anchor="ctr"/>
          <a:lstStyle/>
          <a:p>
            <a:pPr indent="0" marL="0">
              <a:buNone/>
            </a:pPr>
            <a:r>
              <a:rPr lang="en-US" sz="2200" b="1" dirty="0">
                <a:solidFill>
                  <a:srgbClr val="1F3A5F"/>
                </a:solidFill>
                <a:latin typeface="Georgia" pitchFamily="34" charset="0"/>
                <a:ea typeface="Georgia" pitchFamily="34" charset="-122"/>
                <a:cs typeface="Georgia" pitchFamily="34" charset="-120"/>
              </a:rPr>
              <a:t>1</a:t>
            </a:r>
            <a:endParaRPr lang="en-US" sz="2200" dirty="0"/>
          </a:p>
        </p:txBody>
      </p:sp>
      <p:sp>
        <p:nvSpPr>
          <p:cNvPr id="7" name="Text 5"/>
          <p:cNvSpPr/>
          <p:nvPr/>
        </p:nvSpPr>
        <p:spPr>
          <a:xfrm>
            <a:off x="1508760" y="1536192"/>
            <a:ext cx="4206240" cy="41148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Input</a:t>
            </a:r>
            <a:endParaRPr lang="en-US" sz="1800" dirty="0"/>
          </a:p>
        </p:txBody>
      </p:sp>
      <p:sp>
        <p:nvSpPr>
          <p:cNvPr id="8" name="Text 6"/>
          <p:cNvSpPr/>
          <p:nvPr/>
        </p:nvSpPr>
        <p:spPr>
          <a:xfrm>
            <a:off x="1508760" y="1993392"/>
            <a:ext cx="4206240" cy="41148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Raw time series or discrete tokens?</a:t>
            </a:r>
            <a:endParaRPr lang="en-US" sz="1400" dirty="0"/>
          </a:p>
        </p:txBody>
      </p:sp>
      <p:sp>
        <p:nvSpPr>
          <p:cNvPr id="9" name="Shape 7"/>
          <p:cNvSpPr/>
          <p:nvPr/>
        </p:nvSpPr>
        <p:spPr>
          <a:xfrm>
            <a:off x="640080" y="2834640"/>
            <a:ext cx="5394960" cy="1371600"/>
          </a:xfrm>
          <a:prstGeom prst="rect">
            <a:avLst/>
          </a:prstGeom>
          <a:solidFill>
            <a:srgbClr val="FFFFFF"/>
          </a:solidFill>
          <a:ln w="12700">
            <a:solidFill>
              <a:srgbClr val="D0D5DB"/>
            </a:solidFill>
            <a:prstDash val="solid"/>
          </a:ln>
        </p:spPr>
      </p:sp>
      <p:sp>
        <p:nvSpPr>
          <p:cNvPr id="10" name="Text 8"/>
          <p:cNvSpPr/>
          <p:nvPr/>
        </p:nvSpPr>
        <p:spPr>
          <a:xfrm>
            <a:off x="868680" y="3154680"/>
            <a:ext cx="502920" cy="640080"/>
          </a:xfrm>
          <a:prstGeom prst="rect">
            <a:avLst/>
          </a:prstGeom>
          <a:noFill/>
          <a:ln/>
        </p:spPr>
        <p:txBody>
          <a:bodyPr wrap="square" lIns="0" tIns="0" rIns="0" bIns="0" rtlCol="0" anchor="ctr"/>
          <a:lstStyle/>
          <a:p>
            <a:pPr indent="0" marL="0">
              <a:buNone/>
            </a:pPr>
            <a:r>
              <a:rPr lang="en-US" sz="2200" b="1" dirty="0">
                <a:solidFill>
                  <a:srgbClr val="1F3A5F"/>
                </a:solidFill>
                <a:latin typeface="Georgia" pitchFamily="34" charset="0"/>
                <a:ea typeface="Georgia" pitchFamily="34" charset="-122"/>
                <a:cs typeface="Georgia" pitchFamily="34" charset="-120"/>
              </a:rPr>
              <a:t>2</a:t>
            </a:r>
            <a:endParaRPr lang="en-US" sz="2200" dirty="0"/>
          </a:p>
        </p:txBody>
      </p:sp>
      <p:sp>
        <p:nvSpPr>
          <p:cNvPr id="11" name="Text 9"/>
          <p:cNvSpPr/>
          <p:nvPr/>
        </p:nvSpPr>
        <p:spPr>
          <a:xfrm>
            <a:off x="1508760" y="3090672"/>
            <a:ext cx="4206240" cy="41148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Backbone</a:t>
            </a:r>
            <a:endParaRPr lang="en-US" sz="1800" dirty="0"/>
          </a:p>
        </p:txBody>
      </p:sp>
      <p:sp>
        <p:nvSpPr>
          <p:cNvPr id="12" name="Text 10"/>
          <p:cNvSpPr/>
          <p:nvPr/>
        </p:nvSpPr>
        <p:spPr>
          <a:xfrm>
            <a:off x="1508760" y="3547872"/>
            <a:ext cx="4206240" cy="41148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Transformer size, patches, embeddings</a:t>
            </a:r>
            <a:endParaRPr lang="en-US" sz="1400" dirty="0"/>
          </a:p>
        </p:txBody>
      </p:sp>
      <p:sp>
        <p:nvSpPr>
          <p:cNvPr id="13" name="Shape 11"/>
          <p:cNvSpPr/>
          <p:nvPr/>
        </p:nvSpPr>
        <p:spPr>
          <a:xfrm>
            <a:off x="640080" y="4389120"/>
            <a:ext cx="5394960" cy="1371600"/>
          </a:xfrm>
          <a:prstGeom prst="rect">
            <a:avLst/>
          </a:prstGeom>
          <a:solidFill>
            <a:srgbClr val="FFFFFF"/>
          </a:solidFill>
          <a:ln w="12700">
            <a:solidFill>
              <a:srgbClr val="D0D5DB"/>
            </a:solidFill>
            <a:prstDash val="solid"/>
          </a:ln>
        </p:spPr>
      </p:sp>
      <p:sp>
        <p:nvSpPr>
          <p:cNvPr id="14" name="Text 12"/>
          <p:cNvSpPr/>
          <p:nvPr/>
        </p:nvSpPr>
        <p:spPr>
          <a:xfrm>
            <a:off x="868680" y="4709160"/>
            <a:ext cx="502920" cy="640080"/>
          </a:xfrm>
          <a:prstGeom prst="rect">
            <a:avLst/>
          </a:prstGeom>
          <a:noFill/>
          <a:ln/>
        </p:spPr>
        <p:txBody>
          <a:bodyPr wrap="square" lIns="0" tIns="0" rIns="0" bIns="0" rtlCol="0" anchor="ctr"/>
          <a:lstStyle/>
          <a:p>
            <a:pPr indent="0" marL="0">
              <a:buNone/>
            </a:pPr>
            <a:r>
              <a:rPr lang="en-US" sz="2200" b="1" dirty="0">
                <a:solidFill>
                  <a:srgbClr val="1F3A5F"/>
                </a:solidFill>
                <a:latin typeface="Georgia" pitchFamily="34" charset="0"/>
                <a:ea typeface="Georgia" pitchFamily="34" charset="-122"/>
                <a:cs typeface="Georgia" pitchFamily="34" charset="-120"/>
              </a:rPr>
              <a:t>3</a:t>
            </a:r>
            <a:endParaRPr lang="en-US" sz="2200" dirty="0"/>
          </a:p>
        </p:txBody>
      </p:sp>
      <p:sp>
        <p:nvSpPr>
          <p:cNvPr id="15" name="Text 13"/>
          <p:cNvSpPr/>
          <p:nvPr/>
        </p:nvSpPr>
        <p:spPr>
          <a:xfrm>
            <a:off x="1508760" y="4645152"/>
            <a:ext cx="4206240" cy="41148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Attention</a:t>
            </a:r>
            <a:endParaRPr lang="en-US" sz="1800" dirty="0"/>
          </a:p>
        </p:txBody>
      </p:sp>
      <p:sp>
        <p:nvSpPr>
          <p:cNvPr id="16" name="Text 14"/>
          <p:cNvSpPr/>
          <p:nvPr/>
        </p:nvSpPr>
        <p:spPr>
          <a:xfrm>
            <a:off x="1508760" y="5102352"/>
            <a:ext cx="4206240" cy="41148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Between channels? Time? Dual-axis?</a:t>
            </a:r>
            <a:endParaRPr lang="en-US" sz="1400" dirty="0"/>
          </a:p>
        </p:txBody>
      </p:sp>
      <p:sp>
        <p:nvSpPr>
          <p:cNvPr id="17" name="Shape 15"/>
          <p:cNvSpPr/>
          <p:nvPr/>
        </p:nvSpPr>
        <p:spPr>
          <a:xfrm>
            <a:off x="6263640" y="1280160"/>
            <a:ext cx="5394960" cy="1371600"/>
          </a:xfrm>
          <a:prstGeom prst="rect">
            <a:avLst/>
          </a:prstGeom>
          <a:solidFill>
            <a:srgbClr val="FFFFFF"/>
          </a:solidFill>
          <a:ln w="12700">
            <a:solidFill>
              <a:srgbClr val="D0D5DB"/>
            </a:solidFill>
            <a:prstDash val="solid"/>
          </a:ln>
        </p:spPr>
      </p:sp>
      <p:sp>
        <p:nvSpPr>
          <p:cNvPr id="18" name="Text 16"/>
          <p:cNvSpPr/>
          <p:nvPr/>
        </p:nvSpPr>
        <p:spPr>
          <a:xfrm>
            <a:off x="6492240" y="1600200"/>
            <a:ext cx="502920" cy="640080"/>
          </a:xfrm>
          <a:prstGeom prst="rect">
            <a:avLst/>
          </a:prstGeom>
          <a:noFill/>
          <a:ln/>
        </p:spPr>
        <p:txBody>
          <a:bodyPr wrap="square" lIns="0" tIns="0" rIns="0" bIns="0" rtlCol="0" anchor="ctr"/>
          <a:lstStyle/>
          <a:p>
            <a:pPr indent="0" marL="0">
              <a:buNone/>
            </a:pPr>
            <a:r>
              <a:rPr lang="en-US" sz="2200" b="1" dirty="0">
                <a:solidFill>
                  <a:srgbClr val="1F3A5F"/>
                </a:solidFill>
                <a:latin typeface="Georgia" pitchFamily="34" charset="0"/>
                <a:ea typeface="Georgia" pitchFamily="34" charset="-122"/>
                <a:cs typeface="Georgia" pitchFamily="34" charset="-120"/>
              </a:rPr>
              <a:t>4</a:t>
            </a:r>
            <a:endParaRPr lang="en-US" sz="2200" dirty="0"/>
          </a:p>
        </p:txBody>
      </p:sp>
      <p:sp>
        <p:nvSpPr>
          <p:cNvPr id="19" name="Text 17"/>
          <p:cNvSpPr/>
          <p:nvPr/>
        </p:nvSpPr>
        <p:spPr>
          <a:xfrm>
            <a:off x="7132320" y="1536192"/>
            <a:ext cx="4206240" cy="41148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SSL</a:t>
            </a:r>
            <a:endParaRPr lang="en-US" sz="1800" dirty="0"/>
          </a:p>
        </p:txBody>
      </p:sp>
      <p:sp>
        <p:nvSpPr>
          <p:cNvPr id="20" name="Text 18"/>
          <p:cNvSpPr/>
          <p:nvPr/>
        </p:nvSpPr>
        <p:spPr>
          <a:xfrm>
            <a:off x="7132320" y="1993392"/>
            <a:ext cx="4206240" cy="41148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MAE reconstruction — mask, decoder, loss</a:t>
            </a:r>
            <a:endParaRPr lang="en-US" sz="1400" dirty="0"/>
          </a:p>
        </p:txBody>
      </p:sp>
      <p:sp>
        <p:nvSpPr>
          <p:cNvPr id="21" name="Shape 19"/>
          <p:cNvSpPr/>
          <p:nvPr/>
        </p:nvSpPr>
        <p:spPr>
          <a:xfrm>
            <a:off x="6263640" y="2834640"/>
            <a:ext cx="5394960" cy="1371600"/>
          </a:xfrm>
          <a:prstGeom prst="rect">
            <a:avLst/>
          </a:prstGeom>
          <a:solidFill>
            <a:srgbClr val="FFFFFF"/>
          </a:solidFill>
          <a:ln w="12700">
            <a:solidFill>
              <a:srgbClr val="D0D5DB"/>
            </a:solidFill>
            <a:prstDash val="solid"/>
          </a:ln>
        </p:spPr>
      </p:sp>
      <p:sp>
        <p:nvSpPr>
          <p:cNvPr id="22" name="Text 20"/>
          <p:cNvSpPr/>
          <p:nvPr/>
        </p:nvSpPr>
        <p:spPr>
          <a:xfrm>
            <a:off x="6492240" y="3154680"/>
            <a:ext cx="502920" cy="640080"/>
          </a:xfrm>
          <a:prstGeom prst="rect">
            <a:avLst/>
          </a:prstGeom>
          <a:noFill/>
          <a:ln/>
        </p:spPr>
        <p:txBody>
          <a:bodyPr wrap="square" lIns="0" tIns="0" rIns="0" bIns="0" rtlCol="0" anchor="ctr"/>
          <a:lstStyle/>
          <a:p>
            <a:pPr indent="0" marL="0">
              <a:buNone/>
            </a:pPr>
            <a:r>
              <a:rPr lang="en-US" sz="2200" b="1" dirty="0">
                <a:solidFill>
                  <a:srgbClr val="1F3A5F"/>
                </a:solidFill>
                <a:latin typeface="Georgia" pitchFamily="34" charset="0"/>
                <a:ea typeface="Georgia" pitchFamily="34" charset="-122"/>
                <a:cs typeface="Georgia" pitchFamily="34" charset="-120"/>
              </a:rPr>
              <a:t>5</a:t>
            </a:r>
            <a:endParaRPr lang="en-US" sz="2200" dirty="0"/>
          </a:p>
        </p:txBody>
      </p:sp>
      <p:sp>
        <p:nvSpPr>
          <p:cNvPr id="23" name="Text 21"/>
          <p:cNvSpPr/>
          <p:nvPr/>
        </p:nvSpPr>
        <p:spPr>
          <a:xfrm>
            <a:off x="7132320" y="3090672"/>
            <a:ext cx="4206240" cy="41148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Downstream</a:t>
            </a:r>
            <a:endParaRPr lang="en-US" sz="1800" dirty="0"/>
          </a:p>
        </p:txBody>
      </p:sp>
      <p:sp>
        <p:nvSpPr>
          <p:cNvPr id="24" name="Text 22"/>
          <p:cNvSpPr/>
          <p:nvPr/>
        </p:nvSpPr>
        <p:spPr>
          <a:xfrm>
            <a:off x="7132320" y="3547872"/>
            <a:ext cx="4206240" cy="41148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Classification head, dataset, eval</a:t>
            </a:r>
            <a:endParaRPr lang="en-US" sz="1400" dirty="0"/>
          </a:p>
        </p:txBody>
      </p:sp>
      <p:sp>
        <p:nvSpPr>
          <p:cNvPr id="25" name="Shape 23"/>
          <p:cNvSpPr/>
          <p:nvPr/>
        </p:nvSpPr>
        <p:spPr>
          <a:xfrm>
            <a:off x="6263640" y="4389120"/>
            <a:ext cx="5394960" cy="1371600"/>
          </a:xfrm>
          <a:prstGeom prst="rect">
            <a:avLst/>
          </a:prstGeom>
          <a:solidFill>
            <a:srgbClr val="FFFFFF"/>
          </a:solidFill>
          <a:ln w="12700">
            <a:solidFill>
              <a:srgbClr val="D0D5DB"/>
            </a:solidFill>
            <a:prstDash val="solid"/>
          </a:ln>
        </p:spPr>
      </p:sp>
      <p:sp>
        <p:nvSpPr>
          <p:cNvPr id="26" name="Text 24"/>
          <p:cNvSpPr/>
          <p:nvPr/>
        </p:nvSpPr>
        <p:spPr>
          <a:xfrm>
            <a:off x="6492240" y="4709160"/>
            <a:ext cx="502920" cy="640080"/>
          </a:xfrm>
          <a:prstGeom prst="rect">
            <a:avLst/>
          </a:prstGeom>
          <a:noFill/>
          <a:ln/>
        </p:spPr>
        <p:txBody>
          <a:bodyPr wrap="square" lIns="0" tIns="0" rIns="0" bIns="0" rtlCol="0" anchor="ctr"/>
          <a:lstStyle/>
          <a:p>
            <a:pPr indent="0" marL="0">
              <a:buNone/>
            </a:pPr>
            <a:r>
              <a:rPr lang="en-US" sz="2200" b="1" dirty="0">
                <a:solidFill>
                  <a:srgbClr val="1F3A5F"/>
                </a:solidFill>
                <a:latin typeface="Georgia" pitchFamily="34" charset="0"/>
                <a:ea typeface="Georgia" pitchFamily="34" charset="-122"/>
                <a:cs typeface="Georgia" pitchFamily="34" charset="-120"/>
              </a:rPr>
              <a:t>6</a:t>
            </a:r>
            <a:endParaRPr lang="en-US" sz="2200" dirty="0"/>
          </a:p>
        </p:txBody>
      </p:sp>
      <p:sp>
        <p:nvSpPr>
          <p:cNvPr id="27" name="Text 25"/>
          <p:cNvSpPr/>
          <p:nvPr/>
        </p:nvSpPr>
        <p:spPr>
          <a:xfrm>
            <a:off x="7132320" y="4645152"/>
            <a:ext cx="4206240" cy="41148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Compute</a:t>
            </a:r>
            <a:endParaRPr lang="en-US" sz="1800" dirty="0"/>
          </a:p>
        </p:txBody>
      </p:sp>
      <p:sp>
        <p:nvSpPr>
          <p:cNvPr id="28" name="Text 26"/>
          <p:cNvSpPr/>
          <p:nvPr/>
        </p:nvSpPr>
        <p:spPr>
          <a:xfrm>
            <a:off x="7132320" y="5102352"/>
            <a:ext cx="4206240" cy="411480"/>
          </a:xfrm>
          <a:prstGeom prst="rect">
            <a:avLst/>
          </a:prstGeom>
          <a:noFill/>
          <a:ln/>
        </p:spPr>
        <p:txBody>
          <a:bodyPr wrap="square" lIns="0" tIns="0" rIns="0" bIns="0" rtlCol="0" anchor="ctr"/>
          <a:lstStyle/>
          <a:p>
            <a:pPr indent="0" marL="0">
              <a:buNone/>
            </a:pPr>
            <a:r>
              <a:rPr lang="en-US" sz="1400" dirty="0">
                <a:solidFill>
                  <a:srgbClr val="5C6570"/>
                </a:solidFill>
                <a:latin typeface="Calibri" pitchFamily="34" charset="0"/>
                <a:ea typeface="Calibri" pitchFamily="34" charset="-122"/>
                <a:cs typeface="Calibri" pitchFamily="34" charset="-120"/>
              </a:rPr>
              <a:t>LOSO time · what we can import later</a:t>
            </a:r>
            <a:endParaRPr lang="en-US" sz="1400" dirty="0"/>
          </a:p>
        </p:txBody>
      </p:sp>
      <p:sp>
        <p:nvSpPr>
          <p:cNvPr id="30" name="Shape 27"/>
          <p:cNvSpPr/>
          <p:nvPr/>
        </p:nvSpPr>
        <p:spPr>
          <a:xfrm>
            <a:off x="640080" y="6400800"/>
            <a:ext cx="10881360" cy="0"/>
          </a:xfrm>
          <a:prstGeom prst="line">
            <a:avLst/>
          </a:prstGeom>
          <a:noFill/>
          <a:ln w="9525">
            <a:solidFill>
              <a:srgbClr val="D0D5DB"/>
            </a:solidFill>
            <a:prstDash val="solid"/>
          </a:ln>
        </p:spPr>
      </p:sp>
      <p:sp>
        <p:nvSpPr>
          <p:cNvPr id="31" name="Text 28"/>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32" name="Text 29"/>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RECAP</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Context from 23 July (not today's focus)</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sp>
        <p:nvSpPr>
          <p:cNvPr id="5" name="Shape 3"/>
          <p:cNvSpPr/>
          <p:nvPr/>
        </p:nvSpPr>
        <p:spPr>
          <a:xfrm>
            <a:off x="640080" y="1280160"/>
            <a:ext cx="5394960" cy="2148840"/>
          </a:xfrm>
          <a:prstGeom prst="rect">
            <a:avLst/>
          </a:prstGeom>
          <a:solidFill>
            <a:srgbClr val="FFFFFF"/>
          </a:solidFill>
          <a:ln w="12700">
            <a:solidFill>
              <a:srgbClr val="D0D5DB"/>
            </a:solidFill>
            <a:prstDash val="solid"/>
          </a:ln>
        </p:spPr>
      </p:sp>
      <p:sp>
        <p:nvSpPr>
          <p:cNvPr id="6" name="Text 4"/>
          <p:cNvSpPr/>
          <p:nvPr/>
        </p:nvSpPr>
        <p:spPr>
          <a:xfrm>
            <a:off x="914400" y="1536192"/>
            <a:ext cx="4846320" cy="320040"/>
          </a:xfrm>
          <a:prstGeom prst="rect">
            <a:avLst/>
          </a:prstGeom>
          <a:noFill/>
          <a:ln/>
        </p:spPr>
        <p:txBody>
          <a:bodyPr wrap="square" lIns="0" tIns="0" rIns="0" bIns="0" rtlCol="0" anchor="ctr"/>
          <a:lstStyle/>
          <a:p>
            <a:pPr indent="0" marL="0">
              <a:buNone/>
            </a:pPr>
            <a:r>
              <a:rPr lang="en-US" sz="1200" b="1" spc="100" kern="0" dirty="0">
                <a:solidFill>
                  <a:srgbClr val="1F3A5F"/>
                </a:solidFill>
                <a:latin typeface="Calibri" pitchFamily="34" charset="0"/>
                <a:ea typeface="Calibri" pitchFamily="34" charset="-122"/>
                <a:cs typeface="Calibri" pitchFamily="34" charset="-120"/>
              </a:rPr>
              <a:t>TASK</a:t>
            </a:r>
            <a:endParaRPr lang="en-US" sz="1200" dirty="0"/>
          </a:p>
        </p:txBody>
      </p:sp>
      <p:sp>
        <p:nvSpPr>
          <p:cNvPr id="7" name="Text 5"/>
          <p:cNvSpPr/>
          <p:nvPr/>
        </p:nvSpPr>
        <p:spPr>
          <a:xfrm>
            <a:off x="914400" y="1965960"/>
            <a:ext cx="4846320" cy="11887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Covert left / right spatial attention</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43 subjects · 8 s @ 256 Hz · 64 EEG channels</a:t>
            </a:r>
            <a:endParaRPr lang="en-US" sz="1600" dirty="0"/>
          </a:p>
        </p:txBody>
      </p:sp>
      <p:sp>
        <p:nvSpPr>
          <p:cNvPr id="8" name="Shape 6"/>
          <p:cNvSpPr/>
          <p:nvPr/>
        </p:nvSpPr>
        <p:spPr>
          <a:xfrm>
            <a:off x="6263640" y="1280160"/>
            <a:ext cx="5394960" cy="2148840"/>
          </a:xfrm>
          <a:prstGeom prst="rect">
            <a:avLst/>
          </a:prstGeom>
          <a:solidFill>
            <a:srgbClr val="FFFFFF"/>
          </a:solidFill>
          <a:ln w="12700">
            <a:solidFill>
              <a:srgbClr val="D0D5DB"/>
            </a:solidFill>
            <a:prstDash val="solid"/>
          </a:ln>
        </p:spPr>
      </p:sp>
      <p:sp>
        <p:nvSpPr>
          <p:cNvPr id="9" name="Text 7"/>
          <p:cNvSpPr/>
          <p:nvPr/>
        </p:nvSpPr>
        <p:spPr>
          <a:xfrm>
            <a:off x="6537960" y="1536192"/>
            <a:ext cx="4846320" cy="320040"/>
          </a:xfrm>
          <a:prstGeom prst="rect">
            <a:avLst/>
          </a:prstGeom>
          <a:noFill/>
          <a:ln/>
        </p:spPr>
        <p:txBody>
          <a:bodyPr wrap="square" lIns="0" tIns="0" rIns="0" bIns="0" rtlCol="0" anchor="ctr"/>
          <a:lstStyle/>
          <a:p>
            <a:pPr indent="0" marL="0">
              <a:buNone/>
            </a:pPr>
            <a:r>
              <a:rPr lang="en-US" sz="1200" b="1" spc="100" kern="0" dirty="0">
                <a:solidFill>
                  <a:srgbClr val="1F3A5F"/>
                </a:solidFill>
                <a:latin typeface="Calibri" pitchFamily="34" charset="0"/>
                <a:ea typeface="Calibri" pitchFamily="34" charset="-122"/>
                <a:cs typeface="Calibri" pitchFamily="34" charset="-120"/>
              </a:rPr>
              <a:t>POPULATION</a:t>
            </a:r>
            <a:endParaRPr lang="en-US" sz="1200" dirty="0"/>
          </a:p>
        </p:txBody>
      </p:sp>
      <p:sp>
        <p:nvSpPr>
          <p:cNvPr id="10" name="Text 8"/>
          <p:cNvSpPr/>
          <p:nvPr/>
        </p:nvSpPr>
        <p:spPr>
          <a:xfrm>
            <a:off x="6537960" y="1965960"/>
            <a:ext cx="4846320" cy="11887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ST-EEGFormer 61.7%  ≈  LaBraM ~62%</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LDA 55.7%  ·  chance 50%</a:t>
            </a:r>
            <a:endParaRPr lang="en-US" sz="1600" dirty="0"/>
          </a:p>
        </p:txBody>
      </p:sp>
      <p:sp>
        <p:nvSpPr>
          <p:cNvPr id="11" name="Shape 9"/>
          <p:cNvSpPr/>
          <p:nvPr/>
        </p:nvSpPr>
        <p:spPr>
          <a:xfrm>
            <a:off x="640080" y="3611880"/>
            <a:ext cx="5394960" cy="2148840"/>
          </a:xfrm>
          <a:prstGeom prst="rect">
            <a:avLst/>
          </a:prstGeom>
          <a:solidFill>
            <a:srgbClr val="FFFFFF"/>
          </a:solidFill>
          <a:ln w="12700">
            <a:solidFill>
              <a:srgbClr val="D0D5DB"/>
            </a:solidFill>
            <a:prstDash val="solid"/>
          </a:ln>
        </p:spPr>
      </p:sp>
      <p:sp>
        <p:nvSpPr>
          <p:cNvPr id="12" name="Text 10"/>
          <p:cNvSpPr/>
          <p:nvPr/>
        </p:nvSpPr>
        <p:spPr>
          <a:xfrm>
            <a:off x="914400" y="3867912"/>
            <a:ext cx="4846320" cy="320040"/>
          </a:xfrm>
          <a:prstGeom prst="rect">
            <a:avLst/>
          </a:prstGeom>
          <a:noFill/>
          <a:ln/>
        </p:spPr>
        <p:txBody>
          <a:bodyPr wrap="square" lIns="0" tIns="0" rIns="0" bIns="0" rtlCol="0" anchor="ctr"/>
          <a:lstStyle/>
          <a:p>
            <a:pPr indent="0" marL="0">
              <a:buNone/>
            </a:pPr>
            <a:r>
              <a:rPr lang="en-US" sz="1200" b="1" spc="100" kern="0" dirty="0">
                <a:solidFill>
                  <a:srgbClr val="1F3A5F"/>
                </a:solidFill>
                <a:latin typeface="Calibri" pitchFamily="34" charset="0"/>
                <a:ea typeface="Calibri" pitchFamily="34" charset="-122"/>
                <a:cs typeface="Calibri" pitchFamily="34" charset="-120"/>
              </a:rPr>
              <a:t>LOSO</a:t>
            </a:r>
            <a:endParaRPr lang="en-US" sz="1200" dirty="0"/>
          </a:p>
        </p:txBody>
      </p:sp>
      <p:sp>
        <p:nvSpPr>
          <p:cNvPr id="13" name="Text 11"/>
          <p:cNvSpPr/>
          <p:nvPr/>
        </p:nvSpPr>
        <p:spPr>
          <a:xfrm>
            <a:off x="914400" y="4297680"/>
            <a:ext cx="4846320" cy="11887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Still running on the cluster</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No final mean until 43/43 folds</a:t>
            </a:r>
            <a:endParaRPr lang="en-US" sz="1600" dirty="0"/>
          </a:p>
        </p:txBody>
      </p:sp>
      <p:sp>
        <p:nvSpPr>
          <p:cNvPr id="14" name="Shape 12"/>
          <p:cNvSpPr/>
          <p:nvPr/>
        </p:nvSpPr>
        <p:spPr>
          <a:xfrm>
            <a:off x="6263640" y="3611880"/>
            <a:ext cx="5394960" cy="2148840"/>
          </a:xfrm>
          <a:prstGeom prst="rect">
            <a:avLst/>
          </a:prstGeom>
          <a:solidFill>
            <a:srgbClr val="FFFFFF"/>
          </a:solidFill>
          <a:ln w="12700">
            <a:solidFill>
              <a:srgbClr val="D0D5DB"/>
            </a:solidFill>
            <a:prstDash val="solid"/>
          </a:ln>
        </p:spPr>
      </p:sp>
      <p:sp>
        <p:nvSpPr>
          <p:cNvPr id="15" name="Text 13"/>
          <p:cNvSpPr/>
          <p:nvPr/>
        </p:nvSpPr>
        <p:spPr>
          <a:xfrm>
            <a:off x="6537960" y="3867912"/>
            <a:ext cx="4846320" cy="320040"/>
          </a:xfrm>
          <a:prstGeom prst="rect">
            <a:avLst/>
          </a:prstGeom>
          <a:noFill/>
          <a:ln/>
        </p:spPr>
        <p:txBody>
          <a:bodyPr wrap="square" lIns="0" tIns="0" rIns="0" bIns="0" rtlCol="0" anchor="ctr"/>
          <a:lstStyle/>
          <a:p>
            <a:pPr indent="0" marL="0">
              <a:buNone/>
            </a:pPr>
            <a:r>
              <a:rPr lang="en-US" sz="1200" b="1" spc="100" kern="0" dirty="0">
                <a:solidFill>
                  <a:srgbClr val="1F3A5F"/>
                </a:solidFill>
                <a:latin typeface="Calibri" pitchFamily="34" charset="0"/>
                <a:ea typeface="Calibri" pitchFamily="34" charset="-122"/>
                <a:cs typeface="Calibri" pitchFamily="34" charset="-120"/>
              </a:rPr>
              <a:t>CONFIG</a:t>
            </a:r>
            <a:endParaRPr lang="en-US" sz="1200" dirty="0"/>
          </a:p>
        </p:txBody>
      </p:sp>
      <p:sp>
        <p:nvSpPr>
          <p:cNvPr id="16" name="Text 14"/>
          <p:cNvSpPr/>
          <p:nvPr/>
        </p:nvSpPr>
        <p:spPr>
          <a:xfrm>
            <a:off x="6537960" y="4297680"/>
            <a:ext cx="4846320" cy="118872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ViT-large · lr 3e-4 · layer_decay 1.0</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mix_up 0.0 · 50 epochs · batch 4</a:t>
            </a:r>
            <a:endParaRPr lang="en-US" sz="1600" dirty="0"/>
          </a:p>
        </p:txBody>
      </p:sp>
      <p:sp>
        <p:nvSpPr>
          <p:cNvPr id="18" name="Shape 15"/>
          <p:cNvSpPr/>
          <p:nvPr/>
        </p:nvSpPr>
        <p:spPr>
          <a:xfrm>
            <a:off x="640080" y="6400800"/>
            <a:ext cx="10881360" cy="0"/>
          </a:xfrm>
          <a:prstGeom prst="line">
            <a:avLst/>
          </a:prstGeom>
          <a:noFill/>
          <a:ln w="9525">
            <a:solidFill>
              <a:srgbClr val="D0D5DB"/>
            </a:solidFill>
            <a:prstDash val="solid"/>
          </a:ln>
        </p:spPr>
      </p:sp>
      <p:sp>
        <p:nvSpPr>
          <p:cNvPr id="19" name="Text 16"/>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20" name="Text 17"/>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PIPELINE</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Two stages: MAE pretrain, then classify</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sp>
        <p:nvSpPr>
          <p:cNvPr id="5" name="Shape 3"/>
          <p:cNvSpPr/>
          <p:nvPr/>
        </p:nvSpPr>
        <p:spPr>
          <a:xfrm>
            <a:off x="640080" y="1325880"/>
            <a:ext cx="5394960" cy="2331720"/>
          </a:xfrm>
          <a:prstGeom prst="rect">
            <a:avLst/>
          </a:prstGeom>
          <a:solidFill>
            <a:srgbClr val="FFFFFF"/>
          </a:solidFill>
          <a:ln w="12700">
            <a:solidFill>
              <a:srgbClr val="D0D5DB"/>
            </a:solidFill>
            <a:prstDash val="solid"/>
          </a:ln>
        </p:spPr>
      </p:sp>
      <p:sp>
        <p:nvSpPr>
          <p:cNvPr id="6" name="Shape 4"/>
          <p:cNvSpPr/>
          <p:nvPr/>
        </p:nvSpPr>
        <p:spPr>
          <a:xfrm>
            <a:off x="640080" y="1325880"/>
            <a:ext cx="128016" cy="2331720"/>
          </a:xfrm>
          <a:prstGeom prst="rect">
            <a:avLst/>
          </a:prstGeom>
          <a:solidFill>
            <a:srgbClr val="1F3A5F"/>
          </a:solidFill>
          <a:ln/>
        </p:spPr>
      </p:sp>
      <p:sp>
        <p:nvSpPr>
          <p:cNvPr id="7" name="Text 5"/>
          <p:cNvSpPr/>
          <p:nvPr/>
        </p:nvSpPr>
        <p:spPr>
          <a:xfrm>
            <a:off x="1005840" y="1508760"/>
            <a:ext cx="4846320" cy="41148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Stage 1 — Pretrain</a:t>
            </a:r>
            <a:endParaRPr lang="en-US" sz="1800" dirty="0"/>
          </a:p>
        </p:txBody>
      </p:sp>
      <p:sp>
        <p:nvSpPr>
          <p:cNvPr id="8" name="Text 6"/>
          <p:cNvSpPr/>
          <p:nvPr/>
        </p:nvSpPr>
        <p:spPr>
          <a:xfrm>
            <a:off x="1005840" y="2011680"/>
            <a:ext cx="4846320" cy="1371600"/>
          </a:xfrm>
          <a:prstGeom prst="rect">
            <a:avLst/>
          </a:prstGeom>
          <a:noFill/>
          <a:ln/>
        </p:spPr>
        <p:txBody>
          <a:bodyPr wrap="square" lIns="0" tIns="0" rIns="0" bIns="0" rtlCol="0" anchor="ctr"/>
          <a:lstStyle/>
          <a:p>
            <a:pPr indent="0" marL="0">
              <a:buNone/>
            </a:pPr>
            <a:r>
              <a:rPr lang="en-US" sz="1500" dirty="0">
                <a:solidFill>
                  <a:srgbClr val="5C6570"/>
                </a:solidFill>
                <a:latin typeface="Calibri" pitchFamily="34" charset="0"/>
                <a:ea typeface="Calibri" pitchFamily="34" charset="-122"/>
                <a:cs typeface="Calibri" pitchFamily="34" charset="-120"/>
              </a:rPr>
              <a:t>Masked Autoencoder on raw EEG patches</a:t>
            </a:r>
            <a:endParaRPr lang="en-US" sz="1500" dirty="0"/>
          </a:p>
          <a:p>
            <a:pPr indent="0" marL="0">
              <a:buNone/>
            </a:pPr>
            <a:r>
              <a:rPr lang="en-US" sz="1500" dirty="0">
                <a:solidFill>
                  <a:srgbClr val="5C6570"/>
                </a:solidFill>
                <a:latin typeface="Calibri" pitchFamily="34" charset="0"/>
                <a:ea typeface="Calibri" pitchFamily="34" charset="-122"/>
                <a:cs typeface="Calibri" pitchFamily="34" charset="-120"/>
              </a:rPr>
              <a:t>Reconstruct missing patches (MSE)</a:t>
            </a:r>
            <a:endParaRPr lang="en-US" sz="1500" dirty="0"/>
          </a:p>
          <a:p>
            <a:pPr indent="0" marL="0">
              <a:buNone/>
            </a:pPr>
            <a:r>
              <a:rPr lang="en-US" sz="1500" dirty="0">
                <a:solidFill>
                  <a:srgbClr val="5C6570"/>
                </a:solidFill>
                <a:latin typeface="Calibri" pitchFamily="34" charset="0"/>
                <a:ea typeface="Calibri" pitchFamily="34" charset="-122"/>
                <a:cs typeface="Calibri" pitchFamily="34" charset="-120"/>
              </a:rPr>
              <a:t>No labels. Large unlabeled EEG corpora.</a:t>
            </a:r>
            <a:endParaRPr lang="en-US" sz="1500" dirty="0"/>
          </a:p>
        </p:txBody>
      </p:sp>
      <p:sp>
        <p:nvSpPr>
          <p:cNvPr id="9" name="Shape 7"/>
          <p:cNvSpPr/>
          <p:nvPr/>
        </p:nvSpPr>
        <p:spPr>
          <a:xfrm>
            <a:off x="6263640" y="1325880"/>
            <a:ext cx="5394960" cy="2331720"/>
          </a:xfrm>
          <a:prstGeom prst="rect">
            <a:avLst/>
          </a:prstGeom>
          <a:solidFill>
            <a:srgbClr val="FFFFFF"/>
          </a:solidFill>
          <a:ln w="12700">
            <a:solidFill>
              <a:srgbClr val="D0D5DB"/>
            </a:solidFill>
            <a:prstDash val="solid"/>
          </a:ln>
        </p:spPr>
      </p:sp>
      <p:sp>
        <p:nvSpPr>
          <p:cNvPr id="10" name="Shape 8"/>
          <p:cNvSpPr/>
          <p:nvPr/>
        </p:nvSpPr>
        <p:spPr>
          <a:xfrm>
            <a:off x="6263640" y="1325880"/>
            <a:ext cx="128016" cy="2331720"/>
          </a:xfrm>
          <a:prstGeom prst="rect">
            <a:avLst/>
          </a:prstGeom>
          <a:solidFill>
            <a:srgbClr val="1F3A5F"/>
          </a:solidFill>
          <a:ln/>
        </p:spPr>
      </p:sp>
      <p:sp>
        <p:nvSpPr>
          <p:cNvPr id="11" name="Text 9"/>
          <p:cNvSpPr/>
          <p:nvPr/>
        </p:nvSpPr>
        <p:spPr>
          <a:xfrm>
            <a:off x="6629400" y="1508760"/>
            <a:ext cx="4846320" cy="41148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Stage 2 — Finetune</a:t>
            </a:r>
            <a:endParaRPr lang="en-US" sz="1800" dirty="0"/>
          </a:p>
        </p:txBody>
      </p:sp>
      <p:sp>
        <p:nvSpPr>
          <p:cNvPr id="12" name="Text 10"/>
          <p:cNvSpPr/>
          <p:nvPr/>
        </p:nvSpPr>
        <p:spPr>
          <a:xfrm>
            <a:off x="6629400" y="2011680"/>
            <a:ext cx="4846320" cy="1371600"/>
          </a:xfrm>
          <a:prstGeom prst="rect">
            <a:avLst/>
          </a:prstGeom>
          <a:noFill/>
          <a:ln/>
        </p:spPr>
        <p:txBody>
          <a:bodyPr wrap="square" lIns="0" tIns="0" rIns="0" bIns="0" rtlCol="0" anchor="ctr"/>
          <a:lstStyle/>
          <a:p>
            <a:pPr indent="0" marL="0">
              <a:buNone/>
            </a:pPr>
            <a:r>
              <a:rPr lang="en-US" sz="1500" dirty="0">
                <a:solidFill>
                  <a:srgbClr val="5C6570"/>
                </a:solidFill>
                <a:latin typeface="Calibri" pitchFamily="34" charset="0"/>
                <a:ea typeface="Calibri" pitchFamily="34" charset="-122"/>
                <a:cs typeface="Calibri" pitchFamily="34" charset="-120"/>
              </a:rPr>
              <a:t>Same encoder + linear classification head</a:t>
            </a:r>
            <a:endParaRPr lang="en-US" sz="1500" dirty="0"/>
          </a:p>
          <a:p>
            <a:pPr indent="0" marL="0">
              <a:buNone/>
            </a:pPr>
            <a:r>
              <a:rPr lang="en-US" sz="1500" dirty="0">
                <a:solidFill>
                  <a:srgbClr val="5C6570"/>
                </a:solidFill>
                <a:latin typeface="Calibri" pitchFamily="34" charset="0"/>
                <a:ea typeface="Calibri" pitchFamily="34" charset="-122"/>
                <a:cs typeface="Calibri" pitchFamily="34" charset="-120"/>
              </a:rPr>
              <a:t>Left vs right attention (2 classes)</a:t>
            </a:r>
            <a:endParaRPr lang="en-US" sz="1500" dirty="0"/>
          </a:p>
          <a:p>
            <a:pPr indent="0" marL="0">
              <a:buNone/>
            </a:pPr>
            <a:r>
              <a:rPr lang="en-US" sz="1500" dirty="0">
                <a:solidFill>
                  <a:srgbClr val="5C6570"/>
                </a:solidFill>
                <a:latin typeface="Calibri" pitchFamily="34" charset="0"/>
                <a:ea typeface="Calibri" pitchFamily="34" charset="-122"/>
                <a:cs typeface="Calibri" pitchFamily="34" charset="-120"/>
              </a:rPr>
              <a:t>SoftTarget cross-entropy · pretrained weights loaded</a:t>
            </a:r>
            <a:endParaRPr lang="en-US" sz="1500" dirty="0"/>
          </a:p>
        </p:txBody>
      </p:sp>
      <p:sp>
        <p:nvSpPr>
          <p:cNvPr id="13" name="Shape 11"/>
          <p:cNvSpPr/>
          <p:nvPr/>
        </p:nvSpPr>
        <p:spPr>
          <a:xfrm>
            <a:off x="640080" y="3840480"/>
            <a:ext cx="11018520" cy="2286000"/>
          </a:xfrm>
          <a:prstGeom prst="rect">
            <a:avLst/>
          </a:prstGeom>
          <a:solidFill>
            <a:srgbClr val="FBF7EC"/>
          </a:solidFill>
          <a:ln w="12700">
            <a:solidFill>
              <a:srgbClr val="D0D5DB"/>
            </a:solidFill>
            <a:prstDash val="solid"/>
          </a:ln>
        </p:spPr>
      </p:sp>
      <p:sp>
        <p:nvSpPr>
          <p:cNvPr id="14" name="Text 12"/>
          <p:cNvSpPr/>
          <p:nvPr/>
        </p:nvSpPr>
        <p:spPr>
          <a:xfrm>
            <a:off x="868680" y="4023360"/>
            <a:ext cx="10515600" cy="365760"/>
          </a:xfrm>
          <a:prstGeom prst="rect">
            <a:avLst/>
          </a:prstGeom>
          <a:noFill/>
          <a:ln/>
        </p:spPr>
        <p:txBody>
          <a:bodyPr wrap="square" lIns="0" tIns="0" rIns="0" bIns="0" rtlCol="0" anchor="ctr"/>
          <a:lstStyle/>
          <a:p>
            <a:pPr indent="0" marL="0">
              <a:buNone/>
            </a:pPr>
            <a:r>
              <a:rPr lang="en-US" sz="1800" b="1" dirty="0">
                <a:solidFill>
                  <a:srgbClr val="1F3A5F"/>
                </a:solidFill>
                <a:latin typeface="Georgia" pitchFamily="34" charset="0"/>
                <a:ea typeface="Georgia" pitchFamily="34" charset="-122"/>
                <a:cs typeface="Georgia" pitchFamily="34" charset="-120"/>
              </a:rPr>
              <a:t>Not a next-token / next-neuron predictor</a:t>
            </a:r>
            <a:endParaRPr lang="en-US" sz="1800" dirty="0"/>
          </a:p>
        </p:txBody>
      </p:sp>
      <p:sp>
        <p:nvSpPr>
          <p:cNvPr id="15" name="Text 13"/>
          <p:cNvSpPr/>
          <p:nvPr/>
        </p:nvSpPr>
        <p:spPr>
          <a:xfrm>
            <a:off x="868680" y="4480560"/>
            <a:ext cx="10515600" cy="13716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CalM predicts the next discrete neural token (autoregressive). CAPT predicts the next continuous patch (MSE). ST-EEGFormer pretraining is MAE: randomly mask patches and reconstruct them — bidirectional encoder, not causal next-step prediction. That is a concrete difference if we later import calcium ideas.</a:t>
            </a:r>
            <a:endParaRPr lang="en-US" sz="1500" dirty="0"/>
          </a:p>
        </p:txBody>
      </p:sp>
      <p:sp>
        <p:nvSpPr>
          <p:cNvPr id="17" name="Shape 14"/>
          <p:cNvSpPr/>
          <p:nvPr/>
        </p:nvSpPr>
        <p:spPr>
          <a:xfrm>
            <a:off x="640080" y="6400800"/>
            <a:ext cx="10881360" cy="0"/>
          </a:xfrm>
          <a:prstGeom prst="line">
            <a:avLst/>
          </a:prstGeom>
          <a:noFill/>
          <a:ln w="9525">
            <a:solidFill>
              <a:srgbClr val="D0D5DB"/>
            </a:solidFill>
            <a:prstDash val="solid"/>
          </a:ln>
        </p:spPr>
      </p:sp>
      <p:sp>
        <p:nvSpPr>
          <p:cNvPr id="18" name="Text 15"/>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19" name="Text 16"/>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1 · INPUT</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Input: raw time series, not a discrete tokenizer</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1018520" cy="914400"/>
        </p:xfrm>
        <a:graphic>
          <a:graphicData uri="http://schemas.openxmlformats.org/drawingml/2006/table">
            <a:tbl>
              <a:tblPr/>
              <a:tblGrid>
                <a:gridCol w="2377440"/>
                <a:gridCol w="4297680"/>
                <a:gridCol w="4343400"/>
              </a:tblGrid>
              <a:tr h="384048">
                <a:tc>
                  <a:txBody>
                    <a:bodyPr/>
                    <a:lstStyle/>
                    <a:p>
                      <a:pPr indent="0" marL="0">
                        <a:buNone/>
                      </a:pPr>
                      <a:endParaRPr lang="en-US" sz="12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ST-EEGFormer</a:t>
                      </a:r>
                      <a:endParaRPr lang="en-US" sz="12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1F3A5F"/>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LaBraM</a:t>
                      </a:r>
                      <a:endParaRPr lang="en-US" sz="12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1F3A5F"/>
                    </a:solidFill>
                  </a:tcPr>
                </a:tc>
              </a:tr>
              <a:tr h="960120">
                <a:tc>
                  <a:txBody>
                    <a:bodyPr/>
                    <a:lstStyle/>
                    <a:p>
                      <a:pPr algn="l" indent="0" marL="0">
                        <a:buNone/>
                      </a:pPr>
                      <a:r>
                        <a:rPr lang="en-US" sz="1400" b="1" dirty="0">
                          <a:solidFill>
                            <a:srgbClr val="1F3A5F"/>
                          </a:solidFill>
                          <a:latin typeface="Calibri" pitchFamily="34" charset="0"/>
                          <a:ea typeface="Calibri" pitchFamily="34" charset="-122"/>
                          <a:cs typeface="Calibri" pitchFamily="34" charset="-120"/>
                        </a:rPr>
                        <a:t>Representation</a:t>
                      </a:r>
                      <a:endParaRPr lang="en-US" sz="14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EEF2F6"/>
                    </a:solidFill>
                  </a:tcPr>
                </a:tc>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Continuous patches</a:t>
                      </a:r>
                      <a:endParaRPr lang="en-US" sz="1400" dirty="0">
                        <a:latin typeface="Calibri" charset="0"/>
                        <a:ea typeface="Calibri" charset="0"/>
                        <a:cs typeface="Calibri" charset="0"/>
                      </a:endParaRPr>
                    </a:p>
                    <a:p>
                      <a:pPr algn="l" indent="0" marL="0">
                        <a:buNone/>
                      </a:pPr>
                      <a:r>
                        <a:rPr lang="en-US" sz="1400" dirty="0">
                          <a:solidFill>
                            <a:srgbClr val="1A1A1A"/>
                          </a:solidFill>
                          <a:latin typeface="Calibri" pitchFamily="34" charset="0"/>
                          <a:ea typeface="Calibri" pitchFamily="34" charset="-122"/>
                          <a:cs typeface="Calibri" pitchFamily="34" charset="-120"/>
                        </a:rPr>
                        <a:t>Unfold + Linear</a:t>
                      </a:r>
                      <a:endParaRPr lang="en-US" sz="14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Discrete VQ tokens</a:t>
                      </a:r>
                      <a:endParaRPr lang="en-US" sz="1400" dirty="0">
                        <a:latin typeface="Calibri" charset="0"/>
                        <a:ea typeface="Calibri" charset="0"/>
                        <a:cs typeface="Calibri" charset="0"/>
                      </a:endParaRPr>
                    </a:p>
                    <a:p>
                      <a:pPr algn="l" indent="0" marL="0">
                        <a:buNone/>
                      </a:pPr>
                      <a:r>
                        <a:rPr lang="en-US" sz="1400" dirty="0">
                          <a:solidFill>
                            <a:srgbClr val="1A1A1A"/>
                          </a:solidFill>
                          <a:latin typeface="Calibri" pitchFamily="34" charset="0"/>
                          <a:ea typeface="Calibri" pitchFamily="34" charset="-122"/>
                          <a:cs typeface="Calibri" pitchFamily="34" charset="-120"/>
                        </a:rPr>
                        <a:t>neural tokenizer / codebook</a:t>
                      </a:r>
                      <a:endParaRPr lang="en-US" sz="14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r>
              <a:tr h="960120">
                <a:tc>
                  <a:txBody>
                    <a:bodyPr/>
                    <a:lstStyle/>
                    <a:p>
                      <a:pPr algn="l" indent="0" marL="0">
                        <a:buNone/>
                      </a:pPr>
                      <a:r>
                        <a:rPr lang="en-US" sz="1400" b="1" dirty="0">
                          <a:solidFill>
                            <a:srgbClr val="1F3A5F"/>
                          </a:solidFill>
                          <a:latin typeface="Calibri" pitchFamily="34" charset="0"/>
                          <a:ea typeface="Calibri" pitchFamily="34" charset="-122"/>
                          <a:cs typeface="Calibri" pitchFamily="34" charset="-120"/>
                        </a:rPr>
                        <a:t>SSL</a:t>
                      </a:r>
                      <a:endParaRPr lang="en-US" sz="14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EEF2F6"/>
                    </a:solidFill>
                  </a:tcPr>
                </a:tc>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MAE reconstructs</a:t>
                      </a:r>
                      <a:endParaRPr lang="en-US" sz="1400" dirty="0">
                        <a:latin typeface="Calibri" charset="0"/>
                        <a:ea typeface="Calibri" charset="0"/>
                        <a:cs typeface="Calibri" charset="0"/>
                      </a:endParaRPr>
                    </a:p>
                    <a:p>
                      <a:pPr algn="l" indent="0" marL="0">
                        <a:buNone/>
                      </a:pPr>
                      <a:r>
                        <a:rPr lang="en-US" sz="1400" dirty="0">
                          <a:solidFill>
                            <a:srgbClr val="1A1A1A"/>
                          </a:solidFill>
                          <a:latin typeface="Calibri" pitchFamily="34" charset="0"/>
                          <a:ea typeface="Calibri" pitchFamily="34" charset="-122"/>
                          <a:cs typeface="Calibri" pitchFamily="34" charset="-120"/>
                        </a:rPr>
                        <a:t>raw patch values</a:t>
                      </a:r>
                      <a:endParaRPr lang="en-US" sz="14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Masked token prediction</a:t>
                      </a:r>
                      <a:endParaRPr lang="en-US" sz="1400" dirty="0">
                        <a:latin typeface="Calibri" charset="0"/>
                        <a:ea typeface="Calibri" charset="0"/>
                        <a:cs typeface="Calibri" charset="0"/>
                      </a:endParaRPr>
                    </a:p>
                    <a:p>
                      <a:pPr algn="l" indent="0" marL="0">
                        <a:buNone/>
                      </a:pPr>
                      <a:r>
                        <a:rPr lang="en-US" sz="1400" dirty="0">
                          <a:solidFill>
                            <a:srgbClr val="1A1A1A"/>
                          </a:solidFill>
                          <a:latin typeface="Calibri" pitchFamily="34" charset="0"/>
                          <a:ea typeface="Calibri" pitchFamily="34" charset="-122"/>
                          <a:cs typeface="Calibri" pitchFamily="34" charset="-120"/>
                        </a:rPr>
                        <a:t>(spectrum-based, per Ishii)</a:t>
                      </a:r>
                      <a:endParaRPr lang="en-US" sz="14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r>
              <a:tr h="960120">
                <a:tc>
                  <a:txBody>
                    <a:bodyPr/>
                    <a:lstStyle/>
                    <a:p>
                      <a:pPr algn="l" indent="0" marL="0">
                        <a:buNone/>
                      </a:pPr>
                      <a:r>
                        <a:rPr lang="en-US" sz="1400" b="1" dirty="0">
                          <a:solidFill>
                            <a:srgbClr val="1F3A5F"/>
                          </a:solidFill>
                          <a:latin typeface="Calibri" pitchFamily="34" charset="0"/>
                          <a:ea typeface="Calibri" pitchFamily="34" charset="-122"/>
                          <a:cs typeface="Calibri" pitchFamily="34" charset="-120"/>
                        </a:rPr>
                        <a:t>Calcium analogue</a:t>
                      </a:r>
                      <a:endParaRPr lang="en-US" sz="14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EEF2F6"/>
                    </a:solidFill>
                  </a:tcPr>
                </a:tc>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CAPT-style</a:t>
                      </a:r>
                      <a:endParaRPr lang="en-US" sz="1400" dirty="0">
                        <a:latin typeface="Calibri" charset="0"/>
                        <a:ea typeface="Calibri" charset="0"/>
                        <a:cs typeface="Calibri" charset="0"/>
                      </a:endParaRPr>
                    </a:p>
                    <a:p>
                      <a:pPr algn="l" indent="0" marL="0">
                        <a:buNone/>
                      </a:pPr>
                      <a:r>
                        <a:rPr lang="en-US" sz="1400" dirty="0">
                          <a:solidFill>
                            <a:srgbClr val="1A1A1A"/>
                          </a:solidFill>
                          <a:latin typeface="Calibri" pitchFamily="34" charset="0"/>
                          <a:ea typeface="Calibri" pitchFamily="34" charset="-122"/>
                          <a:cs typeface="Calibri" pitchFamily="34" charset="-120"/>
                        </a:rPr>
                        <a:t>(continuous)</a:t>
                      </a:r>
                      <a:endParaRPr lang="en-US" sz="14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A1A1A"/>
                          </a:solidFill>
                          <a:latin typeface="Calibri" pitchFamily="34" charset="0"/>
                          <a:ea typeface="Calibri" pitchFamily="34" charset="-122"/>
                          <a:cs typeface="Calibri" pitchFamily="34" charset="-120"/>
                        </a:rPr>
                        <a:t>CalM-style</a:t>
                      </a:r>
                      <a:endParaRPr lang="en-US" sz="1400" dirty="0">
                        <a:latin typeface="Calibri" charset="0"/>
                        <a:ea typeface="Calibri" charset="0"/>
                        <a:cs typeface="Calibri" charset="0"/>
                      </a:endParaRPr>
                    </a:p>
                    <a:p>
                      <a:pPr algn="l" indent="0" marL="0">
                        <a:buNone/>
                      </a:pPr>
                      <a:r>
                        <a:rPr lang="en-US" sz="1400" dirty="0">
                          <a:solidFill>
                            <a:srgbClr val="1A1A1A"/>
                          </a:solidFill>
                          <a:latin typeface="Calibri" pitchFamily="34" charset="0"/>
                          <a:ea typeface="Calibri" pitchFamily="34" charset="-122"/>
                          <a:cs typeface="Calibri" pitchFamily="34" charset="-120"/>
                        </a:rPr>
                        <a:t>(discrete VQ)</a:t>
                      </a:r>
                      <a:endParaRPr lang="en-US" sz="1400" dirty="0">
                        <a:latin typeface="Calibri" charset="0"/>
                        <a:ea typeface="Calibri" charset="0"/>
                        <a:cs typeface="Calibri" charset="0"/>
                      </a:endParaRPr>
                    </a:p>
                  </a:txBody>
                  <a:tcPr marL="76200" marR="76200" marT="76200" marB="76200" anchor="ctr">
                    <a:lnL w="12700" cap="flat" cmpd="sng" algn="ctr">
                      <a:solidFill>
                        <a:srgbClr val="D0D5DB"/>
                      </a:solidFill>
                      <a:prstDash val="solid"/>
                      <a:round/>
                      <a:headEnd type="none" w="med" len="med"/>
                      <a:tailEnd type="none" w="med" len="med"/>
                    </a:lnL>
                    <a:lnR w="12700" cap="flat" cmpd="sng" algn="ctr">
                      <a:solidFill>
                        <a:srgbClr val="D0D5DB"/>
                      </a:solidFill>
                      <a:prstDash val="solid"/>
                      <a:round/>
                      <a:headEnd type="none" w="med" len="med"/>
                      <a:tailEnd type="none" w="med" len="med"/>
                    </a:lnR>
                    <a:lnT w="12700" cap="flat" cmpd="sng" algn="ctr">
                      <a:solidFill>
                        <a:srgbClr val="D0D5DB"/>
                      </a:solidFill>
                      <a:prstDash val="solid"/>
                      <a:round/>
                      <a:headEnd type="none" w="med" len="med"/>
                      <a:tailEnd type="none" w="med" len="med"/>
                    </a:lnT>
                    <a:lnB w="12700" cap="flat" cmpd="sng" algn="ctr">
                      <a:solidFill>
                        <a:srgbClr val="D0D5DB"/>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5623560"/>
            <a:ext cx="11018520" cy="502920"/>
          </a:xfrm>
          <a:prstGeom prst="rect">
            <a:avLst/>
          </a:prstGeom>
          <a:noFill/>
          <a:ln/>
        </p:spPr>
        <p:txBody>
          <a:bodyPr wrap="square" lIns="0" tIns="0" rIns="0" bIns="0" rtlCol="0" anchor="ctr"/>
          <a:lstStyle/>
          <a:p>
            <a:pPr indent="0" marL="0">
              <a:buNone/>
            </a:pPr>
            <a:r>
              <a:rPr lang="en-US" sz="1300" i="1" dirty="0">
                <a:solidFill>
                  <a:srgbClr val="5C6570"/>
                </a:solidFill>
                <a:latin typeface="Calibri" pitchFamily="34" charset="0"/>
                <a:ea typeface="Calibri" pitchFamily="34" charset="-122"/>
                <a:cs typeface="Calibri" pitchFamily="34" charset="-120"/>
              </a:rPr>
              <a:t>Code: PatchEmbedEEG — Unfold(kernel=patch_size, stride=patch_size) then nn.Linear(patch_size → embed_dim). No codebook.</a:t>
            </a:r>
            <a:endParaRPr lang="en-US" sz="1300" dirty="0"/>
          </a:p>
        </p:txBody>
      </p:sp>
      <p:sp>
        <p:nvSpPr>
          <p:cNvPr id="8" name="Shape 4"/>
          <p:cNvSpPr/>
          <p:nvPr/>
        </p:nvSpPr>
        <p:spPr>
          <a:xfrm>
            <a:off x="640080" y="6400800"/>
            <a:ext cx="10881360" cy="0"/>
          </a:xfrm>
          <a:prstGeom prst="line">
            <a:avLst/>
          </a:prstGeom>
          <a:noFill/>
          <a:ln w="9525">
            <a:solidFill>
              <a:srgbClr val="D0D5DB"/>
            </a:solidFill>
            <a:prstDash val="solid"/>
          </a:ln>
        </p:spPr>
      </p:sp>
      <p:sp>
        <p:nvSpPr>
          <p:cNvPr id="9" name="Text 5"/>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10" name="Text 6"/>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2 · BACKBONE</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Backbone: ViT-large adapted to EEG</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sp>
        <p:nvSpPr>
          <p:cNvPr id="5" name="Shape 3"/>
          <p:cNvSpPr/>
          <p:nvPr/>
        </p:nvSpPr>
        <p:spPr>
          <a:xfrm>
            <a:off x="640080" y="1280160"/>
            <a:ext cx="1737360" cy="1234440"/>
          </a:xfrm>
          <a:prstGeom prst="rect">
            <a:avLst/>
          </a:prstGeom>
          <a:solidFill>
            <a:srgbClr val="FFFFFF"/>
          </a:solidFill>
          <a:ln w="12700">
            <a:solidFill>
              <a:srgbClr val="D0D5DB"/>
            </a:solidFill>
            <a:prstDash val="solid"/>
          </a:ln>
        </p:spPr>
      </p:sp>
      <p:sp>
        <p:nvSpPr>
          <p:cNvPr id="6" name="Text 4"/>
          <p:cNvSpPr/>
          <p:nvPr/>
        </p:nvSpPr>
        <p:spPr>
          <a:xfrm>
            <a:off x="713232" y="1389888"/>
            <a:ext cx="1591056" cy="320040"/>
          </a:xfrm>
          <a:prstGeom prst="rect">
            <a:avLst/>
          </a:prstGeom>
          <a:noFill/>
          <a:ln/>
        </p:spPr>
        <p:txBody>
          <a:bodyPr wrap="square" lIns="0" tIns="0" rIns="0" bIns="0"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PATCH SIZE</a:t>
            </a:r>
            <a:endParaRPr lang="en-US" sz="1100" dirty="0"/>
          </a:p>
        </p:txBody>
      </p:sp>
      <p:sp>
        <p:nvSpPr>
          <p:cNvPr id="7" name="Text 5"/>
          <p:cNvSpPr/>
          <p:nvPr/>
        </p:nvSpPr>
        <p:spPr>
          <a:xfrm>
            <a:off x="713232" y="1737360"/>
            <a:ext cx="1591056" cy="548640"/>
          </a:xfrm>
          <a:prstGeom prst="rect">
            <a:avLst/>
          </a:prstGeom>
          <a:noFill/>
          <a:ln/>
        </p:spPr>
        <p:txBody>
          <a:bodyPr wrap="square" lIns="0" tIns="0" rIns="0" bIns="0" rtlCol="0" anchor="ctr"/>
          <a:lstStyle/>
          <a:p>
            <a:pPr algn="ctr" indent="0" marL="0">
              <a:buNone/>
            </a:pPr>
            <a:r>
              <a:rPr lang="en-US" sz="1600" b="1" dirty="0">
                <a:solidFill>
                  <a:srgbClr val="1A1A1A"/>
                </a:solidFill>
                <a:latin typeface="Georgia" pitchFamily="34" charset="0"/>
                <a:ea typeface="Georgia" pitchFamily="34" charset="-122"/>
                <a:cs typeface="Georgia" pitchFamily="34" charset="-120"/>
              </a:rPr>
              <a:t>16 samples</a:t>
            </a:r>
            <a:endParaRPr lang="en-US" sz="1600" dirty="0"/>
          </a:p>
        </p:txBody>
      </p:sp>
      <p:sp>
        <p:nvSpPr>
          <p:cNvPr id="8" name="Shape 6"/>
          <p:cNvSpPr/>
          <p:nvPr/>
        </p:nvSpPr>
        <p:spPr>
          <a:xfrm>
            <a:off x="2487168" y="1280160"/>
            <a:ext cx="1737360" cy="1234440"/>
          </a:xfrm>
          <a:prstGeom prst="rect">
            <a:avLst/>
          </a:prstGeom>
          <a:solidFill>
            <a:srgbClr val="FFFFFF"/>
          </a:solidFill>
          <a:ln w="12700">
            <a:solidFill>
              <a:srgbClr val="D0D5DB"/>
            </a:solidFill>
            <a:prstDash val="solid"/>
          </a:ln>
        </p:spPr>
      </p:sp>
      <p:sp>
        <p:nvSpPr>
          <p:cNvPr id="9" name="Text 7"/>
          <p:cNvSpPr/>
          <p:nvPr/>
        </p:nvSpPr>
        <p:spPr>
          <a:xfrm>
            <a:off x="2560320" y="1389888"/>
            <a:ext cx="1591056" cy="320040"/>
          </a:xfrm>
          <a:prstGeom prst="rect">
            <a:avLst/>
          </a:prstGeom>
          <a:noFill/>
          <a:ln/>
        </p:spPr>
        <p:txBody>
          <a:bodyPr wrap="square" lIns="0" tIns="0" rIns="0" bIns="0"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EMBED DIM</a:t>
            </a:r>
            <a:endParaRPr lang="en-US" sz="1100" dirty="0"/>
          </a:p>
        </p:txBody>
      </p:sp>
      <p:sp>
        <p:nvSpPr>
          <p:cNvPr id="10" name="Text 8"/>
          <p:cNvSpPr/>
          <p:nvPr/>
        </p:nvSpPr>
        <p:spPr>
          <a:xfrm>
            <a:off x="2560320" y="1737360"/>
            <a:ext cx="1591056" cy="548640"/>
          </a:xfrm>
          <a:prstGeom prst="rect">
            <a:avLst/>
          </a:prstGeom>
          <a:noFill/>
          <a:ln/>
        </p:spPr>
        <p:txBody>
          <a:bodyPr wrap="square" lIns="0" tIns="0" rIns="0" bIns="0" rtlCol="0" anchor="ctr"/>
          <a:lstStyle/>
          <a:p>
            <a:pPr algn="ctr" indent="0" marL="0">
              <a:buNone/>
            </a:pPr>
            <a:r>
              <a:rPr lang="en-US" sz="1600" b="1" dirty="0">
                <a:solidFill>
                  <a:srgbClr val="1A1A1A"/>
                </a:solidFill>
                <a:latin typeface="Georgia" pitchFamily="34" charset="0"/>
                <a:ea typeface="Georgia" pitchFamily="34" charset="-122"/>
                <a:cs typeface="Georgia" pitchFamily="34" charset="-120"/>
              </a:rPr>
              <a:t>1024</a:t>
            </a:r>
            <a:endParaRPr lang="en-US" sz="1600" dirty="0"/>
          </a:p>
        </p:txBody>
      </p:sp>
      <p:sp>
        <p:nvSpPr>
          <p:cNvPr id="11" name="Shape 9"/>
          <p:cNvSpPr/>
          <p:nvPr/>
        </p:nvSpPr>
        <p:spPr>
          <a:xfrm>
            <a:off x="4334256" y="1280160"/>
            <a:ext cx="1737360" cy="1234440"/>
          </a:xfrm>
          <a:prstGeom prst="rect">
            <a:avLst/>
          </a:prstGeom>
          <a:solidFill>
            <a:srgbClr val="FFFFFF"/>
          </a:solidFill>
          <a:ln w="12700">
            <a:solidFill>
              <a:srgbClr val="D0D5DB"/>
            </a:solidFill>
            <a:prstDash val="solid"/>
          </a:ln>
        </p:spPr>
      </p:sp>
      <p:sp>
        <p:nvSpPr>
          <p:cNvPr id="12" name="Text 10"/>
          <p:cNvSpPr/>
          <p:nvPr/>
        </p:nvSpPr>
        <p:spPr>
          <a:xfrm>
            <a:off x="4407408" y="1389888"/>
            <a:ext cx="1591056" cy="320040"/>
          </a:xfrm>
          <a:prstGeom prst="rect">
            <a:avLst/>
          </a:prstGeom>
          <a:noFill/>
          <a:ln/>
        </p:spPr>
        <p:txBody>
          <a:bodyPr wrap="square" lIns="0" tIns="0" rIns="0" bIns="0"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DEPTH</a:t>
            </a:r>
            <a:endParaRPr lang="en-US" sz="1100" dirty="0"/>
          </a:p>
        </p:txBody>
      </p:sp>
      <p:sp>
        <p:nvSpPr>
          <p:cNvPr id="13" name="Text 11"/>
          <p:cNvSpPr/>
          <p:nvPr/>
        </p:nvSpPr>
        <p:spPr>
          <a:xfrm>
            <a:off x="4407408" y="1737360"/>
            <a:ext cx="1591056" cy="548640"/>
          </a:xfrm>
          <a:prstGeom prst="rect">
            <a:avLst/>
          </a:prstGeom>
          <a:noFill/>
          <a:ln/>
        </p:spPr>
        <p:txBody>
          <a:bodyPr wrap="square" lIns="0" tIns="0" rIns="0" bIns="0" rtlCol="0" anchor="ctr"/>
          <a:lstStyle/>
          <a:p>
            <a:pPr algn="ctr" indent="0" marL="0">
              <a:buNone/>
            </a:pPr>
            <a:r>
              <a:rPr lang="en-US" sz="1600" b="1" dirty="0">
                <a:solidFill>
                  <a:srgbClr val="1A1A1A"/>
                </a:solidFill>
                <a:latin typeface="Georgia" pitchFamily="34" charset="0"/>
                <a:ea typeface="Georgia" pitchFamily="34" charset="-122"/>
                <a:cs typeface="Georgia" pitchFamily="34" charset="-120"/>
              </a:rPr>
              <a:t>24 blocks</a:t>
            </a:r>
            <a:endParaRPr lang="en-US" sz="1600" dirty="0"/>
          </a:p>
        </p:txBody>
      </p:sp>
      <p:sp>
        <p:nvSpPr>
          <p:cNvPr id="14" name="Shape 12"/>
          <p:cNvSpPr/>
          <p:nvPr/>
        </p:nvSpPr>
        <p:spPr>
          <a:xfrm>
            <a:off x="6181344" y="1280160"/>
            <a:ext cx="1737360" cy="1234440"/>
          </a:xfrm>
          <a:prstGeom prst="rect">
            <a:avLst/>
          </a:prstGeom>
          <a:solidFill>
            <a:srgbClr val="FFFFFF"/>
          </a:solidFill>
          <a:ln w="12700">
            <a:solidFill>
              <a:srgbClr val="D0D5DB"/>
            </a:solidFill>
            <a:prstDash val="solid"/>
          </a:ln>
        </p:spPr>
      </p:sp>
      <p:sp>
        <p:nvSpPr>
          <p:cNvPr id="15" name="Text 13"/>
          <p:cNvSpPr/>
          <p:nvPr/>
        </p:nvSpPr>
        <p:spPr>
          <a:xfrm>
            <a:off x="6254496" y="1389888"/>
            <a:ext cx="1591056" cy="320040"/>
          </a:xfrm>
          <a:prstGeom prst="rect">
            <a:avLst/>
          </a:prstGeom>
          <a:noFill/>
          <a:ln/>
        </p:spPr>
        <p:txBody>
          <a:bodyPr wrap="square" lIns="0" tIns="0" rIns="0" bIns="0"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HEADS</a:t>
            </a:r>
            <a:endParaRPr lang="en-US" sz="1100" dirty="0"/>
          </a:p>
        </p:txBody>
      </p:sp>
      <p:sp>
        <p:nvSpPr>
          <p:cNvPr id="16" name="Text 14"/>
          <p:cNvSpPr/>
          <p:nvPr/>
        </p:nvSpPr>
        <p:spPr>
          <a:xfrm>
            <a:off x="6254496" y="1737360"/>
            <a:ext cx="1591056" cy="548640"/>
          </a:xfrm>
          <a:prstGeom prst="rect">
            <a:avLst/>
          </a:prstGeom>
          <a:noFill/>
          <a:ln/>
        </p:spPr>
        <p:txBody>
          <a:bodyPr wrap="square" lIns="0" tIns="0" rIns="0" bIns="0" rtlCol="0" anchor="ctr"/>
          <a:lstStyle/>
          <a:p>
            <a:pPr algn="ctr" indent="0" marL="0">
              <a:buNone/>
            </a:pPr>
            <a:r>
              <a:rPr lang="en-US" sz="1600" b="1" dirty="0">
                <a:solidFill>
                  <a:srgbClr val="1A1A1A"/>
                </a:solidFill>
                <a:latin typeface="Georgia" pitchFamily="34" charset="0"/>
                <a:ea typeface="Georgia" pitchFamily="34" charset="-122"/>
                <a:cs typeface="Georgia" pitchFamily="34" charset="-120"/>
              </a:rPr>
              <a:t>16</a:t>
            </a:r>
            <a:endParaRPr lang="en-US" sz="1600" dirty="0"/>
          </a:p>
        </p:txBody>
      </p:sp>
      <p:sp>
        <p:nvSpPr>
          <p:cNvPr id="17" name="Shape 15"/>
          <p:cNvSpPr/>
          <p:nvPr/>
        </p:nvSpPr>
        <p:spPr>
          <a:xfrm>
            <a:off x="8028432" y="1280160"/>
            <a:ext cx="1737360" cy="1234440"/>
          </a:xfrm>
          <a:prstGeom prst="rect">
            <a:avLst/>
          </a:prstGeom>
          <a:solidFill>
            <a:srgbClr val="FFFFFF"/>
          </a:solidFill>
          <a:ln w="12700">
            <a:solidFill>
              <a:srgbClr val="D0D5DB"/>
            </a:solidFill>
            <a:prstDash val="solid"/>
          </a:ln>
        </p:spPr>
      </p:sp>
      <p:sp>
        <p:nvSpPr>
          <p:cNvPr id="18" name="Text 16"/>
          <p:cNvSpPr/>
          <p:nvPr/>
        </p:nvSpPr>
        <p:spPr>
          <a:xfrm>
            <a:off x="8101584" y="1389888"/>
            <a:ext cx="1591056" cy="320040"/>
          </a:xfrm>
          <a:prstGeom prst="rect">
            <a:avLst/>
          </a:prstGeom>
          <a:noFill/>
          <a:ln/>
        </p:spPr>
        <p:txBody>
          <a:bodyPr wrap="square" lIns="0" tIns="0" rIns="0" bIns="0"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MLP RATIO</a:t>
            </a:r>
            <a:endParaRPr lang="en-US" sz="1100" dirty="0"/>
          </a:p>
        </p:txBody>
      </p:sp>
      <p:sp>
        <p:nvSpPr>
          <p:cNvPr id="19" name="Text 17"/>
          <p:cNvSpPr/>
          <p:nvPr/>
        </p:nvSpPr>
        <p:spPr>
          <a:xfrm>
            <a:off x="8101584" y="1737360"/>
            <a:ext cx="1591056" cy="548640"/>
          </a:xfrm>
          <a:prstGeom prst="rect">
            <a:avLst/>
          </a:prstGeom>
          <a:noFill/>
          <a:ln/>
        </p:spPr>
        <p:txBody>
          <a:bodyPr wrap="square" lIns="0" tIns="0" rIns="0" bIns="0" rtlCol="0" anchor="ctr"/>
          <a:lstStyle/>
          <a:p>
            <a:pPr algn="ctr" indent="0" marL="0">
              <a:buNone/>
            </a:pPr>
            <a:r>
              <a:rPr lang="en-US" sz="1600" b="1" dirty="0">
                <a:solidFill>
                  <a:srgbClr val="1A1A1A"/>
                </a:solidFill>
                <a:latin typeface="Georgia" pitchFamily="34" charset="0"/>
                <a:ea typeface="Georgia" pitchFamily="34" charset="-122"/>
                <a:cs typeface="Georgia" pitchFamily="34" charset="-120"/>
              </a:rPr>
              <a:t>4</a:t>
            </a:r>
            <a:endParaRPr lang="en-US" sz="1600" dirty="0"/>
          </a:p>
        </p:txBody>
      </p:sp>
      <p:sp>
        <p:nvSpPr>
          <p:cNvPr id="20" name="Shape 18"/>
          <p:cNvSpPr/>
          <p:nvPr/>
        </p:nvSpPr>
        <p:spPr>
          <a:xfrm>
            <a:off x="9875520" y="1280160"/>
            <a:ext cx="1737360" cy="1234440"/>
          </a:xfrm>
          <a:prstGeom prst="rect">
            <a:avLst/>
          </a:prstGeom>
          <a:solidFill>
            <a:srgbClr val="FFFFFF"/>
          </a:solidFill>
          <a:ln w="12700">
            <a:solidFill>
              <a:srgbClr val="D0D5DB"/>
            </a:solidFill>
            <a:prstDash val="solid"/>
          </a:ln>
        </p:spPr>
      </p:sp>
      <p:sp>
        <p:nvSpPr>
          <p:cNvPr id="21" name="Text 19"/>
          <p:cNvSpPr/>
          <p:nvPr/>
        </p:nvSpPr>
        <p:spPr>
          <a:xfrm>
            <a:off x="9948672" y="1389888"/>
            <a:ext cx="1591056" cy="320040"/>
          </a:xfrm>
          <a:prstGeom prst="rect">
            <a:avLst/>
          </a:prstGeom>
          <a:noFill/>
          <a:ln/>
        </p:spPr>
        <p:txBody>
          <a:bodyPr wrap="square" lIns="0" tIns="0" rIns="0" bIns="0" rtlCol="0" anchor="ctr"/>
          <a:lstStyle/>
          <a:p>
            <a:pPr algn="ctr" indent="0" marL="0">
              <a:buNone/>
            </a:pPr>
            <a:r>
              <a:rPr lang="en-US" sz="1100" b="1" dirty="0">
                <a:solidFill>
                  <a:srgbClr val="1F3A5F"/>
                </a:solidFill>
                <a:latin typeface="Calibri" pitchFamily="34" charset="0"/>
                <a:ea typeface="Calibri" pitchFamily="34" charset="-122"/>
                <a:cs typeface="Calibri" pitchFamily="34" charset="-120"/>
              </a:rPr>
              <a:t>PARAMS</a:t>
            </a:r>
            <a:endParaRPr lang="en-US" sz="1100" dirty="0"/>
          </a:p>
        </p:txBody>
      </p:sp>
      <p:sp>
        <p:nvSpPr>
          <p:cNvPr id="22" name="Text 20"/>
          <p:cNvSpPr/>
          <p:nvPr/>
        </p:nvSpPr>
        <p:spPr>
          <a:xfrm>
            <a:off x="9948672" y="1737360"/>
            <a:ext cx="1591056" cy="548640"/>
          </a:xfrm>
          <a:prstGeom prst="rect">
            <a:avLst/>
          </a:prstGeom>
          <a:noFill/>
          <a:ln/>
        </p:spPr>
        <p:txBody>
          <a:bodyPr wrap="square" lIns="0" tIns="0" rIns="0" bIns="0" rtlCol="0" anchor="ctr"/>
          <a:lstStyle/>
          <a:p>
            <a:pPr algn="ctr" indent="0" marL="0">
              <a:buNone/>
            </a:pPr>
            <a:r>
              <a:rPr lang="en-US" sz="1600" b="1" dirty="0">
                <a:solidFill>
                  <a:srgbClr val="1A1A1A"/>
                </a:solidFill>
                <a:latin typeface="Georgia" pitchFamily="34" charset="0"/>
                <a:ea typeface="Georgia" pitchFamily="34" charset="-122"/>
                <a:cs typeface="Georgia" pitchFamily="34" charset="-120"/>
              </a:rPr>
              <a:t>~303 M</a:t>
            </a:r>
            <a:endParaRPr lang="en-US" sz="1600" dirty="0"/>
          </a:p>
        </p:txBody>
      </p:sp>
      <p:sp>
        <p:nvSpPr>
          <p:cNvPr id="23" name="Shape 21"/>
          <p:cNvSpPr/>
          <p:nvPr/>
        </p:nvSpPr>
        <p:spPr>
          <a:xfrm>
            <a:off x="640080" y="2743200"/>
            <a:ext cx="11018520" cy="3337560"/>
          </a:xfrm>
          <a:prstGeom prst="rect">
            <a:avLst/>
          </a:prstGeom>
          <a:solidFill>
            <a:srgbClr val="FFFFFF"/>
          </a:solidFill>
          <a:ln w="12700">
            <a:solidFill>
              <a:srgbClr val="D0D5DB"/>
            </a:solidFill>
            <a:prstDash val="solid"/>
          </a:ln>
        </p:spPr>
      </p:sp>
      <p:sp>
        <p:nvSpPr>
          <p:cNvPr id="24" name="Text 22"/>
          <p:cNvSpPr/>
          <p:nvPr/>
        </p:nvSpPr>
        <p:spPr>
          <a:xfrm>
            <a:off x="868680" y="2907792"/>
            <a:ext cx="10515600" cy="320040"/>
          </a:xfrm>
          <a:prstGeom prst="rect">
            <a:avLst/>
          </a:prstGeom>
          <a:noFill/>
          <a:ln/>
        </p:spPr>
        <p:txBody>
          <a:bodyPr wrap="square" lIns="0" tIns="0" rIns="0" bIns="0" rtlCol="0" anchor="ctr"/>
          <a:lstStyle/>
          <a:p>
            <a:pPr indent="0" marL="0">
              <a:buNone/>
            </a:pPr>
            <a:r>
              <a:rPr lang="en-US" sz="1600" b="1" dirty="0">
                <a:solidFill>
                  <a:srgbClr val="1A1A1A"/>
                </a:solidFill>
                <a:latin typeface="Georgia" pitchFamily="34" charset="0"/>
                <a:ea typeface="Georgia" pitchFamily="34" charset="-122"/>
                <a:cs typeface="Georgia" pitchFamily="34" charset="-120"/>
              </a:rPr>
              <a:t>Forward path (finetune)</a:t>
            </a:r>
            <a:endParaRPr lang="en-US" sz="1600" dirty="0"/>
          </a:p>
        </p:txBody>
      </p:sp>
      <p:sp>
        <p:nvSpPr>
          <p:cNvPr id="25" name="Text 23"/>
          <p:cNvSpPr/>
          <p:nvPr/>
        </p:nvSpPr>
        <p:spPr>
          <a:xfrm>
            <a:off x="868680" y="3291840"/>
            <a:ext cx="10515600" cy="2606040"/>
          </a:xfrm>
          <a:prstGeom prst="rect">
            <a:avLst/>
          </a:prstGeom>
          <a:noFill/>
          <a:ln/>
        </p:spPr>
        <p:txBody>
          <a:bodyPr wrap="square" lIns="0" tIns="0" rIns="0" bIns="0" rtlCol="0" anchor="ctr"/>
          <a:lstStyle/>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EEG  B × Ch × T  →  unfold into patches  (Seq × Ch)</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Linear project each patch → 1024-d token</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Add channel embedding (learned, 145 slots) + temporal sinusoidal PE</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Flatten to one sequence: Seq × Channels tokens  (+ CLS)</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24 Transformer blocks (standard self-attention, not dual-axis)</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Readout: CLS token, or global average pool of patch tokens → linear head</a:t>
            </a:r>
            <a:endParaRPr lang="en-US" sz="1500" dirty="0"/>
          </a:p>
        </p:txBody>
      </p:sp>
      <p:sp>
        <p:nvSpPr>
          <p:cNvPr id="27" name="Shape 24"/>
          <p:cNvSpPr/>
          <p:nvPr/>
        </p:nvSpPr>
        <p:spPr>
          <a:xfrm>
            <a:off x="640080" y="6400800"/>
            <a:ext cx="10881360" cy="0"/>
          </a:xfrm>
          <a:prstGeom prst="line">
            <a:avLst/>
          </a:prstGeom>
          <a:noFill/>
          <a:ln w="9525">
            <a:solidFill>
              <a:srgbClr val="D0D5DB"/>
            </a:solidFill>
            <a:prstDash val="solid"/>
          </a:ln>
        </p:spPr>
      </p:sp>
      <p:sp>
        <p:nvSpPr>
          <p:cNvPr id="28" name="Text 25"/>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29" name="Text 26"/>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3 · ATTENTION</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Attention is joint over channel × time tokens</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sp>
        <p:nvSpPr>
          <p:cNvPr id="5" name="Shape 3"/>
          <p:cNvSpPr/>
          <p:nvPr/>
        </p:nvSpPr>
        <p:spPr>
          <a:xfrm>
            <a:off x="640080" y="1280160"/>
            <a:ext cx="6858000" cy="4800600"/>
          </a:xfrm>
          <a:prstGeom prst="rect">
            <a:avLst/>
          </a:prstGeom>
          <a:solidFill>
            <a:srgbClr val="FFFFFF"/>
          </a:solidFill>
          <a:ln w="12700">
            <a:solidFill>
              <a:srgbClr val="D0D5DB"/>
            </a:solidFill>
            <a:prstDash val="solid"/>
          </a:ln>
        </p:spPr>
      </p:sp>
      <p:sp>
        <p:nvSpPr>
          <p:cNvPr id="6" name="Text 4"/>
          <p:cNvSpPr/>
          <p:nvPr/>
        </p:nvSpPr>
        <p:spPr>
          <a:xfrm>
            <a:off x="868680" y="1444752"/>
            <a:ext cx="6492240" cy="36576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What the Transformer sees</a:t>
            </a:r>
            <a:endParaRPr lang="en-US" sz="1800" dirty="0"/>
          </a:p>
        </p:txBody>
      </p:sp>
      <p:sp>
        <p:nvSpPr>
          <p:cNvPr id="7" name="Text 5"/>
          <p:cNvSpPr/>
          <p:nvPr/>
        </p:nvSpPr>
        <p:spPr>
          <a:xfrm>
            <a:off x="868680" y="1965960"/>
            <a:ext cx="6400800" cy="3840480"/>
          </a:xfrm>
          <a:prstGeom prst="rect">
            <a:avLst/>
          </a:prstGeom>
          <a:noFill/>
          <a:ln/>
        </p:spPr>
        <p:txBody>
          <a:bodyPr wrap="square" lIns="0" tIns="0" rIns="0" bIns="0" rtlCol="0" anchor="ctr"/>
          <a:lstStyle/>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One sequence of tokens = every (time-patch, channel) pair</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Self-attention is full: a token at channel C1, time t can attend to channel C2, time t′</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So yes — inter-channel mixing happens, but it is not a separate “neural axis” like CalM’s Dual-Axis Transformer</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Channel identity is injected by a learned embedding, not by a dedicated neuron-axis block</a:t>
            </a:r>
            <a:endParaRPr lang="en-US" sz="1500" dirty="0"/>
          </a:p>
          <a:p>
            <a:pPr marL="342900" indent="-342900">
              <a:buSzPct val="100000"/>
              <a:buChar char="•"/>
            </a:pPr>
            <a:r>
              <a:rPr lang="en-US" sz="1500" dirty="0">
                <a:solidFill>
                  <a:srgbClr val="1A1A1A"/>
                </a:solidFill>
                <a:latin typeface="Calibri" pitchFamily="34" charset="0"/>
                <a:ea typeface="Calibri" pitchFamily="34" charset="-122"/>
                <a:cs typeface="Calibri" pitchFamily="34" charset="-120"/>
              </a:rPr>
              <a:t>Attention is bidirectional (MAE / ViT), not causal next-step</a:t>
            </a:r>
            <a:endParaRPr lang="en-US" sz="1500" dirty="0"/>
          </a:p>
        </p:txBody>
      </p:sp>
      <p:sp>
        <p:nvSpPr>
          <p:cNvPr id="8" name="Shape 6"/>
          <p:cNvSpPr/>
          <p:nvPr/>
        </p:nvSpPr>
        <p:spPr>
          <a:xfrm>
            <a:off x="7680960" y="1280160"/>
            <a:ext cx="3977640" cy="2240280"/>
          </a:xfrm>
          <a:prstGeom prst="rect">
            <a:avLst/>
          </a:prstGeom>
          <a:solidFill>
            <a:srgbClr val="EEF2F6"/>
          </a:solidFill>
          <a:ln w="12700">
            <a:solidFill>
              <a:srgbClr val="D0D5DB"/>
            </a:solidFill>
            <a:prstDash val="solid"/>
          </a:ln>
        </p:spPr>
      </p:sp>
      <p:sp>
        <p:nvSpPr>
          <p:cNvPr id="9" name="Text 7"/>
          <p:cNvSpPr/>
          <p:nvPr/>
        </p:nvSpPr>
        <p:spPr>
          <a:xfrm>
            <a:off x="7863840" y="1417320"/>
            <a:ext cx="365760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CalM / CAPT</a:t>
            </a:r>
            <a:endParaRPr lang="en-US" sz="1200" dirty="0"/>
          </a:p>
        </p:txBody>
      </p:sp>
      <p:sp>
        <p:nvSpPr>
          <p:cNvPr id="10" name="Text 8"/>
          <p:cNvSpPr/>
          <p:nvPr/>
        </p:nvSpPr>
        <p:spPr>
          <a:xfrm>
            <a:off x="7863840" y="1783080"/>
            <a:ext cx="3657600" cy="146304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Dual-axis:</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 neural axis (bidirectional)</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 temporal axis (causal)</a:t>
            </a:r>
            <a:endParaRPr lang="en-US" sz="1400" dirty="0"/>
          </a:p>
        </p:txBody>
      </p:sp>
      <p:sp>
        <p:nvSpPr>
          <p:cNvPr id="11" name="Shape 9"/>
          <p:cNvSpPr/>
          <p:nvPr/>
        </p:nvSpPr>
        <p:spPr>
          <a:xfrm>
            <a:off x="7680960" y="3703320"/>
            <a:ext cx="3977640" cy="2377440"/>
          </a:xfrm>
          <a:prstGeom prst="rect">
            <a:avLst/>
          </a:prstGeom>
          <a:solidFill>
            <a:srgbClr val="FBF7EC"/>
          </a:solidFill>
          <a:ln w="12700">
            <a:solidFill>
              <a:srgbClr val="D0D5DB"/>
            </a:solidFill>
            <a:prstDash val="solid"/>
          </a:ln>
        </p:spPr>
      </p:sp>
      <p:sp>
        <p:nvSpPr>
          <p:cNvPr id="12" name="Text 10"/>
          <p:cNvSpPr/>
          <p:nvPr/>
        </p:nvSpPr>
        <p:spPr>
          <a:xfrm>
            <a:off x="7863840" y="3840480"/>
            <a:ext cx="3657600" cy="320040"/>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ST-EEGFormer</a:t>
            </a:r>
            <a:endParaRPr lang="en-US" sz="1200" dirty="0"/>
          </a:p>
        </p:txBody>
      </p:sp>
      <p:sp>
        <p:nvSpPr>
          <p:cNvPr id="13" name="Text 11"/>
          <p:cNvSpPr/>
          <p:nvPr/>
        </p:nvSpPr>
        <p:spPr>
          <a:xfrm>
            <a:off x="7863840" y="4206240"/>
            <a:ext cx="3657600" cy="1554480"/>
          </a:xfrm>
          <a:prstGeom prst="rect">
            <a:avLst/>
          </a:prstGeom>
          <a:noFill/>
          <a:ln/>
        </p:spPr>
        <p:txBody>
          <a:bodyPr wrap="square" lIns="0" tIns="0" rIns="0" bIns="0" rtlCol="0" anchor="ctr"/>
          <a:lstStyle/>
          <a:p>
            <a:pPr indent="0" marL="0">
              <a:buNone/>
            </a:pPr>
            <a:r>
              <a:rPr lang="en-US" sz="1400" dirty="0">
                <a:solidFill>
                  <a:srgbClr val="1A1A1A"/>
                </a:solidFill>
                <a:latin typeface="Calibri" pitchFamily="34" charset="0"/>
                <a:ea typeface="Calibri" pitchFamily="34" charset="-122"/>
                <a:cs typeface="Calibri" pitchFamily="34" charset="-120"/>
              </a:rPr>
              <a:t>Single-axis ViT:</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all channel–time tokens</a:t>
            </a:r>
            <a:endParaRPr lang="en-US" sz="1400" dirty="0"/>
          </a:p>
          <a:p>
            <a:pPr indent="0" marL="0">
              <a:buNone/>
            </a:pPr>
            <a:r>
              <a:rPr lang="en-US" sz="1400" dirty="0">
                <a:solidFill>
                  <a:srgbClr val="1A1A1A"/>
                </a:solidFill>
                <a:latin typeface="Calibri" pitchFamily="34" charset="0"/>
                <a:ea typeface="Calibri" pitchFamily="34" charset="-122"/>
                <a:cs typeface="Calibri" pitchFamily="34" charset="-120"/>
              </a:rPr>
              <a:t>in one attention pool</a:t>
            </a:r>
            <a:endParaRPr lang="en-US" sz="1400" dirty="0"/>
          </a:p>
        </p:txBody>
      </p:sp>
      <p:sp>
        <p:nvSpPr>
          <p:cNvPr id="15" name="Shape 12"/>
          <p:cNvSpPr/>
          <p:nvPr/>
        </p:nvSpPr>
        <p:spPr>
          <a:xfrm>
            <a:off x="640080" y="6400800"/>
            <a:ext cx="10881360" cy="0"/>
          </a:xfrm>
          <a:prstGeom prst="line">
            <a:avLst/>
          </a:prstGeom>
          <a:noFill/>
          <a:ln w="9525">
            <a:solidFill>
              <a:srgbClr val="D0D5DB"/>
            </a:solidFill>
            <a:prstDash val="solid"/>
          </a:ln>
        </p:spPr>
      </p:sp>
      <p:sp>
        <p:nvSpPr>
          <p:cNvPr id="16" name="Text 13"/>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17" name="Text 14"/>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4 · SSL</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Self-supervised learning = MAE on raw patches</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sp>
        <p:nvSpPr>
          <p:cNvPr id="5" name="Shape 3"/>
          <p:cNvSpPr/>
          <p:nvPr/>
        </p:nvSpPr>
        <p:spPr>
          <a:xfrm>
            <a:off x="640080" y="1280160"/>
            <a:ext cx="5394960" cy="1783080"/>
          </a:xfrm>
          <a:prstGeom prst="rect">
            <a:avLst/>
          </a:prstGeom>
          <a:solidFill>
            <a:srgbClr val="FFFFFF"/>
          </a:solidFill>
          <a:ln w="12700">
            <a:solidFill>
              <a:srgbClr val="D0D5DB"/>
            </a:solidFill>
            <a:prstDash val="solid"/>
          </a:ln>
        </p:spPr>
      </p:sp>
      <p:sp>
        <p:nvSpPr>
          <p:cNvPr id="6" name="Text 4"/>
          <p:cNvSpPr/>
          <p:nvPr/>
        </p:nvSpPr>
        <p:spPr>
          <a:xfrm>
            <a:off x="914400" y="1481328"/>
            <a:ext cx="4846320" cy="292608"/>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MASK</a:t>
            </a:r>
            <a:endParaRPr lang="en-US" sz="1200" dirty="0"/>
          </a:p>
        </p:txBody>
      </p:sp>
      <p:sp>
        <p:nvSpPr>
          <p:cNvPr id="7" name="Text 5"/>
          <p:cNvSpPr/>
          <p:nvPr/>
        </p:nvSpPr>
        <p:spPr>
          <a:xfrm>
            <a:off x="914400" y="1828800"/>
            <a:ext cx="4846320" cy="100584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75% of patches dropped at random</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(standard MAE ratio)</a:t>
            </a:r>
            <a:endParaRPr lang="en-US" sz="1600" dirty="0"/>
          </a:p>
        </p:txBody>
      </p:sp>
      <p:sp>
        <p:nvSpPr>
          <p:cNvPr id="8" name="Shape 6"/>
          <p:cNvSpPr/>
          <p:nvPr/>
        </p:nvSpPr>
        <p:spPr>
          <a:xfrm>
            <a:off x="6263640" y="1280160"/>
            <a:ext cx="5394960" cy="1783080"/>
          </a:xfrm>
          <a:prstGeom prst="rect">
            <a:avLst/>
          </a:prstGeom>
          <a:solidFill>
            <a:srgbClr val="FFFFFF"/>
          </a:solidFill>
          <a:ln w="12700">
            <a:solidFill>
              <a:srgbClr val="D0D5DB"/>
            </a:solidFill>
            <a:prstDash val="solid"/>
          </a:ln>
        </p:spPr>
      </p:sp>
      <p:sp>
        <p:nvSpPr>
          <p:cNvPr id="9" name="Text 7"/>
          <p:cNvSpPr/>
          <p:nvPr/>
        </p:nvSpPr>
        <p:spPr>
          <a:xfrm>
            <a:off x="6537960" y="1481328"/>
            <a:ext cx="4846320" cy="292608"/>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ENCODER</a:t>
            </a:r>
            <a:endParaRPr lang="en-US" sz="1200" dirty="0"/>
          </a:p>
        </p:txBody>
      </p:sp>
      <p:sp>
        <p:nvSpPr>
          <p:cNvPr id="10" name="Text 8"/>
          <p:cNvSpPr/>
          <p:nvPr/>
        </p:nvSpPr>
        <p:spPr>
          <a:xfrm>
            <a:off x="6537960" y="1828800"/>
            <a:ext cx="4846320" cy="100584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Sees only the kept patches + CLS</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24 ViT blocks</a:t>
            </a:r>
            <a:endParaRPr lang="en-US" sz="1600" dirty="0"/>
          </a:p>
        </p:txBody>
      </p:sp>
      <p:sp>
        <p:nvSpPr>
          <p:cNvPr id="11" name="Shape 9"/>
          <p:cNvSpPr/>
          <p:nvPr/>
        </p:nvSpPr>
        <p:spPr>
          <a:xfrm>
            <a:off x="640080" y="3246120"/>
            <a:ext cx="5394960" cy="1783080"/>
          </a:xfrm>
          <a:prstGeom prst="rect">
            <a:avLst/>
          </a:prstGeom>
          <a:solidFill>
            <a:srgbClr val="FFFFFF"/>
          </a:solidFill>
          <a:ln w="12700">
            <a:solidFill>
              <a:srgbClr val="D0D5DB"/>
            </a:solidFill>
            <a:prstDash val="solid"/>
          </a:ln>
        </p:spPr>
      </p:sp>
      <p:sp>
        <p:nvSpPr>
          <p:cNvPr id="12" name="Text 10"/>
          <p:cNvSpPr/>
          <p:nvPr/>
        </p:nvSpPr>
        <p:spPr>
          <a:xfrm>
            <a:off x="914400" y="3447288"/>
            <a:ext cx="4846320" cy="292608"/>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DECODER</a:t>
            </a:r>
            <a:endParaRPr lang="en-US" sz="1200" dirty="0"/>
          </a:p>
        </p:txBody>
      </p:sp>
      <p:sp>
        <p:nvSpPr>
          <p:cNvPr id="13" name="Text 11"/>
          <p:cNvSpPr/>
          <p:nvPr/>
        </p:nvSpPr>
        <p:spPr>
          <a:xfrm>
            <a:off x="914400" y="3794760"/>
            <a:ext cx="4846320" cy="100584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Lightweight Transformer</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mask tokens inserted back</a:t>
            </a:r>
            <a:endParaRPr lang="en-US" sz="1600" dirty="0"/>
          </a:p>
        </p:txBody>
      </p:sp>
      <p:sp>
        <p:nvSpPr>
          <p:cNvPr id="14" name="Shape 12"/>
          <p:cNvSpPr/>
          <p:nvPr/>
        </p:nvSpPr>
        <p:spPr>
          <a:xfrm>
            <a:off x="6263640" y="3246120"/>
            <a:ext cx="5394960" cy="1783080"/>
          </a:xfrm>
          <a:prstGeom prst="rect">
            <a:avLst/>
          </a:prstGeom>
          <a:solidFill>
            <a:srgbClr val="FFFFFF"/>
          </a:solidFill>
          <a:ln w="12700">
            <a:solidFill>
              <a:srgbClr val="D0D5DB"/>
            </a:solidFill>
            <a:prstDash val="solid"/>
          </a:ln>
        </p:spPr>
      </p:sp>
      <p:sp>
        <p:nvSpPr>
          <p:cNvPr id="15" name="Text 13"/>
          <p:cNvSpPr/>
          <p:nvPr/>
        </p:nvSpPr>
        <p:spPr>
          <a:xfrm>
            <a:off x="6537960" y="3447288"/>
            <a:ext cx="4846320" cy="292608"/>
          </a:xfrm>
          <a:prstGeom prst="rect">
            <a:avLst/>
          </a:prstGeom>
          <a:noFill/>
          <a:ln/>
        </p:spPr>
        <p:txBody>
          <a:bodyPr wrap="square" lIns="0" tIns="0" rIns="0" bIns="0" rtlCol="0" anchor="ctr"/>
          <a:lstStyle/>
          <a:p>
            <a:pPr indent="0" marL="0">
              <a:buNone/>
            </a:pPr>
            <a:r>
              <a:rPr lang="en-US" sz="1200" b="1" dirty="0">
                <a:solidFill>
                  <a:srgbClr val="1F3A5F"/>
                </a:solidFill>
                <a:latin typeface="Calibri" pitchFamily="34" charset="0"/>
                <a:ea typeface="Calibri" pitchFamily="34" charset="-122"/>
                <a:cs typeface="Calibri" pitchFamily="34" charset="-120"/>
              </a:rPr>
              <a:t>TARGET</a:t>
            </a:r>
            <a:endParaRPr lang="en-US" sz="1200" dirty="0"/>
          </a:p>
        </p:txBody>
      </p:sp>
      <p:sp>
        <p:nvSpPr>
          <p:cNvPr id="16" name="Text 14"/>
          <p:cNvSpPr/>
          <p:nvPr/>
        </p:nvSpPr>
        <p:spPr>
          <a:xfrm>
            <a:off x="6537960" y="3794760"/>
            <a:ext cx="4846320" cy="100584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Raw patch waveform</a:t>
            </a:r>
            <a:endParaRPr lang="en-US" sz="1600" dirty="0"/>
          </a:p>
          <a:p>
            <a:pPr indent="0" marL="0">
              <a:buNone/>
            </a:pPr>
            <a:r>
              <a:rPr lang="en-US" sz="1600" dirty="0">
                <a:solidFill>
                  <a:srgbClr val="1A1A1A"/>
                </a:solidFill>
                <a:latin typeface="Calibri" pitchFamily="34" charset="0"/>
                <a:ea typeface="Calibri" pitchFamily="34" charset="-122"/>
                <a:cs typeface="Calibri" pitchFamily="34" charset="-120"/>
              </a:rPr>
              <a:t>Linear → patch_size values</a:t>
            </a:r>
            <a:endParaRPr lang="en-US" sz="1600" dirty="0"/>
          </a:p>
        </p:txBody>
      </p:sp>
      <p:sp>
        <p:nvSpPr>
          <p:cNvPr id="18" name="Shape 15"/>
          <p:cNvSpPr/>
          <p:nvPr/>
        </p:nvSpPr>
        <p:spPr>
          <a:xfrm>
            <a:off x="640080" y="6400800"/>
            <a:ext cx="10881360" cy="0"/>
          </a:xfrm>
          <a:prstGeom prst="line">
            <a:avLst/>
          </a:prstGeom>
          <a:noFill/>
          <a:ln w="9525">
            <a:solidFill>
              <a:srgbClr val="D0D5DB"/>
            </a:solidFill>
            <a:prstDash val="solid"/>
          </a:ln>
        </p:spPr>
      </p:sp>
      <p:sp>
        <p:nvSpPr>
          <p:cNvPr id="19" name="Text 16"/>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20" name="Text 17"/>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4–5 · LOSS &amp; DECODER</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Losses: MSE in pretrain, CE in finetune</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sp>
        <p:nvSpPr>
          <p:cNvPr id="5" name="Shape 3"/>
          <p:cNvSpPr/>
          <p:nvPr/>
        </p:nvSpPr>
        <p:spPr>
          <a:xfrm>
            <a:off x="640080" y="1280160"/>
            <a:ext cx="5394960" cy="4800600"/>
          </a:xfrm>
          <a:prstGeom prst="rect">
            <a:avLst/>
          </a:prstGeom>
          <a:solidFill>
            <a:srgbClr val="FFFFFF"/>
          </a:solidFill>
          <a:ln w="12700">
            <a:solidFill>
              <a:srgbClr val="D0D5DB"/>
            </a:solidFill>
            <a:prstDash val="solid"/>
          </a:ln>
        </p:spPr>
      </p:sp>
      <p:sp>
        <p:nvSpPr>
          <p:cNvPr id="6" name="Text 4"/>
          <p:cNvSpPr/>
          <p:nvPr/>
        </p:nvSpPr>
        <p:spPr>
          <a:xfrm>
            <a:off x="868680" y="1463040"/>
            <a:ext cx="4937760" cy="36576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Pretrain loss</a:t>
            </a:r>
            <a:endParaRPr lang="en-US" sz="1800" dirty="0"/>
          </a:p>
        </p:txBody>
      </p:sp>
      <p:sp>
        <p:nvSpPr>
          <p:cNvPr id="7" name="Text 5"/>
          <p:cNvSpPr/>
          <p:nvPr/>
        </p:nvSpPr>
        <p:spPr>
          <a:xfrm>
            <a:off x="868680" y="1965960"/>
            <a:ext cx="4937760" cy="374904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MSE between predicted and true raw patches.</a:t>
            </a:r>
            <a:endParaRPr lang="en-US" sz="1500" dirty="0"/>
          </a:p>
          <a:p>
            <a:pPr indent="0" marL="0">
              <a:buNone/>
            </a:pP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Averaged only on masked patches (the 75% that were removed).</a:t>
            </a:r>
            <a:endParaRPr lang="en-US" sz="1500" dirty="0"/>
          </a:p>
          <a:p>
            <a:pPr indent="0" marL="0">
              <a:buNone/>
            </a:pP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Not cross-entropy on tokens.</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Not a spectral loss (that is LaBraM’s reconstruction story).</a:t>
            </a:r>
            <a:endParaRPr lang="en-US" sz="1500" dirty="0"/>
          </a:p>
        </p:txBody>
      </p:sp>
      <p:sp>
        <p:nvSpPr>
          <p:cNvPr id="8" name="Shape 6"/>
          <p:cNvSpPr/>
          <p:nvPr/>
        </p:nvSpPr>
        <p:spPr>
          <a:xfrm>
            <a:off x="6263640" y="1280160"/>
            <a:ext cx="5394960" cy="4800600"/>
          </a:xfrm>
          <a:prstGeom prst="rect">
            <a:avLst/>
          </a:prstGeom>
          <a:solidFill>
            <a:srgbClr val="FFFFFF"/>
          </a:solidFill>
          <a:ln w="12700">
            <a:solidFill>
              <a:srgbClr val="D0D5DB"/>
            </a:solidFill>
            <a:prstDash val="solid"/>
          </a:ln>
        </p:spPr>
      </p:sp>
      <p:sp>
        <p:nvSpPr>
          <p:cNvPr id="9" name="Text 7"/>
          <p:cNvSpPr/>
          <p:nvPr/>
        </p:nvSpPr>
        <p:spPr>
          <a:xfrm>
            <a:off x="6492240" y="1463040"/>
            <a:ext cx="4937760" cy="365760"/>
          </a:xfrm>
          <a:prstGeom prst="rect">
            <a:avLst/>
          </a:prstGeom>
          <a:noFill/>
          <a:ln/>
        </p:spPr>
        <p:txBody>
          <a:bodyPr wrap="square" lIns="0" tIns="0" rIns="0" bIns="0" rtlCol="0" anchor="ctr"/>
          <a:lstStyle/>
          <a:p>
            <a:pPr indent="0" marL="0">
              <a:buNone/>
            </a:pPr>
            <a:r>
              <a:rPr lang="en-US" sz="1800" b="1" dirty="0">
                <a:solidFill>
                  <a:srgbClr val="1A1A1A"/>
                </a:solidFill>
                <a:latin typeface="Georgia" pitchFamily="34" charset="0"/>
                <a:ea typeface="Georgia" pitchFamily="34" charset="-122"/>
                <a:cs typeface="Georgia" pitchFamily="34" charset="-120"/>
              </a:rPr>
              <a:t>Finetune “decoder”</a:t>
            </a:r>
            <a:endParaRPr lang="en-US" sz="1800" dirty="0"/>
          </a:p>
        </p:txBody>
      </p:sp>
      <p:sp>
        <p:nvSpPr>
          <p:cNvPr id="10" name="Text 8"/>
          <p:cNvSpPr/>
          <p:nvPr/>
        </p:nvSpPr>
        <p:spPr>
          <a:xfrm>
            <a:off x="6492240" y="1965960"/>
            <a:ext cx="4937760" cy="374904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Not a generative decoder.</a:t>
            </a:r>
            <a:endParaRPr lang="en-US" sz="1500" dirty="0"/>
          </a:p>
          <a:p>
            <a:pPr indent="0" marL="0">
              <a:buNone/>
            </a:pP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Linear classification head on the encoder readout (CLS or global pool).</a:t>
            </a:r>
            <a:endParaRPr lang="en-US" sz="1500" dirty="0"/>
          </a:p>
          <a:p>
            <a:pPr indent="0" marL="0">
              <a:buNone/>
            </a:pP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Loss: SoftTarget cross-entropy (2 classes).</a:t>
            </a:r>
            <a:endParaRPr lang="en-US" sz="1500" dirty="0"/>
          </a:p>
          <a:p>
            <a:pPr indent="0" marL="0">
              <a:buNone/>
            </a:pP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layer_decay = 1.0 so the whole backbone adapts. mix_up = 0.</a:t>
            </a:r>
            <a:endParaRPr lang="en-US" sz="1500" dirty="0"/>
          </a:p>
        </p:txBody>
      </p:sp>
      <p:sp>
        <p:nvSpPr>
          <p:cNvPr id="12" name="Shape 9"/>
          <p:cNvSpPr/>
          <p:nvPr/>
        </p:nvSpPr>
        <p:spPr>
          <a:xfrm>
            <a:off x="640080" y="6400800"/>
            <a:ext cx="10881360" cy="0"/>
          </a:xfrm>
          <a:prstGeom prst="line">
            <a:avLst/>
          </a:prstGeom>
          <a:noFill/>
          <a:ln w="9525">
            <a:solidFill>
              <a:srgbClr val="D0D5DB"/>
            </a:solidFill>
            <a:prstDash val="solid"/>
          </a:ln>
        </p:spPr>
      </p:sp>
      <p:sp>
        <p:nvSpPr>
          <p:cNvPr id="13" name="Text 10"/>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14" name="Text 11"/>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5 · DATA &amp; EVAL</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Dataset and evaluation (lab spatial attention)</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sp>
        <p:nvSpPr>
          <p:cNvPr id="5" name="Shape 3"/>
          <p:cNvSpPr/>
          <p:nvPr/>
        </p:nvSpPr>
        <p:spPr>
          <a:xfrm>
            <a:off x="640080" y="1280160"/>
            <a:ext cx="11018520" cy="685800"/>
          </a:xfrm>
          <a:prstGeom prst="rect">
            <a:avLst/>
          </a:prstGeom>
          <a:solidFill>
            <a:srgbClr val="FFFFFF"/>
          </a:solidFill>
          <a:ln w="12700">
            <a:solidFill>
              <a:srgbClr val="D0D5DB"/>
            </a:solidFill>
            <a:prstDash val="solid"/>
          </a:ln>
        </p:spPr>
      </p:sp>
      <p:sp>
        <p:nvSpPr>
          <p:cNvPr id="6" name="Text 4"/>
          <p:cNvSpPr/>
          <p:nvPr/>
        </p:nvSpPr>
        <p:spPr>
          <a:xfrm>
            <a:off x="868680" y="1444752"/>
            <a:ext cx="2194560" cy="36576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Paradigm</a:t>
            </a:r>
            <a:endParaRPr lang="en-US" sz="1500" dirty="0"/>
          </a:p>
        </p:txBody>
      </p:sp>
      <p:sp>
        <p:nvSpPr>
          <p:cNvPr id="7" name="Text 5"/>
          <p:cNvSpPr/>
          <p:nvPr/>
        </p:nvSpPr>
        <p:spPr>
          <a:xfrm>
            <a:off x="3200400" y="1444752"/>
            <a:ext cx="8138160" cy="36576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Morioka et al. 2014 · covert L/R attention</a:t>
            </a:r>
            <a:endParaRPr lang="en-US" sz="1600" dirty="0"/>
          </a:p>
        </p:txBody>
      </p:sp>
      <p:sp>
        <p:nvSpPr>
          <p:cNvPr id="8" name="Shape 6"/>
          <p:cNvSpPr/>
          <p:nvPr/>
        </p:nvSpPr>
        <p:spPr>
          <a:xfrm>
            <a:off x="640080" y="2057400"/>
            <a:ext cx="11018520" cy="685800"/>
          </a:xfrm>
          <a:prstGeom prst="rect">
            <a:avLst/>
          </a:prstGeom>
          <a:solidFill>
            <a:srgbClr val="FFFFFF"/>
          </a:solidFill>
          <a:ln w="12700">
            <a:solidFill>
              <a:srgbClr val="D0D5DB"/>
            </a:solidFill>
            <a:prstDash val="solid"/>
          </a:ln>
        </p:spPr>
      </p:sp>
      <p:sp>
        <p:nvSpPr>
          <p:cNvPr id="9" name="Text 7"/>
          <p:cNvSpPr/>
          <p:nvPr/>
        </p:nvSpPr>
        <p:spPr>
          <a:xfrm>
            <a:off x="868680" y="2221992"/>
            <a:ext cx="2194560" cy="36576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N</a:t>
            </a:r>
            <a:endParaRPr lang="en-US" sz="1500" dirty="0"/>
          </a:p>
        </p:txBody>
      </p:sp>
      <p:sp>
        <p:nvSpPr>
          <p:cNvPr id="10" name="Text 8"/>
          <p:cNvSpPr/>
          <p:nvPr/>
        </p:nvSpPr>
        <p:spPr>
          <a:xfrm>
            <a:off x="3200400" y="2221992"/>
            <a:ext cx="8138160" cy="36576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43 subjects (prep aligned with Liz, v2)</a:t>
            </a:r>
            <a:endParaRPr lang="en-US" sz="1600" dirty="0"/>
          </a:p>
        </p:txBody>
      </p:sp>
      <p:sp>
        <p:nvSpPr>
          <p:cNvPr id="11" name="Shape 9"/>
          <p:cNvSpPr/>
          <p:nvPr/>
        </p:nvSpPr>
        <p:spPr>
          <a:xfrm>
            <a:off x="640080" y="2834640"/>
            <a:ext cx="11018520" cy="685800"/>
          </a:xfrm>
          <a:prstGeom prst="rect">
            <a:avLst/>
          </a:prstGeom>
          <a:solidFill>
            <a:srgbClr val="FFFFFF"/>
          </a:solidFill>
          <a:ln w="12700">
            <a:solidFill>
              <a:srgbClr val="D0D5DB"/>
            </a:solidFill>
            <a:prstDash val="solid"/>
          </a:ln>
        </p:spPr>
      </p:sp>
      <p:sp>
        <p:nvSpPr>
          <p:cNvPr id="12" name="Text 10"/>
          <p:cNvSpPr/>
          <p:nvPr/>
        </p:nvSpPr>
        <p:spPr>
          <a:xfrm>
            <a:off x="868680" y="2999232"/>
            <a:ext cx="2194560" cy="36576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Window</a:t>
            </a:r>
            <a:endParaRPr lang="en-US" sz="1500" dirty="0"/>
          </a:p>
        </p:txBody>
      </p:sp>
      <p:sp>
        <p:nvSpPr>
          <p:cNvPr id="13" name="Text 11"/>
          <p:cNvSpPr/>
          <p:nvPr/>
        </p:nvSpPr>
        <p:spPr>
          <a:xfrm>
            <a:off x="3200400" y="2999232"/>
            <a:ext cx="8138160" cy="36576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8 s attention epoch @ 256 Hz</a:t>
            </a:r>
            <a:endParaRPr lang="en-US" sz="1600" dirty="0"/>
          </a:p>
        </p:txBody>
      </p:sp>
      <p:sp>
        <p:nvSpPr>
          <p:cNvPr id="14" name="Shape 12"/>
          <p:cNvSpPr/>
          <p:nvPr/>
        </p:nvSpPr>
        <p:spPr>
          <a:xfrm>
            <a:off x="640080" y="3611880"/>
            <a:ext cx="11018520" cy="685800"/>
          </a:xfrm>
          <a:prstGeom prst="rect">
            <a:avLst/>
          </a:prstGeom>
          <a:solidFill>
            <a:srgbClr val="FFFFFF"/>
          </a:solidFill>
          <a:ln w="12700">
            <a:solidFill>
              <a:srgbClr val="D0D5DB"/>
            </a:solidFill>
            <a:prstDash val="solid"/>
          </a:ln>
        </p:spPr>
      </p:sp>
      <p:sp>
        <p:nvSpPr>
          <p:cNvPr id="15" name="Text 13"/>
          <p:cNvSpPr/>
          <p:nvPr/>
        </p:nvSpPr>
        <p:spPr>
          <a:xfrm>
            <a:off x="868680" y="3776472"/>
            <a:ext cx="2194560" cy="36576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Channels</a:t>
            </a:r>
            <a:endParaRPr lang="en-US" sz="1500" dirty="0"/>
          </a:p>
        </p:txBody>
      </p:sp>
      <p:sp>
        <p:nvSpPr>
          <p:cNvPr id="16" name="Text 14"/>
          <p:cNvSpPr/>
          <p:nvPr/>
        </p:nvSpPr>
        <p:spPr>
          <a:xfrm>
            <a:off x="3200400" y="3776472"/>
            <a:ext cx="8138160" cy="36576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64 EEG (EOG excluded) for the ViT</a:t>
            </a:r>
            <a:endParaRPr lang="en-US" sz="1600" dirty="0"/>
          </a:p>
        </p:txBody>
      </p:sp>
      <p:sp>
        <p:nvSpPr>
          <p:cNvPr id="17" name="Shape 15"/>
          <p:cNvSpPr/>
          <p:nvPr/>
        </p:nvSpPr>
        <p:spPr>
          <a:xfrm>
            <a:off x="640080" y="4389120"/>
            <a:ext cx="11018520" cy="685800"/>
          </a:xfrm>
          <a:prstGeom prst="rect">
            <a:avLst/>
          </a:prstGeom>
          <a:solidFill>
            <a:srgbClr val="FFFFFF"/>
          </a:solidFill>
          <a:ln w="12700">
            <a:solidFill>
              <a:srgbClr val="D0D5DB"/>
            </a:solidFill>
            <a:prstDash val="solid"/>
          </a:ln>
        </p:spPr>
      </p:sp>
      <p:sp>
        <p:nvSpPr>
          <p:cNvPr id="18" name="Text 16"/>
          <p:cNvSpPr/>
          <p:nvPr/>
        </p:nvSpPr>
        <p:spPr>
          <a:xfrm>
            <a:off x="868680" y="4553712"/>
            <a:ext cx="2194560" cy="36576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Metric</a:t>
            </a:r>
            <a:endParaRPr lang="en-US" sz="1500" dirty="0"/>
          </a:p>
        </p:txBody>
      </p:sp>
      <p:sp>
        <p:nvSpPr>
          <p:cNvPr id="19" name="Text 17"/>
          <p:cNvSpPr/>
          <p:nvPr/>
        </p:nvSpPr>
        <p:spPr>
          <a:xfrm>
            <a:off x="3200400" y="4553712"/>
            <a:ext cx="8138160" cy="36576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Accuracy (2-class; chance 50%)</a:t>
            </a:r>
            <a:endParaRPr lang="en-US" sz="1600" dirty="0"/>
          </a:p>
        </p:txBody>
      </p:sp>
      <p:sp>
        <p:nvSpPr>
          <p:cNvPr id="20" name="Shape 18"/>
          <p:cNvSpPr/>
          <p:nvPr/>
        </p:nvSpPr>
        <p:spPr>
          <a:xfrm>
            <a:off x="640080" y="5166360"/>
            <a:ext cx="11018520" cy="685800"/>
          </a:xfrm>
          <a:prstGeom prst="rect">
            <a:avLst/>
          </a:prstGeom>
          <a:solidFill>
            <a:srgbClr val="FFFFFF"/>
          </a:solidFill>
          <a:ln w="12700">
            <a:solidFill>
              <a:srgbClr val="D0D5DB"/>
            </a:solidFill>
            <a:prstDash val="solid"/>
          </a:ln>
        </p:spPr>
      </p:sp>
      <p:sp>
        <p:nvSpPr>
          <p:cNvPr id="21" name="Text 19"/>
          <p:cNvSpPr/>
          <p:nvPr/>
        </p:nvSpPr>
        <p:spPr>
          <a:xfrm>
            <a:off x="868680" y="5330952"/>
            <a:ext cx="2194560" cy="36576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Protocols</a:t>
            </a:r>
            <a:endParaRPr lang="en-US" sz="1500" dirty="0"/>
          </a:p>
        </p:txBody>
      </p:sp>
      <p:sp>
        <p:nvSpPr>
          <p:cNvPr id="22" name="Text 20"/>
          <p:cNvSpPr/>
          <p:nvPr/>
        </p:nvSpPr>
        <p:spPr>
          <a:xfrm>
            <a:off x="3200400" y="5330952"/>
            <a:ext cx="8138160" cy="365760"/>
          </a:xfrm>
          <a:prstGeom prst="rect">
            <a:avLst/>
          </a:prstGeom>
          <a:noFill/>
          <a:ln/>
        </p:spPr>
        <p:txBody>
          <a:bodyPr wrap="square" lIns="0" tIns="0" rIns="0" bIns="0" rtlCol="0" anchor="ctr"/>
          <a:lstStyle/>
          <a:p>
            <a:pPr indent="0" marL="0">
              <a:buNone/>
            </a:pPr>
            <a:r>
              <a:rPr lang="en-US" sz="1600" dirty="0">
                <a:solidFill>
                  <a:srgbClr val="1A1A1A"/>
                </a:solidFill>
                <a:latin typeface="Calibri" pitchFamily="34" charset="0"/>
                <a:ea typeface="Calibri" pitchFamily="34" charset="-122"/>
                <a:cs typeface="Calibri" pitchFamily="34" charset="-120"/>
              </a:rPr>
              <a:t>Population (done) · LOSO (running)</a:t>
            </a:r>
            <a:endParaRPr lang="en-US" sz="1600" dirty="0"/>
          </a:p>
        </p:txBody>
      </p:sp>
      <p:sp>
        <p:nvSpPr>
          <p:cNvPr id="24" name="Shape 21"/>
          <p:cNvSpPr/>
          <p:nvPr/>
        </p:nvSpPr>
        <p:spPr>
          <a:xfrm>
            <a:off x="640080" y="6400800"/>
            <a:ext cx="10881360" cy="0"/>
          </a:xfrm>
          <a:prstGeom prst="line">
            <a:avLst/>
          </a:prstGeom>
          <a:noFill/>
          <a:ln w="9525">
            <a:solidFill>
              <a:srgbClr val="D0D5DB"/>
            </a:solidFill>
            <a:prstDash val="solid"/>
          </a:ln>
        </p:spPr>
      </p:sp>
      <p:sp>
        <p:nvSpPr>
          <p:cNvPr id="25" name="Text 22"/>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26" name="Text 23"/>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6 · COMPUTE</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Compute: LOSO is the bottleneck</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sp>
        <p:nvSpPr>
          <p:cNvPr id="5" name="Shape 3"/>
          <p:cNvSpPr/>
          <p:nvPr/>
        </p:nvSpPr>
        <p:spPr>
          <a:xfrm>
            <a:off x="640080" y="1280160"/>
            <a:ext cx="11018520" cy="2148840"/>
          </a:xfrm>
          <a:prstGeom prst="rect">
            <a:avLst/>
          </a:prstGeom>
          <a:solidFill>
            <a:srgbClr val="FFFFFF"/>
          </a:solidFill>
          <a:ln w="12700">
            <a:solidFill>
              <a:srgbClr val="D0D5DB"/>
            </a:solidFill>
            <a:prstDash val="solid"/>
          </a:ln>
        </p:spPr>
      </p:sp>
      <p:sp>
        <p:nvSpPr>
          <p:cNvPr id="6" name="Text 4"/>
          <p:cNvSpPr/>
          <p:nvPr/>
        </p:nvSpPr>
        <p:spPr>
          <a:xfrm>
            <a:off x="868680" y="1417320"/>
            <a:ext cx="10515600" cy="365760"/>
          </a:xfrm>
          <a:prstGeom prst="rect">
            <a:avLst/>
          </a:prstGeom>
          <a:noFill/>
          <a:ln/>
        </p:spPr>
        <p:txBody>
          <a:bodyPr wrap="square" lIns="0" tIns="0" rIns="0" bIns="0" rtlCol="0" anchor="ctr"/>
          <a:lstStyle/>
          <a:p>
            <a:pPr indent="0" marL="0">
              <a:buNone/>
            </a:pPr>
            <a:r>
              <a:rPr lang="en-US" sz="1600" b="1" dirty="0">
                <a:solidFill>
                  <a:srgbClr val="1A1A1A"/>
                </a:solidFill>
                <a:latin typeface="Georgia" pitchFamily="34" charset="0"/>
                <a:ea typeface="Georgia" pitchFamily="34" charset="-122"/>
                <a:cs typeface="Georgia" pitchFamily="34" charset="-120"/>
              </a:rPr>
              <a:t>What we know from the cluster (kng11, job 109704)</a:t>
            </a:r>
            <a:endParaRPr lang="en-US" sz="1600" dirty="0"/>
          </a:p>
        </p:txBody>
      </p:sp>
      <p:sp>
        <p:nvSpPr>
          <p:cNvPr id="7" name="Text 5"/>
          <p:cNvSpPr/>
          <p:nvPr/>
        </p:nvSpPr>
        <p:spPr>
          <a:xfrm>
            <a:off x="868680" y="1874520"/>
            <a:ext cx="10515600" cy="132588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Each LOSO fold ≈ retrain on ~42 subjects (50 epochs) then evaluate the held-out subject.</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Log: ~0.77 s / iteration, 1500 it / epoch → ~19 min / epoch → ~16 h / fold.</a:t>
            </a:r>
            <a:endParaRPr lang="en-US" sz="1500" dirty="0"/>
          </a:p>
          <a:p>
            <a:pPr indent="0" marL="0">
              <a:buNone/>
            </a:pPr>
            <a:r>
              <a:rPr lang="en-US" sz="1500" dirty="0">
                <a:solidFill>
                  <a:srgbClr val="1A1A1A"/>
                </a:solidFill>
                <a:latin typeface="Calibri" pitchFamily="34" charset="0"/>
                <a:ea typeface="Calibri" pitchFamily="34" charset="-122"/>
                <a:cs typeface="Calibri" pitchFamily="34" charset="-120"/>
              </a:rPr>
              <a:t>Observed pace ≈ 1 fold / day. TimeLimit 30 days. I will update the COMPLETED count from the lab before this talk.</a:t>
            </a:r>
            <a:endParaRPr lang="en-US" sz="1500" dirty="0"/>
          </a:p>
        </p:txBody>
      </p:sp>
      <p:sp>
        <p:nvSpPr>
          <p:cNvPr id="8" name="Shape 6"/>
          <p:cNvSpPr/>
          <p:nvPr/>
        </p:nvSpPr>
        <p:spPr>
          <a:xfrm>
            <a:off x="640080" y="3611880"/>
            <a:ext cx="3566160" cy="2468880"/>
          </a:xfrm>
          <a:prstGeom prst="rect">
            <a:avLst/>
          </a:prstGeom>
          <a:solidFill>
            <a:srgbClr val="FFFFFF"/>
          </a:solidFill>
          <a:ln w="12700">
            <a:solidFill>
              <a:srgbClr val="D0D5DB"/>
            </a:solidFill>
            <a:prstDash val="solid"/>
          </a:ln>
        </p:spPr>
      </p:sp>
      <p:sp>
        <p:nvSpPr>
          <p:cNvPr id="9" name="Text 7"/>
          <p:cNvSpPr/>
          <p:nvPr/>
        </p:nvSpPr>
        <p:spPr>
          <a:xfrm>
            <a:off x="822960" y="3794760"/>
            <a:ext cx="3200400" cy="5029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Keep current job</a:t>
            </a:r>
            <a:endParaRPr lang="en-US" sz="1500" dirty="0"/>
          </a:p>
        </p:txBody>
      </p:sp>
      <p:sp>
        <p:nvSpPr>
          <p:cNvPr id="10" name="Text 8"/>
          <p:cNvSpPr/>
          <p:nvPr/>
        </p:nvSpPr>
        <p:spPr>
          <a:xfrm>
            <a:off x="822960" y="4343400"/>
            <a:ext cx="3200400" cy="15087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Let 109704 finish. Resume via COMPLETED markers if it dies.</a:t>
            </a:r>
            <a:endParaRPr lang="en-US" sz="1300" dirty="0"/>
          </a:p>
        </p:txBody>
      </p:sp>
      <p:sp>
        <p:nvSpPr>
          <p:cNvPr id="11" name="Shape 9"/>
          <p:cNvSpPr/>
          <p:nvPr/>
        </p:nvSpPr>
        <p:spPr>
          <a:xfrm>
            <a:off x="4389120" y="3611880"/>
            <a:ext cx="3566160" cy="2468880"/>
          </a:xfrm>
          <a:prstGeom prst="rect">
            <a:avLst/>
          </a:prstGeom>
          <a:solidFill>
            <a:srgbClr val="FBF7EC"/>
          </a:solidFill>
          <a:ln w="12700">
            <a:solidFill>
              <a:srgbClr val="D0D5DB"/>
            </a:solidFill>
            <a:prstDash val="solid"/>
          </a:ln>
        </p:spPr>
      </p:sp>
      <p:sp>
        <p:nvSpPr>
          <p:cNvPr id="12" name="Text 10"/>
          <p:cNvSpPr/>
          <p:nvPr/>
        </p:nvSpPr>
        <p:spPr>
          <a:xfrm>
            <a:off x="4572000" y="3794760"/>
            <a:ext cx="3200400" cy="5029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A100 (lab)</a:t>
            </a:r>
            <a:endParaRPr lang="en-US" sz="1500" dirty="0"/>
          </a:p>
        </p:txBody>
      </p:sp>
      <p:sp>
        <p:nvSpPr>
          <p:cNvPr id="13" name="Text 11"/>
          <p:cNvSpPr/>
          <p:nvPr/>
        </p:nvSpPr>
        <p:spPr>
          <a:xfrm>
            <a:off x="4572000" y="4343400"/>
            <a:ext cx="3200400" cy="15087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Ishii: available; Tatsuki already uses it for CalM. After holidays, more accounts.</a:t>
            </a:r>
            <a:endParaRPr lang="en-US" sz="1300" dirty="0"/>
          </a:p>
        </p:txBody>
      </p:sp>
      <p:sp>
        <p:nvSpPr>
          <p:cNvPr id="14" name="Shape 12"/>
          <p:cNvSpPr/>
          <p:nvPr/>
        </p:nvSpPr>
        <p:spPr>
          <a:xfrm>
            <a:off x="8138160" y="3611880"/>
            <a:ext cx="3566160" cy="2468880"/>
          </a:xfrm>
          <a:prstGeom prst="rect">
            <a:avLst/>
          </a:prstGeom>
          <a:solidFill>
            <a:srgbClr val="FFFFFF"/>
          </a:solidFill>
          <a:ln w="12700">
            <a:solidFill>
              <a:srgbClr val="D0D5DB"/>
            </a:solidFill>
            <a:prstDash val="solid"/>
          </a:ln>
        </p:spPr>
      </p:sp>
      <p:sp>
        <p:nvSpPr>
          <p:cNvPr id="15" name="Text 13"/>
          <p:cNvSpPr/>
          <p:nvPr/>
        </p:nvSpPr>
        <p:spPr>
          <a:xfrm>
            <a:off x="8321040" y="3794760"/>
            <a:ext cx="3200400" cy="5029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Smaller model</a:t>
            </a:r>
            <a:endParaRPr lang="en-US" sz="1500" dirty="0"/>
          </a:p>
        </p:txBody>
      </p:sp>
      <p:sp>
        <p:nvSpPr>
          <p:cNvPr id="16" name="Text 14"/>
          <p:cNvSpPr/>
          <p:nvPr/>
        </p:nvSpPr>
        <p:spPr>
          <a:xfrm>
            <a:off x="8321040" y="4343400"/>
            <a:ext cx="3200400" cy="1508760"/>
          </a:xfrm>
          <a:prstGeom prst="rect">
            <a:avLst/>
          </a:prstGeom>
          <a:noFill/>
          <a:ln/>
        </p:spPr>
        <p:txBody>
          <a:bodyPr wrap="square" lIns="0" tIns="0" rIns="0" bIns="0" rtlCol="0" anchor="ctr"/>
          <a:lstStyle/>
          <a:p>
            <a:pPr indent="0" marL="0">
              <a:buNone/>
            </a:pPr>
            <a:r>
              <a:rPr lang="en-US" sz="1300" dirty="0">
                <a:solidFill>
                  <a:srgbClr val="1A1A1A"/>
                </a:solidFill>
                <a:latin typeface="Calibri" pitchFamily="34" charset="0"/>
                <a:ea typeface="Calibri" pitchFamily="34" charset="-122"/>
                <a:cs typeface="Calibri" pitchFamily="34" charset="-120"/>
              </a:rPr>
              <a:t>Tatsuki: reducing CalM params kept similar performance. We can test ViT-base vs large for speed.</a:t>
            </a:r>
            <a:endParaRPr lang="en-US" sz="1300" dirty="0"/>
          </a:p>
        </p:txBody>
      </p:sp>
      <p:sp>
        <p:nvSpPr>
          <p:cNvPr id="18" name="Shape 15"/>
          <p:cNvSpPr/>
          <p:nvPr/>
        </p:nvSpPr>
        <p:spPr>
          <a:xfrm>
            <a:off x="640080" y="6400800"/>
            <a:ext cx="10881360" cy="0"/>
          </a:xfrm>
          <a:prstGeom prst="line">
            <a:avLst/>
          </a:prstGeom>
          <a:noFill/>
          <a:ln w="9525">
            <a:solidFill>
              <a:srgbClr val="D0D5DB"/>
            </a:solidFill>
            <a:prstDash val="solid"/>
          </a:ln>
        </p:spPr>
      </p:sp>
      <p:sp>
        <p:nvSpPr>
          <p:cNvPr id="19" name="Text 16"/>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20" name="Text 17"/>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5"/>
        </a:solidFill>
      </p:bgPr>
    </p:bg>
    <p:spTree>
      <p:nvGrpSpPr>
        <p:cNvPr id="1" name=""/>
        <p:cNvGrpSpPr/>
        <p:nvPr/>
      </p:nvGrpSpPr>
      <p:grpSpPr>
        <a:xfrm>
          <a:off x="0" y="0"/>
          <a:ext cx="0" cy="0"/>
          <a:chOff x="0" y="0"/>
          <a:chExt cx="0" cy="0"/>
        </a:xfrm>
      </p:grpSpPr>
      <p:sp>
        <p:nvSpPr>
          <p:cNvPr id="2" name="Text 0"/>
          <p:cNvSpPr/>
          <p:nvPr/>
        </p:nvSpPr>
        <p:spPr>
          <a:xfrm>
            <a:off x="640080" y="292608"/>
            <a:ext cx="10972800" cy="237744"/>
          </a:xfrm>
          <a:prstGeom prst="rect">
            <a:avLst/>
          </a:prstGeom>
          <a:noFill/>
          <a:ln/>
        </p:spPr>
        <p:txBody>
          <a:bodyPr wrap="square" lIns="0" tIns="0" rIns="0" bIns="0" rtlCol="0" anchor="ctr"/>
          <a:lstStyle/>
          <a:p>
            <a:pPr indent="0" marL="0">
              <a:buNone/>
            </a:pPr>
            <a:r>
              <a:rPr lang="en-US" sz="1100" b="1" spc="120" kern="0" dirty="0">
                <a:solidFill>
                  <a:srgbClr val="1F3A5F"/>
                </a:solidFill>
                <a:latin typeface="Calibri" pitchFamily="34" charset="0"/>
                <a:ea typeface="Calibri" pitchFamily="34" charset="-122"/>
                <a:cs typeface="Calibri" pitchFamily="34" charset="-120"/>
              </a:rPr>
              <a:t>OPEN</a:t>
            </a:r>
            <a:endParaRPr lang="en-US" sz="1100" dirty="0"/>
          </a:p>
        </p:txBody>
      </p:sp>
      <p:sp>
        <p:nvSpPr>
          <p:cNvPr id="3" name="Text 1"/>
          <p:cNvSpPr/>
          <p:nvPr/>
        </p:nvSpPr>
        <p:spPr>
          <a:xfrm>
            <a:off x="640080" y="530352"/>
            <a:ext cx="10972800" cy="438912"/>
          </a:xfrm>
          <a:prstGeom prst="rect">
            <a:avLst/>
          </a:prstGeom>
          <a:noFill/>
          <a:ln/>
        </p:spPr>
        <p:txBody>
          <a:bodyPr wrap="square" lIns="0" tIns="0" rIns="0" bIns="0" rtlCol="0" anchor="ctr"/>
          <a:lstStyle/>
          <a:p>
            <a:pPr indent="0" marL="0">
              <a:buNone/>
            </a:pPr>
            <a:r>
              <a:rPr lang="en-US" sz="2400" b="1" dirty="0">
                <a:solidFill>
                  <a:srgbClr val="1A1A1A"/>
                </a:solidFill>
                <a:latin typeface="Georgia" pitchFamily="34" charset="0"/>
                <a:ea typeface="Georgia" pitchFamily="34" charset="-122"/>
                <a:cs typeface="Georgia" pitchFamily="34" charset="-120"/>
              </a:rPr>
              <a:t>For the chimera discussion (18–19 Aug)</a:t>
            </a:r>
            <a:endParaRPr lang="en-US" sz="2400" dirty="0"/>
          </a:p>
        </p:txBody>
      </p:sp>
      <p:sp>
        <p:nvSpPr>
          <p:cNvPr id="4" name="Shape 2"/>
          <p:cNvSpPr/>
          <p:nvPr/>
        </p:nvSpPr>
        <p:spPr>
          <a:xfrm>
            <a:off x="640080" y="1042416"/>
            <a:ext cx="10881360" cy="0"/>
          </a:xfrm>
          <a:prstGeom prst="line">
            <a:avLst/>
          </a:prstGeom>
          <a:noFill/>
          <a:ln w="12700">
            <a:solidFill>
              <a:srgbClr val="D0D5DB"/>
            </a:solidFill>
            <a:prstDash val="solid"/>
          </a:ln>
        </p:spPr>
      </p:sp>
      <p:sp>
        <p:nvSpPr>
          <p:cNvPr id="5" name="Shape 3"/>
          <p:cNvSpPr/>
          <p:nvPr/>
        </p:nvSpPr>
        <p:spPr>
          <a:xfrm>
            <a:off x="640080" y="1234440"/>
            <a:ext cx="11018520" cy="1078992"/>
          </a:xfrm>
          <a:prstGeom prst="rect">
            <a:avLst/>
          </a:prstGeom>
          <a:solidFill>
            <a:srgbClr val="FFFFFF"/>
          </a:solidFill>
          <a:ln w="12700">
            <a:solidFill>
              <a:srgbClr val="D0D5DB"/>
            </a:solidFill>
            <a:prstDash val="solid"/>
          </a:ln>
        </p:spPr>
      </p:sp>
      <p:sp>
        <p:nvSpPr>
          <p:cNvPr id="6" name="Text 4"/>
          <p:cNvSpPr/>
          <p:nvPr/>
        </p:nvSpPr>
        <p:spPr>
          <a:xfrm>
            <a:off x="868680" y="1527048"/>
            <a:ext cx="2834640" cy="5029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Already like CAPT</a:t>
            </a:r>
            <a:endParaRPr lang="en-US" sz="1500" dirty="0"/>
          </a:p>
        </p:txBody>
      </p:sp>
      <p:sp>
        <p:nvSpPr>
          <p:cNvPr id="7" name="Text 5"/>
          <p:cNvSpPr/>
          <p:nvPr/>
        </p:nvSpPr>
        <p:spPr>
          <a:xfrm>
            <a:off x="3840480" y="1435608"/>
            <a:ext cx="7498080" cy="6858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Continuous patches + reconstruction in signal space. No VQ to remove.</a:t>
            </a:r>
            <a:endParaRPr lang="en-US" sz="1500" dirty="0"/>
          </a:p>
        </p:txBody>
      </p:sp>
      <p:sp>
        <p:nvSpPr>
          <p:cNvPr id="8" name="Shape 6"/>
          <p:cNvSpPr/>
          <p:nvPr/>
        </p:nvSpPr>
        <p:spPr>
          <a:xfrm>
            <a:off x="640080" y="2423160"/>
            <a:ext cx="11018520" cy="1078992"/>
          </a:xfrm>
          <a:prstGeom prst="rect">
            <a:avLst/>
          </a:prstGeom>
          <a:solidFill>
            <a:srgbClr val="FFFFFF"/>
          </a:solidFill>
          <a:ln w="12700">
            <a:solidFill>
              <a:srgbClr val="D0D5DB"/>
            </a:solidFill>
            <a:prstDash val="solid"/>
          </a:ln>
        </p:spPr>
      </p:sp>
      <p:sp>
        <p:nvSpPr>
          <p:cNvPr id="9" name="Text 7"/>
          <p:cNvSpPr/>
          <p:nvPr/>
        </p:nvSpPr>
        <p:spPr>
          <a:xfrm>
            <a:off x="868680" y="2715768"/>
            <a:ext cx="2834640" cy="5029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Not like CalM</a:t>
            </a:r>
            <a:endParaRPr lang="en-US" sz="1500" dirty="0"/>
          </a:p>
        </p:txBody>
      </p:sp>
      <p:sp>
        <p:nvSpPr>
          <p:cNvPr id="10" name="Text 8"/>
          <p:cNvSpPr/>
          <p:nvPr/>
        </p:nvSpPr>
        <p:spPr>
          <a:xfrm>
            <a:off x="3840480" y="2624328"/>
            <a:ext cx="7498080" cy="6858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No dual-axis attention. No next-neuron / next-token prediction.</a:t>
            </a:r>
            <a:endParaRPr lang="en-US" sz="1500" dirty="0"/>
          </a:p>
        </p:txBody>
      </p:sp>
      <p:sp>
        <p:nvSpPr>
          <p:cNvPr id="11" name="Shape 9"/>
          <p:cNvSpPr/>
          <p:nvPr/>
        </p:nvSpPr>
        <p:spPr>
          <a:xfrm>
            <a:off x="640080" y="3611880"/>
            <a:ext cx="11018520" cy="1078992"/>
          </a:xfrm>
          <a:prstGeom prst="rect">
            <a:avLst/>
          </a:prstGeom>
          <a:solidFill>
            <a:srgbClr val="FFFFFF"/>
          </a:solidFill>
          <a:ln w="12700">
            <a:solidFill>
              <a:srgbClr val="D0D5DB"/>
            </a:solidFill>
            <a:prstDash val="solid"/>
          </a:ln>
        </p:spPr>
      </p:sp>
      <p:sp>
        <p:nvSpPr>
          <p:cNvPr id="12" name="Text 10"/>
          <p:cNvSpPr/>
          <p:nvPr/>
        </p:nvSpPr>
        <p:spPr>
          <a:xfrm>
            <a:off x="868680" y="3904488"/>
            <a:ext cx="2834640" cy="5029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Possible imports</a:t>
            </a:r>
            <a:endParaRPr lang="en-US" sz="1500" dirty="0"/>
          </a:p>
        </p:txBody>
      </p:sp>
      <p:sp>
        <p:nvSpPr>
          <p:cNvPr id="13" name="Text 11"/>
          <p:cNvSpPr/>
          <p:nvPr/>
        </p:nvSpPr>
        <p:spPr>
          <a:xfrm>
            <a:off x="3840480" y="3813048"/>
            <a:ext cx="7498080" cy="6858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Causal / dual-axis attention · inter-channel forecasting · identity invariance (Miyamoto) · Ca-style simulators / augmentation</a:t>
            </a:r>
            <a:endParaRPr lang="en-US" sz="1500" dirty="0"/>
          </a:p>
        </p:txBody>
      </p:sp>
      <p:sp>
        <p:nvSpPr>
          <p:cNvPr id="14" name="Shape 12"/>
          <p:cNvSpPr/>
          <p:nvPr/>
        </p:nvSpPr>
        <p:spPr>
          <a:xfrm>
            <a:off x="640080" y="4800600"/>
            <a:ext cx="11018520" cy="1078992"/>
          </a:xfrm>
          <a:prstGeom prst="rect">
            <a:avLst/>
          </a:prstGeom>
          <a:solidFill>
            <a:srgbClr val="FFFFFF"/>
          </a:solidFill>
          <a:ln w="12700">
            <a:solidFill>
              <a:srgbClr val="D0D5DB"/>
            </a:solidFill>
            <a:prstDash val="solid"/>
          </a:ln>
        </p:spPr>
      </p:sp>
      <p:sp>
        <p:nvSpPr>
          <p:cNvPr id="15" name="Text 13"/>
          <p:cNvSpPr/>
          <p:nvPr/>
        </p:nvSpPr>
        <p:spPr>
          <a:xfrm>
            <a:off x="868680" y="5093208"/>
            <a:ext cx="2834640" cy="502920"/>
          </a:xfrm>
          <a:prstGeom prst="rect">
            <a:avLst/>
          </a:prstGeom>
          <a:noFill/>
          <a:ln/>
        </p:spPr>
        <p:txBody>
          <a:bodyPr wrap="square" lIns="0" tIns="0" rIns="0" bIns="0" rtlCol="0" anchor="ctr"/>
          <a:lstStyle/>
          <a:p>
            <a:pPr indent="0" marL="0">
              <a:buNone/>
            </a:pPr>
            <a:r>
              <a:rPr lang="en-US" sz="1500" b="1" dirty="0">
                <a:solidFill>
                  <a:srgbClr val="1F3A5F"/>
                </a:solidFill>
                <a:latin typeface="Georgia" pitchFamily="34" charset="0"/>
                <a:ea typeface="Georgia" pitchFamily="34" charset="-122"/>
                <a:cs typeface="Georgia" pitchFamily="34" charset="-120"/>
              </a:rPr>
              <a:t>EEG constraint</a:t>
            </a:r>
            <a:endParaRPr lang="en-US" sz="1500" dirty="0"/>
          </a:p>
        </p:txBody>
      </p:sp>
      <p:sp>
        <p:nvSpPr>
          <p:cNvPr id="16" name="Text 14"/>
          <p:cNvSpPr/>
          <p:nvPr/>
        </p:nvSpPr>
        <p:spPr>
          <a:xfrm>
            <a:off x="3840480" y="5001768"/>
            <a:ext cx="7498080" cy="685800"/>
          </a:xfrm>
          <a:prstGeom prst="rect">
            <a:avLst/>
          </a:prstGeom>
          <a:noFill/>
          <a:ln/>
        </p:spPr>
        <p:txBody>
          <a:bodyPr wrap="square" lIns="0" tIns="0" rIns="0" bIns="0" rtlCol="0" anchor="ctr"/>
          <a:lstStyle/>
          <a:p>
            <a:pPr indent="0" marL="0">
              <a:buNone/>
            </a:pPr>
            <a:r>
              <a:rPr lang="en-US" sz="1500" dirty="0">
                <a:solidFill>
                  <a:srgbClr val="1A1A1A"/>
                </a:solidFill>
                <a:latin typeface="Calibri" pitchFamily="34" charset="0"/>
                <a:ea typeface="Calibri" pitchFamily="34" charset="-122"/>
                <a:cs typeface="Calibri" pitchFamily="34" charset="-120"/>
              </a:rPr>
              <a:t>Decodable EEG is hard to simulate (Ishii). We have lots of public EEG, but labeled lab data is small (43 subjects).</a:t>
            </a:r>
            <a:endParaRPr lang="en-US" sz="1500" dirty="0"/>
          </a:p>
        </p:txBody>
      </p:sp>
      <p:sp>
        <p:nvSpPr>
          <p:cNvPr id="18" name="Shape 15"/>
          <p:cNvSpPr/>
          <p:nvPr/>
        </p:nvSpPr>
        <p:spPr>
          <a:xfrm>
            <a:off x="640080" y="6400800"/>
            <a:ext cx="10881360" cy="0"/>
          </a:xfrm>
          <a:prstGeom prst="line">
            <a:avLst/>
          </a:prstGeom>
          <a:noFill/>
          <a:ln w="9525">
            <a:solidFill>
              <a:srgbClr val="D0D5DB"/>
            </a:solidFill>
            <a:prstDash val="solid"/>
          </a:ln>
        </p:spPr>
      </p:sp>
      <p:sp>
        <p:nvSpPr>
          <p:cNvPr id="19" name="Text 16"/>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5C6570"/>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20" name="Text 17"/>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5C6570"/>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2C3338"/>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1F3A5F"/>
          </a:solidFill>
          <a:ln/>
        </p:spPr>
      </p:sp>
      <p:sp>
        <p:nvSpPr>
          <p:cNvPr id="3" name="Text 1"/>
          <p:cNvSpPr/>
          <p:nvPr/>
        </p:nvSpPr>
        <p:spPr>
          <a:xfrm>
            <a:off x="777240" y="1371600"/>
            <a:ext cx="10515600" cy="457200"/>
          </a:xfrm>
          <a:prstGeom prst="rect">
            <a:avLst/>
          </a:prstGeom>
          <a:noFill/>
          <a:ln/>
        </p:spPr>
        <p:txBody>
          <a:bodyPr wrap="square" lIns="0" tIns="0" rIns="0" bIns="0"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Summary</a:t>
            </a:r>
            <a:endParaRPr lang="en-US" sz="2800" dirty="0"/>
          </a:p>
        </p:txBody>
      </p:sp>
      <p:sp>
        <p:nvSpPr>
          <p:cNvPr id="4" name="Text 2"/>
          <p:cNvSpPr/>
          <p:nvPr/>
        </p:nvSpPr>
        <p:spPr>
          <a:xfrm>
            <a:off x="777240" y="2011680"/>
            <a:ext cx="10515600" cy="1645920"/>
          </a:xfrm>
          <a:prstGeom prst="rect">
            <a:avLst/>
          </a:prstGeom>
          <a:noFill/>
          <a:ln/>
        </p:spPr>
        <p:txBody>
          <a:bodyPr wrap="square" lIns="0" tIns="0" rIns="0" bIns="0" rtlCol="0" anchor="ctr"/>
          <a:lstStyle/>
          <a:p>
            <a:pPr indent="0" marL="0">
              <a:buNone/>
            </a:pPr>
            <a:r>
              <a:rPr lang="en-US" sz="1800" dirty="0">
                <a:solidFill>
                  <a:srgbClr val="C5CCD3"/>
                </a:solidFill>
                <a:latin typeface="Calibri" pitchFamily="34" charset="0"/>
                <a:ea typeface="Calibri" pitchFamily="34" charset="-122"/>
                <a:cs typeface="Calibri" pitchFamily="34" charset="-120"/>
              </a:rPr>
              <a:t>ST-EEGFormer = raw EEG patches + MAE + ViT.</a:t>
            </a:r>
            <a:endParaRPr lang="en-US" sz="1800" dirty="0"/>
          </a:p>
          <a:p>
            <a:pPr indent="0" marL="0">
              <a:buNone/>
            </a:pPr>
            <a:r>
              <a:rPr lang="en-US" sz="1800" dirty="0">
                <a:solidFill>
                  <a:srgbClr val="C5CCD3"/>
                </a:solidFill>
                <a:latin typeface="Calibri" pitchFamily="34" charset="0"/>
                <a:ea typeface="Calibri" pitchFamily="34" charset="-122"/>
                <a:cs typeface="Calibri" pitchFamily="34" charset="-120"/>
              </a:rPr>
              <a:t>Attention mixes channels and time in one sequence.</a:t>
            </a:r>
            <a:endParaRPr lang="en-US" sz="1800" dirty="0"/>
          </a:p>
          <a:p>
            <a:pPr indent="0" marL="0">
              <a:buNone/>
            </a:pPr>
            <a:r>
              <a:rPr lang="en-US" sz="1800" dirty="0">
                <a:solidFill>
                  <a:srgbClr val="C5CCD3"/>
                </a:solidFill>
                <a:latin typeface="Calibri" pitchFamily="34" charset="0"/>
                <a:ea typeface="Calibri" pitchFamily="34" charset="-122"/>
                <a:cs typeface="Calibri" pitchFamily="34" charset="-120"/>
              </a:rPr>
              <a:t>Finetune = linear head, 61.7% population, LOSO running.</a:t>
            </a:r>
            <a:endParaRPr lang="en-US" sz="1800" dirty="0"/>
          </a:p>
          <a:p>
            <a:pPr indent="0" marL="0">
              <a:buNone/>
            </a:pPr>
            <a:r>
              <a:rPr lang="en-US" sz="1800" dirty="0">
                <a:solidFill>
                  <a:srgbClr val="C5CCD3"/>
                </a:solidFill>
                <a:latin typeface="Calibri" pitchFamily="34" charset="0"/>
                <a:ea typeface="Calibri" pitchFamily="34" charset="-122"/>
                <a:cs typeface="Calibri" pitchFamily="34" charset="-120"/>
              </a:rPr>
              <a:t>LaBraM = discrete tokenizer (Ishii’s talk next).</a:t>
            </a:r>
            <a:endParaRPr lang="en-US" sz="1800" dirty="0"/>
          </a:p>
        </p:txBody>
      </p:sp>
      <p:sp>
        <p:nvSpPr>
          <p:cNvPr id="5" name="Text 3"/>
          <p:cNvSpPr/>
          <p:nvPr/>
        </p:nvSpPr>
        <p:spPr>
          <a:xfrm>
            <a:off x="777240" y="4023360"/>
            <a:ext cx="10515600" cy="457200"/>
          </a:xfrm>
          <a:prstGeom prst="rect">
            <a:avLst/>
          </a:prstGeom>
          <a:noFill/>
          <a:ln/>
        </p:spPr>
        <p:txBody>
          <a:bodyPr wrap="square" lIns="0" tIns="0" rIns="0" bIns="0" rtlCol="0" anchor="ctr"/>
          <a:lstStyle/>
          <a:p>
            <a:pPr indent="0" marL="0">
              <a:buNone/>
            </a:pPr>
            <a:r>
              <a:rPr lang="en-US" sz="2200" dirty="0">
                <a:solidFill>
                  <a:srgbClr val="FFFFFF"/>
                </a:solidFill>
                <a:latin typeface="Georgia" pitchFamily="34" charset="0"/>
                <a:ea typeface="Georgia" pitchFamily="34" charset="-122"/>
                <a:cs typeface="Georgia" pitchFamily="34" charset="-120"/>
              </a:rPr>
              <a:t>Thank you  ·  questions welcome</a:t>
            </a:r>
            <a:endParaRPr lang="en-US" sz="2200" dirty="0"/>
          </a:p>
        </p:txBody>
      </p:sp>
      <p:sp>
        <p:nvSpPr>
          <p:cNvPr id="7" name="Shape 4"/>
          <p:cNvSpPr/>
          <p:nvPr/>
        </p:nvSpPr>
        <p:spPr>
          <a:xfrm>
            <a:off x="640080" y="6400800"/>
            <a:ext cx="10881360" cy="0"/>
          </a:xfrm>
          <a:prstGeom prst="line">
            <a:avLst/>
          </a:prstGeom>
          <a:noFill/>
          <a:ln w="9525">
            <a:solidFill>
              <a:srgbClr val="4B5563"/>
            </a:solidFill>
            <a:prstDash val="solid"/>
          </a:ln>
        </p:spPr>
      </p:sp>
      <p:sp>
        <p:nvSpPr>
          <p:cNvPr id="8" name="Text 5"/>
          <p:cNvSpPr/>
          <p:nvPr/>
        </p:nvSpPr>
        <p:spPr>
          <a:xfrm>
            <a:off x="640080" y="6492240"/>
            <a:ext cx="9601200" cy="256032"/>
          </a:xfrm>
          <a:prstGeom prst="rect">
            <a:avLst/>
          </a:prstGeom>
          <a:noFill/>
          <a:ln/>
        </p:spPr>
        <p:txBody>
          <a:bodyPr wrap="square" lIns="0" tIns="0" rIns="0" bIns="0" rtlCol="0" anchor="ctr"/>
          <a:lstStyle/>
          <a:p>
            <a:pPr algn="l" indent="0" marL="0">
              <a:buNone/>
            </a:pPr>
            <a:r>
              <a:rPr lang="en-US" sz="1100" dirty="0">
                <a:solidFill>
                  <a:srgbClr val="9CA3AF"/>
                </a:solidFill>
                <a:latin typeface="Calibri" pitchFamily="34" charset="0"/>
                <a:ea typeface="Calibri" pitchFamily="34" charset="-122"/>
                <a:cs typeface="Calibri" pitchFamily="34" charset="-120"/>
              </a:rPr>
              <a:t>Maxime Lacombe  ·  Ishii Lab  ·  18 August 2026  ·  EEG reading club</a:t>
            </a:r>
            <a:endParaRPr lang="en-US" sz="1100" dirty="0"/>
          </a:p>
        </p:txBody>
      </p:sp>
      <p:sp>
        <p:nvSpPr>
          <p:cNvPr id="9" name="Text 6"/>
          <p:cNvSpPr/>
          <p:nvPr/>
        </p:nvSpPr>
        <p:spPr>
          <a:xfrm>
            <a:off x="11155680" y="6492240"/>
            <a:ext cx="457200" cy="256032"/>
          </a:xfrm>
          <a:prstGeom prst="rect">
            <a:avLst/>
          </a:prstGeom>
          <a:noFill/>
          <a:ln/>
        </p:spPr>
        <p:txBody>
          <a:bodyPr wrap="square" lIns="0" tIns="0" rIns="0" bIns="0" rtlCol="0" anchor="ctr"/>
          <a:lstStyle/>
          <a:p>
            <a:pPr algn="r" indent="0" marL="0">
              <a:buNone/>
            </a:pPr>
            <a:r>
              <a:rPr lang="en-US" sz="1100" dirty="0">
                <a:solidFill>
                  <a:srgbClr val="9CA3AF"/>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ST-EEGFormer internals — paper reading club 18 Aug 2026</dc:title>
  <dc:subject>Ishii Lab · EEG foundation model session</dc:subject>
  <dc:creator>Maxime Lacombe</dc:creator>
  <cp:lastModifiedBy>Maxime Lacombe</cp:lastModifiedBy>
  <cp:revision>1</cp:revision>
  <dcterms:created xsi:type="dcterms:W3CDTF">2026-08-13T01:37:04Z</dcterms:created>
  <dcterms:modified xsi:type="dcterms:W3CDTF">2026-08-13T01:37:04Z</dcterms:modified>
</cp:coreProperties>
</file>