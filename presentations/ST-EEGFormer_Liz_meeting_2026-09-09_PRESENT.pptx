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2"/>
    <p:sldId id="258" r:id="rId3"/>
    <p:sldId id="259"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60"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736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Liz and I compared our subject-level results last week. Our population results are very similar: ST-EEGFormer reaches 61.66 percent and LaBraM approximately 62 percent. While reviewing both result sets, we noticed subjects 004, 019, 020, 031 and 046. Subject 015 may also be worth monitoring. This suggests that preprocessing or data quality may contribute to the difficulties, but this is an observation rather than a statistical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discussed three preprocessing directions. Euclidean Alignment could reduce differences between subjects. Surface Laplacian could emphasize local activity and reduce common noise. Artifact rejection could remove contaminated trials. We reviewed these methods and prepared a diagnostic approach, but we do not have new results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next step is to verify signal units, channel order and trial counts. Then we will compare the preprocessing methods on the same train and test split and inspect the difficult subjects individually. If one method gives a consistent improvement, we will create a new preprocessing version and run one ST-EEGFormer population experiment. The goal is to align our preprocessing and evaluation settings before comparing new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7324D"/>
          </a:solidFill>
          <a:ln w="12700">
            <a:solidFill>
              <a:srgbClr val="17324D"/>
            </a:solidFill>
            <a:prstDash val="solid"/>
          </a:ln>
        </p:spPr>
      </p:sp>
      <p:sp>
        <p:nvSpPr>
          <p:cNvPr id="3" name="Text 1"/>
          <p:cNvSpPr/>
          <p:nvPr/>
        </p:nvSpPr>
        <p:spPr>
          <a:xfrm>
            <a:off x="566928" y="182880"/>
            <a:ext cx="8046720" cy="347472"/>
          </a:xfrm>
          <a:prstGeom prst="rect">
            <a:avLst/>
          </a:prstGeom>
          <a:noFill/>
          <a:ln/>
        </p:spPr>
        <p:txBody>
          <a:bodyPr wrap="square" lIns="0" tIns="0" rIns="0" bIns="0" rtlCol="0" anchor="ctr"/>
          <a:lstStyle/>
          <a:p>
            <a:pPr marL="0" indent="0">
              <a:buNone/>
            </a:pPr>
            <a:r>
              <a:rPr lang="en-US" sz="2400" b="1">
                <a:solidFill>
                  <a:srgbClr val="FFFFFF"/>
                </a:solidFill>
                <a:latin typeface="Aptos Display" pitchFamily="34" charset="0"/>
                <a:ea typeface="Aptos Display" pitchFamily="34" charset="-122"/>
                <a:cs typeface="Aptos Display" pitchFamily="34" charset="-120"/>
              </a:rPr>
              <a:t>What we noticed together</a:t>
            </a:r>
            <a:endParaRPr lang="en-US" sz="2400" dirty="0"/>
          </a:p>
        </p:txBody>
      </p:sp>
      <p:sp>
        <p:nvSpPr>
          <p:cNvPr id="4" name="Text 2"/>
          <p:cNvSpPr/>
          <p:nvPr/>
        </p:nvSpPr>
        <p:spPr>
          <a:xfrm>
            <a:off x="8275320" y="246888"/>
            <a:ext cx="3337560" cy="228600"/>
          </a:xfrm>
          <a:prstGeom prst="rect">
            <a:avLst/>
          </a:prstGeom>
          <a:noFill/>
          <a:ln/>
        </p:spPr>
        <p:txBody>
          <a:bodyPr wrap="square" lIns="0" tIns="0" rIns="0" bIns="0" rtlCol="0" anchor="ctr"/>
          <a:lstStyle/>
          <a:p>
            <a:pPr marL="0" indent="0" algn="r">
              <a:buNone/>
            </a:pPr>
            <a:r>
              <a:rPr lang="en-US" sz="1000" dirty="0">
                <a:solidFill>
                  <a:srgbClr val="D8E4ED"/>
                </a:solidFill>
                <a:latin typeface="Aptos" pitchFamily="34" charset="0"/>
                <a:ea typeface="Aptos" pitchFamily="34" charset="-122"/>
                <a:cs typeface="Aptos" pitchFamily="34" charset="-120"/>
              </a:rPr>
              <a:t>Discussion recap · 2 September</a:t>
            </a:r>
            <a:endParaRPr lang="en-US" sz="1000" dirty="0"/>
          </a:p>
        </p:txBody>
      </p:sp>
      <p:sp>
        <p:nvSpPr>
          <p:cNvPr id="5" name="Text 3"/>
          <p:cNvSpPr/>
          <p:nvPr/>
        </p:nvSpPr>
        <p:spPr>
          <a:xfrm>
            <a:off x="11384280" y="6528816"/>
            <a:ext cx="274320" cy="146304"/>
          </a:xfrm>
          <a:prstGeom prst="rect">
            <a:avLst/>
          </a:prstGeom>
          <a:noFill/>
          <a:ln/>
        </p:spPr>
        <p:txBody>
          <a:bodyPr wrap="square" lIns="0" tIns="0" rIns="0" bIns="0" rtlCol="0" anchor="ctr"/>
          <a:lstStyle/>
          <a:p>
            <a:pPr marL="0" indent="0" algn="r">
              <a:buNone/>
            </a:pPr>
            <a:r>
              <a:rPr lang="en-US" sz="800" dirty="0">
                <a:solidFill>
                  <a:srgbClr val="7B8992"/>
                </a:solidFill>
                <a:latin typeface="Aptos" pitchFamily="34" charset="0"/>
                <a:ea typeface="Aptos" pitchFamily="34" charset="-122"/>
                <a:cs typeface="Aptos" pitchFamily="34" charset="-120"/>
              </a:rPr>
              <a:t>2</a:t>
            </a:r>
            <a:endParaRPr lang="en-US" sz="800" dirty="0"/>
          </a:p>
        </p:txBody>
      </p:sp>
      <p:sp>
        <p:nvSpPr>
          <p:cNvPr id="6" name="Text 4"/>
          <p:cNvSpPr/>
          <p:nvPr/>
        </p:nvSpPr>
        <p:spPr>
          <a:xfrm>
            <a:off x="594360" y="1225296"/>
            <a:ext cx="1828800" cy="219456"/>
          </a:xfrm>
          <a:prstGeom prst="rect">
            <a:avLst/>
          </a:prstGeom>
          <a:noFill/>
          <a:ln/>
        </p:spPr>
        <p:txBody>
          <a:bodyPr wrap="square" lIns="0" tIns="0" rIns="0" bIns="0" rtlCol="0" anchor="ctr"/>
          <a:lstStyle/>
          <a:p>
            <a:pPr marL="0" indent="0">
              <a:buNone/>
            </a:pPr>
            <a:r>
              <a:rPr lang="en-US" sz="900" b="1" kern="0" spc="120" dirty="0">
                <a:solidFill>
                  <a:srgbClr val="2F5F8F"/>
                </a:solidFill>
                <a:latin typeface="Aptos" pitchFamily="34" charset="0"/>
                <a:ea typeface="Aptos" pitchFamily="34" charset="-122"/>
                <a:cs typeface="Aptos" pitchFamily="34" charset="-120"/>
              </a:rPr>
              <a:t>OVERALL CONTEXT</a:t>
            </a:r>
            <a:endParaRPr lang="en-US" sz="900" dirty="0"/>
          </a:p>
        </p:txBody>
      </p:sp>
      <p:sp>
        <p:nvSpPr>
          <p:cNvPr id="7" name="Shape 5"/>
          <p:cNvSpPr/>
          <p:nvPr/>
        </p:nvSpPr>
        <p:spPr>
          <a:xfrm>
            <a:off x="594360" y="1591056"/>
            <a:ext cx="11000232" cy="822960"/>
          </a:xfrm>
          <a:prstGeom prst="rect">
            <a:avLst/>
          </a:prstGeom>
          <a:solidFill>
            <a:srgbClr val="EEF3F7"/>
          </a:solidFill>
          <a:ln w="10160">
            <a:solidFill>
              <a:srgbClr val="CBD5DD"/>
            </a:solidFill>
            <a:prstDash val="solid"/>
          </a:ln>
        </p:spPr>
      </p:sp>
      <p:sp>
        <p:nvSpPr>
          <p:cNvPr id="8" name="Text 6"/>
          <p:cNvSpPr/>
          <p:nvPr/>
        </p:nvSpPr>
        <p:spPr>
          <a:xfrm>
            <a:off x="868680" y="1819656"/>
            <a:ext cx="4389120" cy="256032"/>
          </a:xfrm>
          <a:prstGeom prst="rect">
            <a:avLst/>
          </a:prstGeom>
          <a:noFill/>
          <a:ln/>
        </p:spPr>
        <p:txBody>
          <a:bodyPr wrap="square" lIns="0" tIns="0" rIns="0" bIns="0" rtlCol="0" anchor="ctr"/>
          <a:lstStyle/>
          <a:p>
            <a:pPr marL="0" indent="0">
              <a:buNone/>
            </a:pPr>
            <a:r>
              <a:rPr lang="en-US" sz="1600" b="1" dirty="0">
                <a:solidFill>
                  <a:srgbClr val="17324D"/>
                </a:solidFill>
                <a:latin typeface="Aptos" pitchFamily="34" charset="0"/>
                <a:ea typeface="Aptos" pitchFamily="34" charset="-122"/>
                <a:cs typeface="Aptos" pitchFamily="34" charset="-120"/>
              </a:rPr>
              <a:t>ST-EEGFormer population accuracy: 61.66%</a:t>
            </a:r>
            <a:endParaRPr lang="en-US" sz="1600" dirty="0"/>
          </a:p>
        </p:txBody>
      </p:sp>
      <p:sp>
        <p:nvSpPr>
          <p:cNvPr id="9" name="Text 7"/>
          <p:cNvSpPr/>
          <p:nvPr/>
        </p:nvSpPr>
        <p:spPr>
          <a:xfrm>
            <a:off x="6492240" y="1819656"/>
            <a:ext cx="4206240" cy="256032"/>
          </a:xfrm>
          <a:prstGeom prst="rect">
            <a:avLst/>
          </a:prstGeom>
          <a:noFill/>
          <a:ln/>
        </p:spPr>
        <p:txBody>
          <a:bodyPr wrap="square" lIns="0" tIns="0" rIns="0" bIns="0" rtlCol="0" anchor="ctr"/>
          <a:lstStyle/>
          <a:p>
            <a:pPr marL="0" indent="0" algn="r">
              <a:buNone/>
            </a:pPr>
            <a:r>
              <a:rPr lang="en-US" sz="1600" b="1" dirty="0">
                <a:solidFill>
                  <a:srgbClr val="17324D"/>
                </a:solidFill>
                <a:latin typeface="Aptos" pitchFamily="34" charset="0"/>
                <a:ea typeface="Aptos" pitchFamily="34" charset="-122"/>
                <a:cs typeface="Aptos" pitchFamily="34" charset="-120"/>
              </a:rPr>
              <a:t>LaBraM: approximately 62%</a:t>
            </a:r>
            <a:endParaRPr lang="en-US" sz="1600" dirty="0"/>
          </a:p>
        </p:txBody>
      </p:sp>
      <p:sp>
        <p:nvSpPr>
          <p:cNvPr id="10" name="Text 8"/>
          <p:cNvSpPr/>
          <p:nvPr/>
        </p:nvSpPr>
        <p:spPr>
          <a:xfrm>
            <a:off x="594360" y="2788920"/>
            <a:ext cx="2377440" cy="219456"/>
          </a:xfrm>
          <a:prstGeom prst="rect">
            <a:avLst/>
          </a:prstGeom>
          <a:noFill/>
          <a:ln/>
        </p:spPr>
        <p:txBody>
          <a:bodyPr wrap="square" lIns="0" tIns="0" rIns="0" bIns="0" rtlCol="0" anchor="ctr"/>
          <a:lstStyle/>
          <a:p>
            <a:pPr marL="0" indent="0">
              <a:buNone/>
            </a:pPr>
            <a:r>
              <a:rPr lang="en-US" sz="900" b="1" kern="0" spc="120" dirty="0">
                <a:solidFill>
                  <a:srgbClr val="2F5F8F"/>
                </a:solidFill>
                <a:latin typeface="Aptos" pitchFamily="34" charset="0"/>
                <a:ea typeface="Aptos" pitchFamily="34" charset="-122"/>
                <a:cs typeface="Aptos" pitchFamily="34" charset="-120"/>
              </a:rPr>
              <a:t>SUBJECT-LEVEL DISCUSSION</a:t>
            </a:r>
            <a:endParaRPr lang="en-US" sz="900" dirty="0"/>
          </a:p>
        </p:txBody>
      </p:sp>
      <p:sp>
        <p:nvSpPr>
          <p:cNvPr id="11" name="Shape 9"/>
          <p:cNvSpPr/>
          <p:nvPr/>
        </p:nvSpPr>
        <p:spPr>
          <a:xfrm>
            <a:off x="594360" y="3163824"/>
            <a:ext cx="4572000" cy="2423160"/>
          </a:xfrm>
          <a:prstGeom prst="rect">
            <a:avLst/>
          </a:prstGeom>
          <a:solidFill>
            <a:srgbClr val="17324D"/>
          </a:solidFill>
          <a:ln w="12700">
            <a:solidFill>
              <a:srgbClr val="17324D"/>
            </a:solidFill>
            <a:prstDash val="solid"/>
          </a:ln>
        </p:spPr>
      </p:sp>
      <p:sp>
        <p:nvSpPr>
          <p:cNvPr id="12" name="Text 10"/>
          <p:cNvSpPr/>
          <p:nvPr/>
        </p:nvSpPr>
        <p:spPr>
          <a:xfrm>
            <a:off x="914400" y="3502152"/>
            <a:ext cx="3931920" cy="548640"/>
          </a:xfrm>
          <a:prstGeom prst="rect">
            <a:avLst/>
          </a:prstGeom>
          <a:noFill/>
          <a:ln/>
        </p:spPr>
        <p:txBody>
          <a:bodyPr wrap="square" lIns="0" tIns="0" rIns="0" bIns="0" rtlCol="0" anchor="ctr"/>
          <a:lstStyle/>
          <a:p>
            <a:pPr marL="0" indent="0">
              <a:buNone/>
            </a:pPr>
            <a:r>
              <a:rPr lang="en-US" sz="1400" dirty="0">
                <a:solidFill>
                  <a:srgbClr val="D8E4ED"/>
                </a:solidFill>
                <a:latin typeface="Aptos" pitchFamily="34" charset="0"/>
                <a:ea typeface="Aptos" pitchFamily="34" charset="-122"/>
                <a:cs typeface="Aptos" pitchFamily="34" charset="-120"/>
              </a:rPr>
              <a:t>Subjects flagged while reviewing</a:t>
            </a:r>
            <a:endParaRPr lang="en-US" sz="1400" dirty="0"/>
          </a:p>
          <a:p>
            <a:pPr marL="0" indent="0">
              <a:buNone/>
            </a:pPr>
            <a:r>
              <a:rPr lang="en-US" sz="1400" dirty="0">
                <a:solidFill>
                  <a:srgbClr val="D8E4ED"/>
                </a:solidFill>
                <a:latin typeface="Aptos" pitchFamily="34" charset="0"/>
                <a:ea typeface="Aptos" pitchFamily="34" charset="-122"/>
                <a:cs typeface="Aptos" pitchFamily="34" charset="-120"/>
              </a:rPr>
              <a:t>both result sets</a:t>
            </a:r>
            <a:endParaRPr lang="en-US" sz="1400" dirty="0"/>
          </a:p>
        </p:txBody>
      </p:sp>
      <p:sp>
        <p:nvSpPr>
          <p:cNvPr id="13" name="Text 11"/>
          <p:cNvSpPr/>
          <p:nvPr/>
        </p:nvSpPr>
        <p:spPr>
          <a:xfrm>
            <a:off x="914400" y="4270248"/>
            <a:ext cx="3931920" cy="77724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004 · 019 · 020</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031 · 046</a:t>
            </a:r>
            <a:endParaRPr lang="en-US" sz="2700" dirty="0"/>
          </a:p>
        </p:txBody>
      </p:sp>
      <p:sp>
        <p:nvSpPr>
          <p:cNvPr id="14" name="Text 12"/>
          <p:cNvSpPr/>
          <p:nvPr/>
        </p:nvSpPr>
        <p:spPr>
          <a:xfrm>
            <a:off x="914400" y="5193792"/>
            <a:ext cx="3931920" cy="219456"/>
          </a:xfrm>
          <a:prstGeom prst="rect">
            <a:avLst/>
          </a:prstGeom>
          <a:noFill/>
          <a:ln/>
        </p:spPr>
        <p:txBody>
          <a:bodyPr wrap="square" lIns="0" tIns="0" rIns="0" bIns="0" rtlCol="0" anchor="ctr"/>
          <a:lstStyle/>
          <a:p>
            <a:pPr marL="0" indent="0">
              <a:buNone/>
            </a:pPr>
            <a:r>
              <a:rPr lang="en-US" sz="1250" i="1" dirty="0">
                <a:solidFill>
                  <a:srgbClr val="D8E4ED"/>
                </a:solidFill>
                <a:latin typeface="Aptos" pitchFamily="34" charset="0"/>
                <a:ea typeface="Aptos" pitchFamily="34" charset="-122"/>
                <a:cs typeface="Aptos" pitchFamily="34" charset="-120"/>
              </a:rPr>
              <a:t>015: also worth monitoring</a:t>
            </a:r>
            <a:endParaRPr lang="en-US" sz="1250" dirty="0"/>
          </a:p>
        </p:txBody>
      </p:sp>
      <p:sp>
        <p:nvSpPr>
          <p:cNvPr id="15" name="Shape 13"/>
          <p:cNvSpPr/>
          <p:nvPr/>
        </p:nvSpPr>
        <p:spPr>
          <a:xfrm>
            <a:off x="5468112" y="3163824"/>
            <a:ext cx="6126480" cy="2423160"/>
          </a:xfrm>
          <a:prstGeom prst="rect">
            <a:avLst/>
          </a:prstGeom>
          <a:solidFill>
            <a:srgbClr val="FFFFFF"/>
          </a:solidFill>
          <a:ln w="11430">
            <a:solidFill>
              <a:srgbClr val="CBD5DD"/>
            </a:solidFill>
            <a:prstDash val="solid"/>
          </a:ln>
        </p:spPr>
      </p:sp>
      <p:sp>
        <p:nvSpPr>
          <p:cNvPr id="16" name="Text 14"/>
          <p:cNvSpPr/>
          <p:nvPr/>
        </p:nvSpPr>
        <p:spPr>
          <a:xfrm>
            <a:off x="5806440" y="3493008"/>
            <a:ext cx="2560320" cy="274320"/>
          </a:xfrm>
          <a:prstGeom prst="rect">
            <a:avLst/>
          </a:prstGeom>
          <a:noFill/>
          <a:ln/>
        </p:spPr>
        <p:txBody>
          <a:bodyPr wrap="square" lIns="0" tIns="0" rIns="0" bIns="0" rtlCol="0" anchor="ctr"/>
          <a:lstStyle/>
          <a:p>
            <a:pPr marL="0" indent="0">
              <a:buNone/>
            </a:pPr>
            <a:r>
              <a:rPr lang="en-US" sz="1800" b="1" dirty="0">
                <a:solidFill>
                  <a:srgbClr val="17324D"/>
                </a:solidFill>
                <a:latin typeface="Aptos Display" pitchFamily="34" charset="0"/>
                <a:ea typeface="Aptos Display" pitchFamily="34" charset="-122"/>
                <a:cs typeface="Aptos Display" pitchFamily="34" charset="-120"/>
              </a:rPr>
              <a:t>Our interpretation</a:t>
            </a:r>
            <a:endParaRPr lang="en-US" sz="1800" dirty="0"/>
          </a:p>
        </p:txBody>
      </p:sp>
      <p:sp>
        <p:nvSpPr>
          <p:cNvPr id="17" name="Text 15"/>
          <p:cNvSpPr/>
          <p:nvPr/>
        </p:nvSpPr>
        <p:spPr>
          <a:xfrm>
            <a:off x="5806440" y="4005072"/>
            <a:ext cx="5413248" cy="804672"/>
          </a:xfrm>
          <a:prstGeom prst="rect">
            <a:avLst/>
          </a:prstGeom>
          <a:noFill/>
          <a:ln/>
        </p:spPr>
        <p:txBody>
          <a:bodyPr wrap="square" lIns="0" tIns="0" rIns="0" bIns="0" rtlCol="0" anchor="ctr"/>
          <a:lstStyle/>
          <a:p>
            <a:pPr marL="0" indent="0">
              <a:buNone/>
            </a:pPr>
            <a:r>
              <a:rPr lang="en-US" sz="1500" dirty="0">
                <a:solidFill>
                  <a:srgbClr val="202B33"/>
                </a:solidFill>
                <a:latin typeface="Aptos" pitchFamily="34" charset="0"/>
                <a:ea typeface="Aptos" pitchFamily="34" charset="-122"/>
                <a:cs typeface="Aptos" pitchFamily="34" charset="-120"/>
              </a:rPr>
              <a:t>If different models struggle on some of the same subjects, it is useful to inspect the data and preprocessing before changing the model.</a:t>
            </a:r>
            <a:endParaRPr lang="en-US" sz="1500" dirty="0"/>
          </a:p>
        </p:txBody>
      </p:sp>
      <p:sp>
        <p:nvSpPr>
          <p:cNvPr id="18" name="Text 16"/>
          <p:cNvSpPr/>
          <p:nvPr/>
        </p:nvSpPr>
        <p:spPr>
          <a:xfrm>
            <a:off x="5806440" y="5074920"/>
            <a:ext cx="5413248" cy="347472"/>
          </a:xfrm>
          <a:prstGeom prst="rect">
            <a:avLst/>
          </a:prstGeom>
          <a:noFill/>
          <a:ln/>
        </p:spPr>
        <p:txBody>
          <a:bodyPr wrap="square" lIns="0" tIns="0" rIns="0" bIns="0" rtlCol="0" anchor="ctr"/>
          <a:lstStyle/>
          <a:p>
            <a:pPr marL="0" indent="0">
              <a:buNone/>
            </a:pPr>
            <a:r>
              <a:rPr lang="en-US" sz="1200" i="1" dirty="0">
                <a:solidFill>
                  <a:srgbClr val="202B33"/>
                </a:solidFill>
                <a:latin typeface="Aptos" pitchFamily="34" charset="0"/>
                <a:ea typeface="Aptos" pitchFamily="34" charset="-122"/>
                <a:cs typeface="Aptos" pitchFamily="34" charset="-120"/>
              </a:rPr>
              <a:t>This is an observation from our discussion, not yet a formal statistical conclusion.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7324D"/>
          </a:solidFill>
          <a:ln w="12700">
            <a:solidFill>
              <a:srgbClr val="17324D"/>
            </a:solidFill>
            <a:prstDash val="solid"/>
          </a:ln>
        </p:spPr>
      </p:sp>
      <p:sp>
        <p:nvSpPr>
          <p:cNvPr id="3" name="Text 1"/>
          <p:cNvSpPr/>
          <p:nvPr/>
        </p:nvSpPr>
        <p:spPr>
          <a:xfrm>
            <a:off x="566928" y="182880"/>
            <a:ext cx="8046720" cy="347472"/>
          </a:xfrm>
          <a:prstGeom prst="rect">
            <a:avLst/>
          </a:prstGeom>
          <a:noFill/>
          <a:ln/>
        </p:spPr>
        <p:txBody>
          <a:bodyPr wrap="square" lIns="0" tIns="0" rIns="0" bIns="0" rtlCol="0" anchor="ctr"/>
          <a:lstStyle/>
          <a:p>
            <a:pPr marL="0" indent="0">
              <a:buNone/>
            </a:pPr>
            <a:r>
              <a:rPr lang="en-US" sz="2400" b="1">
                <a:solidFill>
                  <a:srgbClr val="FFFFFF"/>
                </a:solidFill>
                <a:latin typeface="Aptos Display" pitchFamily="34" charset="0"/>
                <a:ea typeface="Aptos Display" pitchFamily="34" charset="-122"/>
                <a:cs typeface="Aptos Display" pitchFamily="34" charset="-120"/>
              </a:rPr>
              <a:t>What we looked into</a:t>
            </a:r>
            <a:endParaRPr lang="en-US" sz="2400" dirty="0"/>
          </a:p>
        </p:txBody>
      </p:sp>
      <p:sp>
        <p:nvSpPr>
          <p:cNvPr id="4" name="Text 2"/>
          <p:cNvSpPr/>
          <p:nvPr/>
        </p:nvSpPr>
        <p:spPr>
          <a:xfrm>
            <a:off x="8275320" y="246888"/>
            <a:ext cx="3337560" cy="228600"/>
          </a:xfrm>
          <a:prstGeom prst="rect">
            <a:avLst/>
          </a:prstGeom>
          <a:noFill/>
          <a:ln/>
        </p:spPr>
        <p:txBody>
          <a:bodyPr wrap="square" lIns="0" tIns="0" rIns="0" bIns="0" rtlCol="0" anchor="ctr"/>
          <a:lstStyle/>
          <a:p>
            <a:pPr marL="0" indent="0" algn="r">
              <a:buNone/>
            </a:pPr>
            <a:r>
              <a:rPr lang="en-US" sz="1000" dirty="0">
                <a:solidFill>
                  <a:srgbClr val="D8E4ED"/>
                </a:solidFill>
                <a:latin typeface="Aptos" pitchFamily="34" charset="0"/>
                <a:ea typeface="Aptos" pitchFamily="34" charset="-122"/>
                <a:cs typeface="Aptos" pitchFamily="34" charset="-120"/>
              </a:rPr>
              <a:t>Preprocessing options suggested by Liz</a:t>
            </a:r>
            <a:endParaRPr lang="en-US" sz="1000" dirty="0"/>
          </a:p>
        </p:txBody>
      </p:sp>
      <p:sp>
        <p:nvSpPr>
          <p:cNvPr id="5" name="Text 3"/>
          <p:cNvSpPr/>
          <p:nvPr/>
        </p:nvSpPr>
        <p:spPr>
          <a:xfrm>
            <a:off x="11384280" y="6528816"/>
            <a:ext cx="274320" cy="146304"/>
          </a:xfrm>
          <a:prstGeom prst="rect">
            <a:avLst/>
          </a:prstGeom>
          <a:noFill/>
          <a:ln/>
        </p:spPr>
        <p:txBody>
          <a:bodyPr wrap="square" lIns="0" tIns="0" rIns="0" bIns="0" rtlCol="0" anchor="ctr"/>
          <a:lstStyle/>
          <a:p>
            <a:pPr marL="0" indent="0" algn="r">
              <a:buNone/>
            </a:pPr>
            <a:r>
              <a:rPr lang="en-US" sz="800" dirty="0">
                <a:solidFill>
                  <a:srgbClr val="7B8992"/>
                </a:solidFill>
                <a:latin typeface="Aptos" pitchFamily="34" charset="0"/>
                <a:ea typeface="Aptos" pitchFamily="34" charset="-122"/>
                <a:cs typeface="Aptos" pitchFamily="34" charset="-120"/>
              </a:rPr>
              <a:t>3</a:t>
            </a:r>
            <a:endParaRPr lang="en-US" sz="800" dirty="0"/>
          </a:p>
        </p:txBody>
      </p:sp>
      <p:sp>
        <p:nvSpPr>
          <p:cNvPr id="6" name="Text 4"/>
          <p:cNvSpPr/>
          <p:nvPr/>
        </p:nvSpPr>
        <p:spPr>
          <a:xfrm>
            <a:off x="594360" y="1170432"/>
            <a:ext cx="2743200" cy="219456"/>
          </a:xfrm>
          <a:prstGeom prst="rect">
            <a:avLst/>
          </a:prstGeom>
          <a:noFill/>
          <a:ln/>
        </p:spPr>
        <p:txBody>
          <a:bodyPr wrap="square" lIns="0" tIns="0" rIns="0" bIns="0" rtlCol="0" anchor="ctr"/>
          <a:lstStyle/>
          <a:p>
            <a:pPr marL="0" indent="0">
              <a:buNone/>
            </a:pPr>
            <a:r>
              <a:rPr lang="en-US" sz="900" b="1" kern="0" spc="120" dirty="0">
                <a:solidFill>
                  <a:srgbClr val="2F5F8F"/>
                </a:solidFill>
                <a:latin typeface="Aptos" pitchFamily="34" charset="0"/>
                <a:ea typeface="Aptos" pitchFamily="34" charset="-122"/>
                <a:cs typeface="Aptos" pitchFamily="34" charset="-120"/>
              </a:rPr>
              <a:t>THE CURRENT DATA ALREADY INCLUDE</a:t>
            </a:r>
            <a:endParaRPr lang="en-US" sz="900" dirty="0"/>
          </a:p>
        </p:txBody>
      </p:sp>
      <p:sp>
        <p:nvSpPr>
          <p:cNvPr id="7" name="Text 5"/>
          <p:cNvSpPr/>
          <p:nvPr/>
        </p:nvSpPr>
        <p:spPr>
          <a:xfrm>
            <a:off x="594360" y="1508760"/>
            <a:ext cx="11000232" cy="365760"/>
          </a:xfrm>
          <a:prstGeom prst="rect">
            <a:avLst/>
          </a:prstGeom>
          <a:noFill/>
          <a:ln/>
        </p:spPr>
        <p:txBody>
          <a:bodyPr wrap="square" lIns="0" tIns="0" rIns="0" bIns="0" rtlCol="0" anchor="ctr"/>
          <a:lstStyle/>
          <a:p>
            <a:pPr marL="0" indent="0">
              <a:buNone/>
            </a:pPr>
            <a:r>
              <a:rPr lang="en-US" sz="1400" dirty="0">
                <a:solidFill>
                  <a:srgbClr val="202B33"/>
                </a:solidFill>
                <a:latin typeface="Aptos" pitchFamily="34" charset="0"/>
                <a:ea typeface="Aptos" pitchFamily="34" charset="-122"/>
                <a:cs typeface="Aptos" pitchFamily="34" charset="-120"/>
              </a:rPr>
              <a:t>Average reference  ·  0.1–75 Hz band-pass  ·  60 Hz notch  ·  baseline correction  ·  8 s at 256 Hz</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2139696"/>
          <a:ext cx="11000232" cy="3355848"/>
        </p:xfrm>
        <a:graphic>
          <a:graphicData uri="http://schemas.openxmlformats.org/drawingml/2006/table">
            <a:tbl>
              <a:tblPr/>
              <a:tblGrid>
                <a:gridCol w="24231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FFFFFF"/>
                          </a:solidFill>
                          <a:latin typeface="Aptos" pitchFamily="34" charset="0"/>
                          <a:ea typeface="Aptos" pitchFamily="34" charset="-122"/>
                          <a:cs typeface="Aptos" pitchFamily="34" charset="-120"/>
                        </a:rPr>
                        <a:t>Method</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17324D"/>
                    </a:solidFill>
                  </a:tcPr>
                </a:tc>
                <a:tc>
                  <a:txBody>
                    <a:bodyPr/>
                    <a:lstStyle/>
                    <a:p>
                      <a:pPr marL="0" indent="0">
                        <a:buNone/>
                      </a:pPr>
                      <a:r>
                        <a:rPr lang="en-US" sz="1400" b="1" dirty="0">
                          <a:solidFill>
                            <a:srgbClr val="FFFFFF"/>
                          </a:solidFill>
                          <a:latin typeface="Aptos" pitchFamily="34" charset="0"/>
                          <a:ea typeface="Aptos" pitchFamily="34" charset="-122"/>
                          <a:cs typeface="Aptos" pitchFamily="34" charset="-120"/>
                        </a:rPr>
                        <a:t>In simple terms</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17324D"/>
                    </a:solidFill>
                  </a:tcPr>
                </a:tc>
                <a:tc>
                  <a:txBody>
                    <a:bodyPr/>
                    <a:lstStyle/>
                    <a:p>
                      <a:pPr marL="0" indent="0">
                        <a:buNone/>
                      </a:pPr>
                      <a:r>
                        <a:rPr lang="en-US" sz="1400" b="1" dirty="0">
                          <a:solidFill>
                            <a:srgbClr val="FFFFFF"/>
                          </a:solidFill>
                          <a:latin typeface="Aptos" pitchFamily="34" charset="0"/>
                          <a:ea typeface="Aptos" pitchFamily="34" charset="-122"/>
                          <a:cs typeface="Aptos" pitchFamily="34" charset="-120"/>
                        </a:rPr>
                        <a:t>Why test it?</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17324D"/>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202B33"/>
                          </a:solidFill>
                          <a:latin typeface="Aptos" pitchFamily="34" charset="0"/>
                          <a:ea typeface="Aptos" pitchFamily="34" charset="-122"/>
                          <a:cs typeface="Aptos" pitchFamily="34" charset="-120"/>
                        </a:rPr>
                        <a:t>Euclidean Alignment</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tc>
                  <a:txBody>
                    <a:bodyPr/>
                    <a:lstStyle/>
                    <a:p>
                      <a:pPr marL="0" indent="0">
                        <a:buNone/>
                      </a:pPr>
                      <a:r>
                        <a:rPr lang="en-US" sz="1400" dirty="0">
                          <a:solidFill>
                            <a:srgbClr val="202B33"/>
                          </a:solidFill>
                          <a:latin typeface="Aptos" pitchFamily="34" charset="0"/>
                          <a:ea typeface="Aptos" pitchFamily="34" charset="-122"/>
                          <a:cs typeface="Aptos" pitchFamily="34" charset="-120"/>
                        </a:rPr>
                        <a:t>Makes covariance more similar across subjects.</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tc>
                  <a:txBody>
                    <a:bodyPr/>
                    <a:lstStyle/>
                    <a:p>
                      <a:pPr marL="0" indent="0">
                        <a:buNone/>
                      </a:pPr>
                      <a:r>
                        <a:rPr lang="en-US" sz="1400" dirty="0">
                          <a:solidFill>
                            <a:srgbClr val="202B33"/>
                          </a:solidFill>
                          <a:latin typeface="Aptos" pitchFamily="34" charset="0"/>
                          <a:ea typeface="Aptos" pitchFamily="34" charset="-122"/>
                          <a:cs typeface="Aptos" pitchFamily="34" charset="-120"/>
                        </a:rPr>
                        <a:t>Could reduce differences between subjects.</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202B33"/>
                          </a:solidFill>
                          <a:latin typeface="Aptos" pitchFamily="34" charset="0"/>
                          <a:ea typeface="Aptos" pitchFamily="34" charset="-122"/>
                          <a:cs typeface="Aptos" pitchFamily="34" charset="-120"/>
                        </a:rPr>
                        <a:t>Surface Laplacian</a:t>
                      </a:r>
                      <a:endParaRPr lang="en-US" sz="1400" dirty="0">
                        <a:latin typeface="Aptos" charset="0"/>
                        <a:ea typeface="Aptos" charset="0"/>
                        <a:cs typeface="Aptos" charset="0"/>
                      </a:endParaRPr>
                    </a:p>
                    <a:p>
                      <a:pPr marL="0" indent="0">
                        <a:buNone/>
                      </a:pPr>
                      <a:r>
                        <a:rPr lang="en-US" sz="1400" dirty="0">
                          <a:solidFill>
                            <a:srgbClr val="202B33"/>
                          </a:solidFill>
                          <a:latin typeface="Aptos" pitchFamily="34" charset="0"/>
                          <a:ea typeface="Aptos" pitchFamily="34" charset="-122"/>
                          <a:cs typeface="Aptos" pitchFamily="34" charset="-120"/>
                        </a:rPr>
                        <a:t>(CSD estimate)</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tc>
                  <a:txBody>
                    <a:bodyPr/>
                    <a:lstStyle/>
                    <a:p>
                      <a:pPr marL="0" indent="0">
                        <a:buNone/>
                      </a:pPr>
                      <a:r>
                        <a:rPr lang="en-US" sz="1400" dirty="0">
                          <a:solidFill>
                            <a:srgbClr val="202B33"/>
                          </a:solidFill>
                          <a:latin typeface="Aptos" pitchFamily="34" charset="0"/>
                          <a:ea typeface="Aptos" pitchFamily="34" charset="-122"/>
                          <a:cs typeface="Aptos" pitchFamily="34" charset="-120"/>
                        </a:rPr>
                        <a:t>Emphasizes local activity on the scalp.</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tc>
                  <a:txBody>
                    <a:bodyPr/>
                    <a:lstStyle/>
                    <a:p>
                      <a:pPr marL="0" indent="0">
                        <a:buNone/>
                      </a:pPr>
                      <a:r>
                        <a:rPr lang="en-US" sz="1400" dirty="0">
                          <a:solidFill>
                            <a:srgbClr val="202B33"/>
                          </a:solidFill>
                          <a:latin typeface="Aptos" pitchFamily="34" charset="0"/>
                          <a:ea typeface="Aptos" pitchFamily="34" charset="-122"/>
                          <a:cs typeface="Aptos" pitchFamily="34" charset="-120"/>
                        </a:rPr>
                        <a:t>Could reduce broad, common noise.</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202B33"/>
                          </a:solidFill>
                          <a:latin typeface="Aptos" pitchFamily="34" charset="0"/>
                          <a:ea typeface="Aptos" pitchFamily="34" charset="-122"/>
                          <a:cs typeface="Aptos" pitchFamily="34" charset="-120"/>
                        </a:rPr>
                        <a:t>Artifact rejection</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tc>
                  <a:txBody>
                    <a:bodyPr/>
                    <a:lstStyle/>
                    <a:p>
                      <a:pPr marL="0" indent="0">
                        <a:buNone/>
                      </a:pPr>
                      <a:r>
                        <a:rPr lang="en-US" sz="1400" dirty="0">
                          <a:solidFill>
                            <a:srgbClr val="202B33"/>
                          </a:solidFill>
                          <a:latin typeface="Aptos" pitchFamily="34" charset="0"/>
                          <a:ea typeface="Aptos" pitchFamily="34" charset="-122"/>
                          <a:cs typeface="Aptos" pitchFamily="34" charset="-120"/>
                        </a:rPr>
                        <a:t>Removes trials with unusually large or contaminated signals.</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tc>
                  <a:txBody>
                    <a:bodyPr/>
                    <a:lstStyle/>
                    <a:p>
                      <a:pPr marL="0" indent="0">
                        <a:buNone/>
                      </a:pPr>
                      <a:r>
                        <a:rPr lang="en-US" sz="1400" dirty="0">
                          <a:solidFill>
                            <a:srgbClr val="202B33"/>
                          </a:solidFill>
                          <a:latin typeface="Aptos" pitchFamily="34" charset="0"/>
                          <a:ea typeface="Aptos" pitchFamily="34" charset="-122"/>
                          <a:cs typeface="Aptos" pitchFamily="34" charset="-120"/>
                        </a:rPr>
                        <a:t>Could reveal whether difficult subjects contain noisier trials.</a:t>
                      </a:r>
                      <a:endParaRPr lang="en-US" sz="1400" dirty="0">
                        <a:latin typeface="Aptos" charset="0"/>
                        <a:ea typeface="Aptos" charset="0"/>
                        <a:cs typeface="Aptos" charset="0"/>
                      </a:endParaRPr>
                    </a:p>
                  </a:txBody>
                  <a:tcPr marL="109728" marR="109728" marT="109728" marB="109728" anchor="ctr">
                    <a:lnL w="12700" cap="flat" cmpd="sng" algn="ctr">
                      <a:solidFill>
                        <a:srgbClr val="CBD5DD"/>
                      </a:solidFill>
                      <a:prstDash val="solid"/>
                      <a:round/>
                      <a:headEnd type="none" w="med" len="med"/>
                      <a:tailEnd type="none" w="med" len="med"/>
                    </a:lnL>
                    <a:lnR w="12700" cap="flat" cmpd="sng" algn="ctr">
                      <a:solidFill>
                        <a:srgbClr val="CBD5DD"/>
                      </a:solidFill>
                      <a:prstDash val="solid"/>
                      <a:round/>
                      <a:headEnd type="none" w="med" len="med"/>
                      <a:tailEnd type="none" w="med" len="med"/>
                    </a:lnR>
                    <a:lnT w="12700" cap="flat" cmpd="sng" algn="ctr">
                      <a:solidFill>
                        <a:srgbClr val="CBD5DD"/>
                      </a:solidFill>
                      <a:prstDash val="solid"/>
                      <a:round/>
                      <a:headEnd type="none" w="med" len="med"/>
                      <a:tailEnd type="none" w="med" len="med"/>
                    </a:lnT>
                    <a:lnB w="12700" cap="flat" cmpd="sng" algn="ctr">
                      <a:solidFill>
                        <a:srgbClr val="CB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594360" y="5669280"/>
            <a:ext cx="11000232" cy="612648"/>
          </a:xfrm>
          <a:prstGeom prst="rect">
            <a:avLst/>
          </a:prstGeom>
          <a:solidFill>
            <a:srgbClr val="EEF3F7"/>
          </a:solidFill>
          <a:ln w="10160">
            <a:solidFill>
              <a:srgbClr val="CBD5DD"/>
            </a:solidFill>
            <a:prstDash val="solid"/>
          </a:ln>
        </p:spPr>
      </p:sp>
      <p:sp>
        <p:nvSpPr>
          <p:cNvPr id="10" name="Text 7"/>
          <p:cNvSpPr/>
          <p:nvPr/>
        </p:nvSpPr>
        <p:spPr>
          <a:xfrm>
            <a:off x="841248" y="5852160"/>
            <a:ext cx="10515600" cy="228600"/>
          </a:xfrm>
          <a:prstGeom prst="rect">
            <a:avLst/>
          </a:prstGeom>
          <a:noFill/>
          <a:ln/>
        </p:spPr>
        <p:txBody>
          <a:bodyPr wrap="square" lIns="0" tIns="0" rIns="0" bIns="0" rtlCol="0" anchor="ctr"/>
          <a:lstStyle/>
          <a:p>
            <a:pPr marL="0" indent="0" algn="ctr">
              <a:buNone/>
            </a:pPr>
            <a:r>
              <a:rPr lang="en-US" sz="1250" b="1">
                <a:solidFill>
                  <a:srgbClr val="17324D"/>
                </a:solidFill>
                <a:latin typeface="Aptos" pitchFamily="34" charset="0"/>
                <a:ea typeface="Aptos" pitchFamily="34" charset="-122"/>
                <a:cs typeface="Aptos" pitchFamily="34" charset="-120"/>
              </a:rPr>
              <a:t>Current status: we reviewed these methods and prepared a diagnostic approach. No improvement has been measured yet.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7324D"/>
          </a:solidFill>
          <a:ln w="12700">
            <a:solidFill>
              <a:srgbClr val="17324D"/>
            </a:solidFill>
            <a:prstDash val="solid"/>
          </a:ln>
        </p:spPr>
      </p:sp>
      <p:sp>
        <p:nvSpPr>
          <p:cNvPr id="3" name="Text 1"/>
          <p:cNvSpPr/>
          <p:nvPr/>
        </p:nvSpPr>
        <p:spPr>
          <a:xfrm>
            <a:off x="566928" y="182880"/>
            <a:ext cx="8046720" cy="347472"/>
          </a:xfrm>
          <a:prstGeom prst="rect">
            <a:avLst/>
          </a:prstGeom>
          <a:noFill/>
          <a:ln/>
        </p:spPr>
        <p:txBody>
          <a:bodyPr wrap="square" lIns="0" tIns="0" rIns="0" bIns="0" rtlCol="0" anchor="ctr"/>
          <a:lstStyle/>
          <a:p>
            <a:pPr marL="0" indent="0">
              <a:buNone/>
            </a:pPr>
            <a:r>
              <a:rPr lang="en-US" sz="2400" b="1">
                <a:solidFill>
                  <a:srgbClr val="FFFFFF"/>
                </a:solidFill>
                <a:latin typeface="Aptos Display" pitchFamily="34" charset="0"/>
                <a:ea typeface="Aptos Display" pitchFamily="34" charset="-122"/>
                <a:cs typeface="Aptos Display" pitchFamily="34" charset="-120"/>
              </a:rPr>
              <a:t>Proposed next steps</a:t>
            </a:r>
            <a:endParaRPr lang="en-US" sz="2400" dirty="0"/>
          </a:p>
        </p:txBody>
      </p:sp>
      <p:sp>
        <p:nvSpPr>
          <p:cNvPr id="4" name="Text 2"/>
          <p:cNvSpPr/>
          <p:nvPr/>
        </p:nvSpPr>
        <p:spPr>
          <a:xfrm>
            <a:off x="8275320" y="246888"/>
            <a:ext cx="3337560" cy="228600"/>
          </a:xfrm>
          <a:prstGeom prst="rect">
            <a:avLst/>
          </a:prstGeom>
          <a:noFill/>
          <a:ln/>
        </p:spPr>
        <p:txBody>
          <a:bodyPr wrap="square" lIns="0" tIns="0" rIns="0" bIns="0" rtlCol="0" anchor="ctr"/>
          <a:lstStyle/>
          <a:p>
            <a:pPr marL="0" indent="0" algn="r">
              <a:buNone/>
            </a:pPr>
            <a:r>
              <a:rPr lang="en-US" sz="1000" dirty="0">
                <a:solidFill>
                  <a:srgbClr val="D8E4ED"/>
                </a:solidFill>
                <a:latin typeface="Aptos" pitchFamily="34" charset="0"/>
                <a:ea typeface="Aptos" pitchFamily="34" charset="-122"/>
                <a:cs typeface="Aptos" pitchFamily="34" charset="-120"/>
              </a:rPr>
              <a:t>Before another ST-EEGFormer run</a:t>
            </a:r>
            <a:endParaRPr lang="en-US" sz="1000" dirty="0"/>
          </a:p>
        </p:txBody>
      </p:sp>
      <p:sp>
        <p:nvSpPr>
          <p:cNvPr id="5" name="Text 3"/>
          <p:cNvSpPr/>
          <p:nvPr/>
        </p:nvSpPr>
        <p:spPr>
          <a:xfrm>
            <a:off x="11384280" y="6528816"/>
            <a:ext cx="274320" cy="146304"/>
          </a:xfrm>
          <a:prstGeom prst="rect">
            <a:avLst/>
          </a:prstGeom>
          <a:noFill/>
          <a:ln/>
        </p:spPr>
        <p:txBody>
          <a:bodyPr wrap="square" lIns="0" tIns="0" rIns="0" bIns="0" rtlCol="0" anchor="ctr"/>
          <a:lstStyle/>
          <a:p>
            <a:pPr marL="0" indent="0" algn="r">
              <a:buNone/>
            </a:pPr>
            <a:r>
              <a:rPr lang="en-US" sz="800" dirty="0">
                <a:solidFill>
                  <a:srgbClr val="7B8992"/>
                </a:solidFill>
                <a:latin typeface="Aptos" pitchFamily="34" charset="0"/>
                <a:ea typeface="Aptos" pitchFamily="34" charset="-122"/>
                <a:cs typeface="Aptos" pitchFamily="34" charset="-120"/>
              </a:rPr>
              <a:t>4</a:t>
            </a:r>
            <a:endParaRPr lang="en-US" sz="800" dirty="0"/>
          </a:p>
        </p:txBody>
      </p:sp>
      <p:sp>
        <p:nvSpPr>
          <p:cNvPr id="6" name="Text 4"/>
          <p:cNvSpPr/>
          <p:nvPr/>
        </p:nvSpPr>
        <p:spPr>
          <a:xfrm>
            <a:off x="713232" y="1371600"/>
            <a:ext cx="594360" cy="320040"/>
          </a:xfrm>
          <a:prstGeom prst="rect">
            <a:avLst/>
          </a:prstGeom>
          <a:noFill/>
          <a:ln/>
        </p:spPr>
        <p:txBody>
          <a:bodyPr wrap="square" lIns="0" tIns="0" rIns="0" bIns="0" rtlCol="0" anchor="ctr"/>
          <a:lstStyle/>
          <a:p>
            <a:pPr marL="0" indent="0">
              <a:buNone/>
            </a:pPr>
            <a:r>
              <a:rPr lang="en-US" sz="1900" b="1" dirty="0">
                <a:solidFill>
                  <a:srgbClr val="2F5F8F"/>
                </a:solidFill>
                <a:latin typeface="Aptos Display" pitchFamily="34" charset="0"/>
                <a:ea typeface="Aptos Display" pitchFamily="34" charset="-122"/>
                <a:cs typeface="Aptos Display" pitchFamily="34" charset="-120"/>
              </a:rPr>
              <a:t>01</a:t>
            </a:r>
            <a:endParaRPr lang="en-US" sz="1900" dirty="0"/>
          </a:p>
        </p:txBody>
      </p:sp>
      <p:sp>
        <p:nvSpPr>
          <p:cNvPr id="7" name="Shape 5"/>
          <p:cNvSpPr/>
          <p:nvPr/>
        </p:nvSpPr>
        <p:spPr>
          <a:xfrm>
            <a:off x="1444752" y="1325880"/>
            <a:ext cx="0" cy="685800"/>
          </a:xfrm>
          <a:prstGeom prst="line">
            <a:avLst/>
          </a:prstGeom>
          <a:noFill/>
          <a:ln w="15240">
            <a:solidFill>
              <a:srgbClr val="CBD5DD"/>
            </a:solidFill>
            <a:prstDash val="solid"/>
          </a:ln>
        </p:spPr>
      </p:sp>
      <p:sp>
        <p:nvSpPr>
          <p:cNvPr id="8" name="Text 6"/>
          <p:cNvSpPr/>
          <p:nvPr/>
        </p:nvSpPr>
        <p:spPr>
          <a:xfrm>
            <a:off x="1755648" y="1289304"/>
            <a:ext cx="3794760" cy="310896"/>
          </a:xfrm>
          <a:prstGeom prst="rect">
            <a:avLst/>
          </a:prstGeom>
          <a:noFill/>
          <a:ln/>
        </p:spPr>
        <p:txBody>
          <a:bodyPr wrap="square" lIns="0" tIns="0" rIns="0" bIns="0" rtlCol="0" anchor="ctr"/>
          <a:lstStyle/>
          <a:p>
            <a:pPr marL="0" indent="0">
              <a:buNone/>
            </a:pPr>
            <a:r>
              <a:rPr lang="en-US" sz="1700" b="1" dirty="0">
                <a:solidFill>
                  <a:srgbClr val="17324D"/>
                </a:solidFill>
                <a:latin typeface="Aptos Display" pitchFamily="34" charset="0"/>
                <a:ea typeface="Aptos Display" pitchFamily="34" charset="-122"/>
                <a:cs typeface="Aptos Display" pitchFamily="34" charset="-120"/>
              </a:rPr>
              <a:t>Check the stored data</a:t>
            </a:r>
            <a:endParaRPr lang="en-US" sz="1700" dirty="0"/>
          </a:p>
        </p:txBody>
      </p:sp>
      <p:sp>
        <p:nvSpPr>
          <p:cNvPr id="9" name="Text 7"/>
          <p:cNvSpPr/>
          <p:nvPr/>
        </p:nvSpPr>
        <p:spPr>
          <a:xfrm>
            <a:off x="5532120" y="1298448"/>
            <a:ext cx="5532120" cy="438912"/>
          </a:xfrm>
          <a:prstGeom prst="rect">
            <a:avLst/>
          </a:prstGeom>
          <a:noFill/>
          <a:ln/>
        </p:spPr>
        <p:txBody>
          <a:bodyPr wrap="square" lIns="0" tIns="0" rIns="0" bIns="0" rtlCol="0" anchor="ctr"/>
          <a:lstStyle/>
          <a:p>
            <a:pPr marL="0" indent="0">
              <a:buNone/>
            </a:pPr>
            <a:r>
              <a:rPr lang="en-US" sz="1350" dirty="0">
                <a:solidFill>
                  <a:srgbClr val="202B33"/>
                </a:solidFill>
                <a:latin typeface="Aptos" pitchFamily="34" charset="0"/>
                <a:ea typeface="Aptos" pitchFamily="34" charset="-122"/>
                <a:cs typeface="Aptos" pitchFamily="34" charset="-120"/>
              </a:rPr>
              <a:t>Confirm signal units, channel order and trial counts.</a:t>
            </a:r>
            <a:endParaRPr lang="en-US" sz="1350" dirty="0"/>
          </a:p>
        </p:txBody>
      </p:sp>
      <p:sp>
        <p:nvSpPr>
          <p:cNvPr id="10" name="Shape 8"/>
          <p:cNvSpPr/>
          <p:nvPr/>
        </p:nvSpPr>
        <p:spPr>
          <a:xfrm>
            <a:off x="713232" y="2194560"/>
            <a:ext cx="10442448" cy="0"/>
          </a:xfrm>
          <a:prstGeom prst="line">
            <a:avLst/>
          </a:prstGeom>
          <a:noFill/>
          <a:ln w="10160">
            <a:solidFill>
              <a:srgbClr val="E2E7EA"/>
            </a:solidFill>
            <a:prstDash val="solid"/>
          </a:ln>
        </p:spPr>
      </p:sp>
      <p:sp>
        <p:nvSpPr>
          <p:cNvPr id="11" name="Text 9"/>
          <p:cNvSpPr/>
          <p:nvPr/>
        </p:nvSpPr>
        <p:spPr>
          <a:xfrm>
            <a:off x="713232" y="2560320"/>
            <a:ext cx="594360" cy="320040"/>
          </a:xfrm>
          <a:prstGeom prst="rect">
            <a:avLst/>
          </a:prstGeom>
          <a:noFill/>
          <a:ln/>
        </p:spPr>
        <p:txBody>
          <a:bodyPr wrap="square" lIns="0" tIns="0" rIns="0" bIns="0" rtlCol="0" anchor="ctr"/>
          <a:lstStyle/>
          <a:p>
            <a:pPr marL="0" indent="0">
              <a:buNone/>
            </a:pPr>
            <a:r>
              <a:rPr lang="en-US" sz="1900" b="1" dirty="0">
                <a:solidFill>
                  <a:srgbClr val="2F5F8F"/>
                </a:solidFill>
                <a:latin typeface="Aptos Display" pitchFamily="34" charset="0"/>
                <a:ea typeface="Aptos Display" pitchFamily="34" charset="-122"/>
                <a:cs typeface="Aptos Display" pitchFamily="34" charset="-120"/>
              </a:rPr>
              <a:t>02</a:t>
            </a:r>
            <a:endParaRPr lang="en-US" sz="1900" dirty="0"/>
          </a:p>
        </p:txBody>
      </p:sp>
      <p:sp>
        <p:nvSpPr>
          <p:cNvPr id="12" name="Shape 10"/>
          <p:cNvSpPr/>
          <p:nvPr/>
        </p:nvSpPr>
        <p:spPr>
          <a:xfrm>
            <a:off x="1444752" y="2514600"/>
            <a:ext cx="0" cy="685800"/>
          </a:xfrm>
          <a:prstGeom prst="line">
            <a:avLst/>
          </a:prstGeom>
          <a:noFill/>
          <a:ln w="15240">
            <a:solidFill>
              <a:srgbClr val="CBD5DD"/>
            </a:solidFill>
            <a:prstDash val="solid"/>
          </a:ln>
        </p:spPr>
      </p:sp>
      <p:sp>
        <p:nvSpPr>
          <p:cNvPr id="13" name="Text 11"/>
          <p:cNvSpPr/>
          <p:nvPr/>
        </p:nvSpPr>
        <p:spPr>
          <a:xfrm>
            <a:off x="1755648" y="2478024"/>
            <a:ext cx="3794760" cy="310896"/>
          </a:xfrm>
          <a:prstGeom prst="rect">
            <a:avLst/>
          </a:prstGeom>
          <a:noFill/>
          <a:ln/>
        </p:spPr>
        <p:txBody>
          <a:bodyPr wrap="square" lIns="0" tIns="0" rIns="0" bIns="0" rtlCol="0" anchor="ctr"/>
          <a:lstStyle/>
          <a:p>
            <a:pPr marL="0" indent="0">
              <a:buNone/>
            </a:pPr>
            <a:r>
              <a:rPr lang="en-US" sz="1700" b="1" dirty="0">
                <a:solidFill>
                  <a:srgbClr val="17324D"/>
                </a:solidFill>
                <a:latin typeface="Aptos Display" pitchFamily="34" charset="0"/>
                <a:ea typeface="Aptos Display" pitchFamily="34" charset="-122"/>
                <a:cs typeface="Aptos Display" pitchFamily="34" charset="-120"/>
              </a:rPr>
              <a:t>Run a simple comparison</a:t>
            </a:r>
            <a:endParaRPr lang="en-US" sz="1700" dirty="0"/>
          </a:p>
        </p:txBody>
      </p:sp>
      <p:sp>
        <p:nvSpPr>
          <p:cNvPr id="14" name="Text 12"/>
          <p:cNvSpPr/>
          <p:nvPr/>
        </p:nvSpPr>
        <p:spPr>
          <a:xfrm>
            <a:off x="5532120" y="2487168"/>
            <a:ext cx="5532120" cy="438912"/>
          </a:xfrm>
          <a:prstGeom prst="rect">
            <a:avLst/>
          </a:prstGeom>
          <a:noFill/>
          <a:ln/>
        </p:spPr>
        <p:txBody>
          <a:bodyPr wrap="square" lIns="0" tIns="0" rIns="0" bIns="0" rtlCol="0" anchor="ctr"/>
          <a:lstStyle/>
          <a:p>
            <a:pPr marL="0" indent="0">
              <a:buNone/>
            </a:pPr>
            <a:r>
              <a:rPr lang="en-US" sz="1350" dirty="0">
                <a:solidFill>
                  <a:srgbClr val="202B33"/>
                </a:solidFill>
                <a:latin typeface="Aptos" pitchFamily="34" charset="0"/>
                <a:ea typeface="Aptos" pitchFamily="34" charset="-122"/>
                <a:cs typeface="Aptos" pitchFamily="34" charset="-120"/>
              </a:rPr>
              <a:t>Test baseline, EA, CSD and artifact rejection on the same split.</a:t>
            </a:r>
            <a:endParaRPr lang="en-US" sz="1350" dirty="0"/>
          </a:p>
        </p:txBody>
      </p:sp>
      <p:sp>
        <p:nvSpPr>
          <p:cNvPr id="15" name="Shape 13"/>
          <p:cNvSpPr/>
          <p:nvPr/>
        </p:nvSpPr>
        <p:spPr>
          <a:xfrm>
            <a:off x="713232" y="3383280"/>
            <a:ext cx="10442448" cy="0"/>
          </a:xfrm>
          <a:prstGeom prst="line">
            <a:avLst/>
          </a:prstGeom>
          <a:noFill/>
          <a:ln w="10160">
            <a:solidFill>
              <a:srgbClr val="E2E7EA"/>
            </a:solidFill>
            <a:prstDash val="solid"/>
          </a:ln>
        </p:spPr>
      </p:sp>
      <p:sp>
        <p:nvSpPr>
          <p:cNvPr id="16" name="Text 14"/>
          <p:cNvSpPr/>
          <p:nvPr/>
        </p:nvSpPr>
        <p:spPr>
          <a:xfrm>
            <a:off x="713232" y="3749040"/>
            <a:ext cx="594360" cy="320040"/>
          </a:xfrm>
          <a:prstGeom prst="rect">
            <a:avLst/>
          </a:prstGeom>
          <a:noFill/>
          <a:ln/>
        </p:spPr>
        <p:txBody>
          <a:bodyPr wrap="square" lIns="0" tIns="0" rIns="0" bIns="0" rtlCol="0" anchor="ctr"/>
          <a:lstStyle/>
          <a:p>
            <a:pPr marL="0" indent="0">
              <a:buNone/>
            </a:pPr>
            <a:r>
              <a:rPr lang="en-US" sz="1900" b="1" dirty="0">
                <a:solidFill>
                  <a:srgbClr val="2F5F8F"/>
                </a:solidFill>
                <a:latin typeface="Aptos Display" pitchFamily="34" charset="0"/>
                <a:ea typeface="Aptos Display" pitchFamily="34" charset="-122"/>
                <a:cs typeface="Aptos Display" pitchFamily="34" charset="-120"/>
              </a:rPr>
              <a:t>03</a:t>
            </a:r>
            <a:endParaRPr lang="en-US" sz="1900" dirty="0"/>
          </a:p>
        </p:txBody>
      </p:sp>
      <p:sp>
        <p:nvSpPr>
          <p:cNvPr id="17" name="Shape 15"/>
          <p:cNvSpPr/>
          <p:nvPr/>
        </p:nvSpPr>
        <p:spPr>
          <a:xfrm>
            <a:off x="1444752" y="3703320"/>
            <a:ext cx="0" cy="685800"/>
          </a:xfrm>
          <a:prstGeom prst="line">
            <a:avLst/>
          </a:prstGeom>
          <a:noFill/>
          <a:ln w="15240">
            <a:solidFill>
              <a:srgbClr val="CBD5DD"/>
            </a:solidFill>
            <a:prstDash val="solid"/>
          </a:ln>
        </p:spPr>
      </p:sp>
      <p:sp>
        <p:nvSpPr>
          <p:cNvPr id="18" name="Text 16"/>
          <p:cNvSpPr/>
          <p:nvPr/>
        </p:nvSpPr>
        <p:spPr>
          <a:xfrm>
            <a:off x="1755648" y="3666744"/>
            <a:ext cx="3794760" cy="310896"/>
          </a:xfrm>
          <a:prstGeom prst="rect">
            <a:avLst/>
          </a:prstGeom>
          <a:noFill/>
          <a:ln/>
        </p:spPr>
        <p:txBody>
          <a:bodyPr wrap="square" lIns="0" tIns="0" rIns="0" bIns="0" rtlCol="0" anchor="ctr"/>
          <a:lstStyle/>
          <a:p>
            <a:pPr marL="0" indent="0">
              <a:buNone/>
            </a:pPr>
            <a:r>
              <a:rPr lang="en-US" sz="1700" b="1" dirty="0">
                <a:solidFill>
                  <a:srgbClr val="17324D"/>
                </a:solidFill>
                <a:latin typeface="Aptos Display" pitchFamily="34" charset="0"/>
                <a:ea typeface="Aptos Display" pitchFamily="34" charset="-122"/>
                <a:cs typeface="Aptos Display" pitchFamily="34" charset="-120"/>
              </a:rPr>
              <a:t>Inspect the difficult subjects</a:t>
            </a:r>
            <a:endParaRPr lang="en-US" sz="1700" dirty="0"/>
          </a:p>
        </p:txBody>
      </p:sp>
      <p:sp>
        <p:nvSpPr>
          <p:cNvPr id="19" name="Text 17"/>
          <p:cNvSpPr/>
          <p:nvPr/>
        </p:nvSpPr>
        <p:spPr>
          <a:xfrm>
            <a:off x="5532120" y="3675888"/>
            <a:ext cx="5532120" cy="438912"/>
          </a:xfrm>
          <a:prstGeom prst="rect">
            <a:avLst/>
          </a:prstGeom>
          <a:noFill/>
          <a:ln/>
        </p:spPr>
        <p:txBody>
          <a:bodyPr wrap="square" lIns="0" tIns="0" rIns="0" bIns="0" rtlCol="0" anchor="ctr"/>
          <a:lstStyle/>
          <a:p>
            <a:pPr marL="0" indent="0">
              <a:buNone/>
            </a:pPr>
            <a:r>
              <a:rPr lang="en-US" sz="1350" dirty="0">
                <a:solidFill>
                  <a:srgbClr val="202B33"/>
                </a:solidFill>
                <a:latin typeface="Aptos" pitchFamily="34" charset="0"/>
                <a:ea typeface="Aptos" pitchFamily="34" charset="-122"/>
                <a:cs typeface="Aptos" pitchFamily="34" charset="-120"/>
              </a:rPr>
              <a:t>Look at per-subject changes, not only the global mean.</a:t>
            </a:r>
            <a:endParaRPr lang="en-US" sz="1350" dirty="0"/>
          </a:p>
        </p:txBody>
      </p:sp>
      <p:sp>
        <p:nvSpPr>
          <p:cNvPr id="20" name="Shape 18"/>
          <p:cNvSpPr/>
          <p:nvPr/>
        </p:nvSpPr>
        <p:spPr>
          <a:xfrm>
            <a:off x="713232" y="4572000"/>
            <a:ext cx="10442448" cy="0"/>
          </a:xfrm>
          <a:prstGeom prst="line">
            <a:avLst/>
          </a:prstGeom>
          <a:noFill/>
          <a:ln w="10160">
            <a:solidFill>
              <a:srgbClr val="E2E7EA"/>
            </a:solidFill>
            <a:prstDash val="solid"/>
          </a:ln>
        </p:spPr>
      </p:sp>
      <p:sp>
        <p:nvSpPr>
          <p:cNvPr id="21" name="Text 19"/>
          <p:cNvSpPr/>
          <p:nvPr/>
        </p:nvSpPr>
        <p:spPr>
          <a:xfrm>
            <a:off x="713232" y="4937760"/>
            <a:ext cx="594360" cy="320040"/>
          </a:xfrm>
          <a:prstGeom prst="rect">
            <a:avLst/>
          </a:prstGeom>
          <a:noFill/>
          <a:ln/>
        </p:spPr>
        <p:txBody>
          <a:bodyPr wrap="square" lIns="0" tIns="0" rIns="0" bIns="0" rtlCol="0" anchor="ctr"/>
          <a:lstStyle/>
          <a:p>
            <a:pPr marL="0" indent="0">
              <a:buNone/>
            </a:pPr>
            <a:r>
              <a:rPr lang="en-US" sz="1900" b="1" dirty="0">
                <a:solidFill>
                  <a:srgbClr val="2F5F8F"/>
                </a:solidFill>
                <a:latin typeface="Aptos Display" pitchFamily="34" charset="0"/>
                <a:ea typeface="Aptos Display" pitchFamily="34" charset="-122"/>
                <a:cs typeface="Aptos Display" pitchFamily="34" charset="-120"/>
              </a:rPr>
              <a:t>04</a:t>
            </a:r>
            <a:endParaRPr lang="en-US" sz="1900" dirty="0"/>
          </a:p>
        </p:txBody>
      </p:sp>
      <p:sp>
        <p:nvSpPr>
          <p:cNvPr id="22" name="Shape 20"/>
          <p:cNvSpPr/>
          <p:nvPr/>
        </p:nvSpPr>
        <p:spPr>
          <a:xfrm>
            <a:off x="1444752" y="4892040"/>
            <a:ext cx="0" cy="685800"/>
          </a:xfrm>
          <a:prstGeom prst="line">
            <a:avLst/>
          </a:prstGeom>
          <a:noFill/>
          <a:ln w="15240">
            <a:solidFill>
              <a:srgbClr val="CBD5DD"/>
            </a:solidFill>
            <a:prstDash val="solid"/>
          </a:ln>
        </p:spPr>
      </p:sp>
      <p:sp>
        <p:nvSpPr>
          <p:cNvPr id="23" name="Text 21"/>
          <p:cNvSpPr/>
          <p:nvPr/>
        </p:nvSpPr>
        <p:spPr>
          <a:xfrm>
            <a:off x="1755648" y="4855464"/>
            <a:ext cx="3794760" cy="310896"/>
          </a:xfrm>
          <a:prstGeom prst="rect">
            <a:avLst/>
          </a:prstGeom>
          <a:noFill/>
          <a:ln/>
        </p:spPr>
        <p:txBody>
          <a:bodyPr wrap="square" lIns="0" tIns="0" rIns="0" bIns="0" rtlCol="0" anchor="ctr"/>
          <a:lstStyle/>
          <a:p>
            <a:pPr marL="0" indent="0">
              <a:buNone/>
            </a:pPr>
            <a:r>
              <a:rPr lang="en-US" sz="1700" b="1" dirty="0">
                <a:solidFill>
                  <a:srgbClr val="17324D"/>
                </a:solidFill>
                <a:latin typeface="Aptos Display" pitchFamily="34" charset="0"/>
                <a:ea typeface="Aptos Display" pitchFamily="34" charset="-122"/>
                <a:cs typeface="Aptos Display" pitchFamily="34" charset="-120"/>
              </a:rPr>
              <a:t>Train ST-EEGFormer only if useful</a:t>
            </a:r>
            <a:endParaRPr lang="en-US" sz="1700" dirty="0"/>
          </a:p>
        </p:txBody>
      </p:sp>
      <p:sp>
        <p:nvSpPr>
          <p:cNvPr id="24" name="Text 22"/>
          <p:cNvSpPr/>
          <p:nvPr/>
        </p:nvSpPr>
        <p:spPr>
          <a:xfrm>
            <a:off x="5532120" y="4864608"/>
            <a:ext cx="5532120" cy="438912"/>
          </a:xfrm>
          <a:prstGeom prst="rect">
            <a:avLst/>
          </a:prstGeom>
          <a:noFill/>
          <a:ln/>
        </p:spPr>
        <p:txBody>
          <a:bodyPr wrap="square" lIns="0" tIns="0" rIns="0" bIns="0" rtlCol="0" anchor="ctr"/>
          <a:lstStyle/>
          <a:p>
            <a:pPr marL="0" indent="0">
              <a:buNone/>
            </a:pPr>
            <a:r>
              <a:rPr lang="en-US" sz="1350" dirty="0">
                <a:solidFill>
                  <a:srgbClr val="202B33"/>
                </a:solidFill>
                <a:latin typeface="Aptos" pitchFamily="34" charset="0"/>
                <a:ea typeface="Aptos" pitchFamily="34" charset="-122"/>
                <a:cs typeface="Aptos" pitchFamily="34" charset="-120"/>
              </a:rPr>
              <a:t>Create a new preprocessing version and run one population experiment.</a:t>
            </a:r>
            <a:endParaRPr lang="en-US" sz="1350" dirty="0"/>
          </a:p>
        </p:txBody>
      </p:sp>
      <p:sp>
        <p:nvSpPr>
          <p:cNvPr id="25" name="Shape 23"/>
          <p:cNvSpPr/>
          <p:nvPr/>
        </p:nvSpPr>
        <p:spPr>
          <a:xfrm>
            <a:off x="594360" y="6053328"/>
            <a:ext cx="11000232" cy="365760"/>
          </a:xfrm>
          <a:prstGeom prst="rect">
            <a:avLst/>
          </a:prstGeom>
          <a:solidFill>
            <a:srgbClr val="17324D"/>
          </a:solidFill>
          <a:ln w="12700">
            <a:solidFill>
              <a:srgbClr val="17324D"/>
            </a:solidFill>
            <a:prstDash val="solid"/>
          </a:ln>
        </p:spPr>
      </p:sp>
      <p:sp>
        <p:nvSpPr>
          <p:cNvPr id="26" name="Text 24"/>
          <p:cNvSpPr/>
          <p:nvPr/>
        </p:nvSpPr>
        <p:spPr>
          <a:xfrm>
            <a:off x="822960" y="6153912"/>
            <a:ext cx="10543032" cy="164592"/>
          </a:xfrm>
          <a:prstGeom prst="rect">
            <a:avLst/>
          </a:prstGeom>
          <a:noFill/>
          <a:ln/>
        </p:spPr>
        <p:txBody>
          <a:bodyPr wrap="square" lIns="0" tIns="0" rIns="0" bIns="0" rtlCol="0" anchor="ctr"/>
          <a:lstStyle/>
          <a:p>
            <a:pPr marL="0" indent="0" algn="ctr">
              <a:buNone/>
            </a:pPr>
            <a:r>
              <a:rPr lang="en-US" sz="1150" b="1">
                <a:solidFill>
                  <a:srgbClr val="FFFFFF"/>
                </a:solidFill>
                <a:latin typeface="Aptos" pitchFamily="34" charset="0"/>
                <a:ea typeface="Aptos" pitchFamily="34" charset="-122"/>
                <a:cs typeface="Aptos" pitchFamily="34" charset="-120"/>
              </a:rPr>
              <a:t>Goal: align our preprocessing choices before running the comparison.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495</Words>
  <Application>Microsoft Office PowerPoint</Application>
  <PresentationFormat>Grand écran</PresentationFormat>
  <Paragraphs>56</Paragraphs>
  <Slides>3</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Aptos</vt:lpstr>
      <vt:lpstr>Aptos Display</vt:lpstr>
      <vt:lpstr>Arial</vt:lpstr>
      <vt:lpstr>Office Theme</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attention — follow-up discussion</dc:title>
  <dc:subject>ST-EEGFormer and LaBraM subject-level comparison</dc:subject>
  <dc:creator>Maxime Lacombe</dc:creator>
  <cp:lastModifiedBy>Maxime Lacombe</cp:lastModifiedBy>
  <cp:revision>2</cp:revision>
  <dcterms:created xsi:type="dcterms:W3CDTF">2026-09-09T03:07:18Z</dcterms:created>
  <dcterms:modified xsi:type="dcterms:W3CDTF">2026-09-09T06:09:13Z</dcterms:modified>
</cp:coreProperties>
</file>